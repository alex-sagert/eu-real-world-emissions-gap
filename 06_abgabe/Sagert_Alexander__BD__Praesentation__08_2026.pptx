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offiziell</c:v>
                </c:pt>
              </c:strCache>
            </c:strRef>
          </c:tx>
          <c:spPr>
            <a:solidFill>
              <a:srgbClr val="6E7377"/>
            </a:solidFill>
            <a:effectLst/>
          </c:spPr>
          <c:invertIfNegative val="0"/>
          <c:dLbls>
            <c:numFmt formatCode="#,##0" sourceLinked="0"/>
            <c:txPr>
              <a:bodyPr/>
              <a:lstStyle/>
              <a:p>
                <a:pPr>
                  <a:defRPr b="0" i="0" strike="noStrike" sz="1000" u="none">
                    <a:solidFill>
                      <a:srgbClr val="F4F0E6"/>
                    </a:solidFill>
                    <a:latin typeface="Arial"/>
                  </a:defRPr>
                </a:pPr>
              </a:p>
            </c:txPr>
            <c:showLegendKey val="0"/>
            <c:showVal val="1"/>
            <c:showCatName val="0"/>
            <c:showSerName val="0"/>
            <c:showPercent val="0"/>
            <c:showBubbleSize val="0"/>
            <c:showLeaderLines val="0"/>
          </c:dLbls>
          <c:cat>
            <c:multiLvlStrRef>
              <c:f>Sheet1!$A$2:$A$6</c:f>
              <c:multiLvlStrCache>
                <c:ptCount val="5"/>
                <c:lvl>
                  <c:pt idx="0">
                    <c:v>Batterieauto</c:v>
                  </c:pt>
                  <c:pt idx="1">
                    <c:v>Plug-in-Hybrid</c:v>
                  </c:pt>
                  <c:pt idx="2">
                    <c:v>Benzin</c:v>
                  </c:pt>
                  <c:pt idx="3">
                    <c:v>Hybrid</c:v>
                  </c:pt>
                  <c:pt idx="4">
                    <c:v>Diesel</c:v>
                  </c:pt>
                </c:lvl>
              </c:multiLvlStrCache>
            </c:multiLvlStrRef>
          </c:cat>
          <c:val>
            <c:numRef>
              <c:f>Sheet1!$B$2:$B$6</c:f>
              <c:numCache>
                <c:formatCode>General</c:formatCode>
                <c:ptCount val="5"/>
                <c:pt idx="0">
                  <c:v>0</c:v>
                </c:pt>
                <c:pt idx="1">
                  <c:v>31</c:v>
                </c:pt>
                <c:pt idx="2">
                  <c:v>144</c:v>
                </c:pt>
                <c:pt idx="3">
                  <c:v>141</c:v>
                </c:pt>
                <c:pt idx="4">
                  <c:v>146</c:v>
                </c:pt>
              </c:numCache>
            </c:numRef>
          </c:val>
        </c:ser>
        <c:ser>
          <c:idx val="1"/>
          <c:order val="1"/>
          <c:tx>
            <c:strRef>
              <c:f>Sheet1!$C$1</c:f>
              <c:strCache>
                <c:ptCount val="1"/>
                <c:pt idx="0">
                  <c:v>real (Well-to-Wheel)</c:v>
                </c:pt>
              </c:strCache>
            </c:strRef>
          </c:tx>
          <c:spPr>
            <a:solidFill>
              <a:srgbClr val="E0442B"/>
            </a:solidFill>
            <a:effectLst/>
          </c:spPr>
          <c:invertIfNegative val="0"/>
          <c:dLbls>
            <c:numFmt formatCode="#,##0" sourceLinked="0"/>
            <c:txPr>
              <a:bodyPr/>
              <a:lstStyle/>
              <a:p>
                <a:pPr>
                  <a:defRPr b="0" i="0" strike="noStrike" sz="1000" u="none">
                    <a:solidFill>
                      <a:srgbClr val="F4F0E6"/>
                    </a:solidFill>
                    <a:latin typeface="Arial"/>
                  </a:defRPr>
                </a:pPr>
              </a:p>
            </c:txPr>
            <c:showLegendKey val="0"/>
            <c:showVal val="1"/>
            <c:showCatName val="0"/>
            <c:showSerName val="0"/>
            <c:showPercent val="0"/>
            <c:showBubbleSize val="0"/>
            <c:showLeaderLines val="0"/>
          </c:dLbls>
          <c:cat>
            <c:multiLvlStrRef>
              <c:f>Sheet1!$A$2:$A$6</c:f>
              <c:multiLvlStrCache>
                <c:ptCount val="5"/>
                <c:lvl>
                  <c:pt idx="0">
                    <c:v>Batterieauto</c:v>
                  </c:pt>
                  <c:pt idx="1">
                    <c:v>Plug-in-Hybrid</c:v>
                  </c:pt>
                  <c:pt idx="2">
                    <c:v>Benzin</c:v>
                  </c:pt>
                  <c:pt idx="3">
                    <c:v>Hybrid</c:v>
                  </c:pt>
                  <c:pt idx="4">
                    <c:v>Diesel</c:v>
                  </c:pt>
                </c:lvl>
              </c:multiLvlStrCache>
            </c:multiLvlStrRef>
          </c:cat>
          <c:val>
            <c:numRef>
              <c:f>Sheet1!$C$2:$C$6</c:f>
              <c:numCache>
                <c:formatCode>General</c:formatCode>
                <c:ptCount val="5"/>
                <c:pt idx="0">
                  <c:v>66.7</c:v>
                </c:pt>
                <c:pt idx="1">
                  <c:v>160.8</c:v>
                </c:pt>
                <c:pt idx="2">
                  <c:v>169.4</c:v>
                </c:pt>
                <c:pt idx="3">
                  <c:v>171.4</c:v>
                </c:pt>
                <c:pt idx="4">
                  <c:v>173.3</c:v>
                </c:pt>
              </c:numCache>
            </c:numRef>
          </c:val>
        </c:ser>
        <c:dLbls>
          <c:numFmt formatCode="#,##0" sourceLinked="0"/>
          <c:txPr>
            <a:bodyPr/>
            <a:lstStyle/>
            <a:p>
              <a:pPr>
                <a:defRPr b="0" i="0" strike="noStrike" sz="1000" u="none">
                  <a:solidFill>
                    <a:srgbClr val="F4F0E6"/>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C9C4B6"/>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2C2F31"/>
              </a:solidFill>
              <a:prstDash val="solid"/>
              <a:round/>
            </a:ln>
          </c:spPr>
        </c:majorGridlines>
        <c:title>
          <c:tx>
            <c:rich>
              <a:bodyPr/>
              <a:lstStyle/>
              <a:p>
                <a:pPr>
                  <a:defRPr sz="1000" b="0" i="0" u="none" strike="noStrike">
                    <a:solidFill>
                      <a:srgbClr val="6E7377"/>
                    </a:solidFill>
                    <a:latin typeface="Arial"/>
                  </a:defRPr>
                </a:pPr>
                <a:r>
                  <a:rPr sz="1000" b="0" i="0" u="none" strike="noStrike">
                    <a:solidFill>
                      <a:srgbClr val="6E7377"/>
                    </a:solidFill>
                    <a:latin typeface="Arial"/>
                  </a:rPr>
                  <a:t>g CO₂ je km</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E7377"/>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C9C4B6"/>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Seit 2021 misst jedes neue Auto in der EU seinen echten Verbrauch mit. Zum ersten Mal koennen wir pruefen, ob der Wert auf dem Typenschild etwas mit der Strasse zu tun hat. Genau das habe ich getan - fuer 45 Millionen Datensaetze.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Clou ist, dass es dieselben Fahrzeuge sind. Nicht Labor gegen Umfrage, sondern Labor gegen Messung am selben Auto. Deshalb ist die Luecke belastbar.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Kernaussage: Kein Bulkdownload. Keyset-Paginierung heisst, ich merke mir die letzte ID und hole das naechste Fenster, statt mit OFFSET jedes Mal alles davor zu ueberspringen. Bei 10 Millionen Zeilen je Jahrgang ist das der Unterschied zwischen Stunden und Minuten.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Warum ein Sternschema: Marke, Modell und Antrieb stehen einmal je Auspraegung statt 37 Millionen Mal. Die Faktentabelle traegt nur Zahlen und Schluessel und ist dadurch schmal genug fuer Aggregationen in Sekunden.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ist die wichtigste technische Lektion der Woche. Der Unterschied zwischen sechs Stunden und zehn Minuten war keine Frage der Maschine, sondern eine Eigenschaft eines Operators. Big Data heisst hier: verstehen, was der Planer tun KANN.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Verbrenner ist real 16 bis 19 Prozent schlechter als auf dem Papier - unangenehm, aber beherrschbar. Beim Plug-in-Hybrid ist der Laborbalken fast nicht sichtbar. Und die Ursache steht rechts: Die Regel unterstellt 84 Prozent elektrische Fahrleistung, gemessen wurden 26. Der PHEV ist nicht schlecht gebaut - er wird nicht geladen.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Ergebnis laeuft der Intuition zuwider: Porsche auf Platz zwei, Dacia und Renault ganz hinten. Erklaerung ist der Downsizing-Effekt. Wichtig fuer Rueckfragen: Die Luecke ist relativ. Der Renault bleibt absolut das sparsamere Auto. Und: Haette ich ueber die ganze Flotte gerechnet, waere Mazda im Mittelfeld gelandet - die Rangliste haette dann den Antriebsmix gemessen, nicht die Technik.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Ehrlichkeit an dieser Stelle: Ich bin mit der These reingegangen, der Diesel sei real besser als der Plug-in-Hybrid. Auf Flottenebene stimmt das nicht, auch nicht mit Netzstrom. Der fehlende Balken links beim Batterieauto ist die staerkste Stelle: Die Verordnung schreibt null vor, real sind es 66,7 Gramm.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ist die praezise Fassung meiner Hypothese. Sie stimmt nicht zwischen Antriebsarten, aber zwischen Fahrzeugen. Ein sparsamer Kompaktdiesel schlaegt einen schweren Plug-in-Hybrid-SUV - auf dem Papier nie, auf der Strasse in jedem fuenften Fall.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Wichtig: Das hohe R2 ueber alle Antriebe ist der uninteressante Fall - dort erklaert die Antriebsart die Luecke fast allein. Interessant ist das niedrigere R2 innerhalb der PHEV. Die unerklaerten 42 Prozent sind das Ergebnis, nicht der Fehler.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Folie ist mir wichtig. Vier der sechs stummen Fehler sind durch eine Kette gelaufen, die an keiner Stelle rot wurde. Gefunden wurden sie durch gelesene Ausgaben, Groessenordnungspruefungen und den Vergleich zweier Rechenwege. Zwei Zahlen fuer denselben Sachverhalt sind immer ein Fehler.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Wenn ich eine Sache mitnehme: Ich bin mit einer zugespitzten These reingegangen und habe sie halb widerlegt. Das offen zu berichten war lehrreicher, als die Zahlen passend zu machen.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Reproduzierbarkeit war kein Nachgedanke. Jeder Schritt schreibt seine Ausgabe nach 00_doku, die Laufzeiten landen in einer CSV. Wer das Projekt nachbauen will, braucht einen Aufruf und Geduld beim Download.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91B"/>
        </a:solidFill>
      </p:bgPr>
    </p:bg>
    <p:spTree>
      <p:nvGrpSpPr>
        <p:cNvPr id="1" name=""/>
        <p:cNvGrpSpPr/>
        <p:nvPr/>
      </p:nvGrpSpPr>
      <p:grpSpPr>
        <a:xfrm>
          <a:off x="0" y="0"/>
          <a:ext cx="0" cy="0"/>
          <a:chOff x="0" y="0"/>
          <a:chExt cx="0" cy="0"/>
        </a:xfrm>
      </p:grpSpPr>
      <p:sp>
        <p:nvSpPr>
          <p:cNvPr id="2" name="Shape 0"/>
          <p:cNvSpPr/>
          <p:nvPr/>
        </p:nvSpPr>
        <p:spPr>
          <a:xfrm>
            <a:off x="777240" y="1417320"/>
            <a:ext cx="310896" cy="50292"/>
          </a:xfrm>
          <a:prstGeom prst="rect">
            <a:avLst/>
          </a:prstGeom>
          <a:solidFill>
            <a:srgbClr val="E0442B"/>
          </a:solidFill>
          <a:ln w="12700">
            <a:solidFill>
              <a:srgbClr val="333333"/>
            </a:solidFill>
            <a:prstDash val="solid"/>
          </a:ln>
        </p:spPr>
      </p:sp>
      <p:sp>
        <p:nvSpPr>
          <p:cNvPr id="3" name="Shape 1"/>
          <p:cNvSpPr/>
          <p:nvPr/>
        </p:nvSpPr>
        <p:spPr>
          <a:xfrm>
            <a:off x="1344168" y="1417320"/>
            <a:ext cx="310896" cy="50292"/>
          </a:xfrm>
          <a:prstGeom prst="rect">
            <a:avLst/>
          </a:prstGeom>
          <a:solidFill>
            <a:srgbClr val="E0442B"/>
          </a:solidFill>
          <a:ln w="12700">
            <a:solidFill>
              <a:srgbClr val="333333"/>
            </a:solidFill>
            <a:prstDash val="solid"/>
          </a:ln>
        </p:spPr>
      </p:sp>
      <p:sp>
        <p:nvSpPr>
          <p:cNvPr id="4" name="Shape 2"/>
          <p:cNvSpPr/>
          <p:nvPr/>
        </p:nvSpPr>
        <p:spPr>
          <a:xfrm>
            <a:off x="1911096" y="1417320"/>
            <a:ext cx="310896" cy="50292"/>
          </a:xfrm>
          <a:prstGeom prst="rect">
            <a:avLst/>
          </a:prstGeom>
          <a:solidFill>
            <a:srgbClr val="E0442B"/>
          </a:solidFill>
          <a:ln w="12700">
            <a:solidFill>
              <a:srgbClr val="333333"/>
            </a:solidFill>
            <a:prstDash val="solid"/>
          </a:ln>
        </p:spPr>
      </p:sp>
      <p:sp>
        <p:nvSpPr>
          <p:cNvPr id="5" name="Shape 3"/>
          <p:cNvSpPr/>
          <p:nvPr/>
        </p:nvSpPr>
        <p:spPr>
          <a:xfrm>
            <a:off x="2478024" y="1417320"/>
            <a:ext cx="310896" cy="50292"/>
          </a:xfrm>
          <a:prstGeom prst="rect">
            <a:avLst/>
          </a:prstGeom>
          <a:solidFill>
            <a:srgbClr val="2C2F31"/>
          </a:solidFill>
          <a:ln w="12700">
            <a:solidFill>
              <a:srgbClr val="333333"/>
            </a:solidFill>
            <a:prstDash val="solid"/>
          </a:ln>
        </p:spPr>
      </p:sp>
      <p:sp>
        <p:nvSpPr>
          <p:cNvPr id="6" name="Shape 4"/>
          <p:cNvSpPr/>
          <p:nvPr/>
        </p:nvSpPr>
        <p:spPr>
          <a:xfrm>
            <a:off x="3044952" y="1417320"/>
            <a:ext cx="310896" cy="50292"/>
          </a:xfrm>
          <a:prstGeom prst="rect">
            <a:avLst/>
          </a:prstGeom>
          <a:solidFill>
            <a:srgbClr val="2C2F31"/>
          </a:solidFill>
          <a:ln w="12700">
            <a:solidFill>
              <a:srgbClr val="333333"/>
            </a:solidFill>
            <a:prstDash val="solid"/>
          </a:ln>
        </p:spPr>
      </p:sp>
      <p:sp>
        <p:nvSpPr>
          <p:cNvPr id="7" name="Shape 5"/>
          <p:cNvSpPr/>
          <p:nvPr/>
        </p:nvSpPr>
        <p:spPr>
          <a:xfrm>
            <a:off x="3611880" y="1417320"/>
            <a:ext cx="310896" cy="50292"/>
          </a:xfrm>
          <a:prstGeom prst="rect">
            <a:avLst/>
          </a:prstGeom>
          <a:solidFill>
            <a:srgbClr val="2C2F31"/>
          </a:solidFill>
          <a:ln w="12700">
            <a:solidFill>
              <a:srgbClr val="333333"/>
            </a:solidFill>
            <a:prstDash val="solid"/>
          </a:ln>
        </p:spPr>
      </p:sp>
      <p:sp>
        <p:nvSpPr>
          <p:cNvPr id="8" name="Shape 6"/>
          <p:cNvSpPr/>
          <p:nvPr/>
        </p:nvSpPr>
        <p:spPr>
          <a:xfrm>
            <a:off x="4178808" y="1417320"/>
            <a:ext cx="310896" cy="50292"/>
          </a:xfrm>
          <a:prstGeom prst="rect">
            <a:avLst/>
          </a:prstGeom>
          <a:solidFill>
            <a:srgbClr val="2C2F31"/>
          </a:solidFill>
          <a:ln w="12700">
            <a:solidFill>
              <a:srgbClr val="333333"/>
            </a:solidFill>
            <a:prstDash val="solid"/>
          </a:ln>
        </p:spPr>
      </p:sp>
      <p:sp>
        <p:nvSpPr>
          <p:cNvPr id="9" name="Shape 7"/>
          <p:cNvSpPr/>
          <p:nvPr/>
        </p:nvSpPr>
        <p:spPr>
          <a:xfrm>
            <a:off x="4745736" y="1417320"/>
            <a:ext cx="310896" cy="50292"/>
          </a:xfrm>
          <a:prstGeom prst="rect">
            <a:avLst/>
          </a:prstGeom>
          <a:solidFill>
            <a:srgbClr val="2C2F31"/>
          </a:solidFill>
          <a:ln w="12700">
            <a:solidFill>
              <a:srgbClr val="333333"/>
            </a:solidFill>
            <a:prstDash val="solid"/>
          </a:ln>
        </p:spPr>
      </p:sp>
      <p:sp>
        <p:nvSpPr>
          <p:cNvPr id="10" name="Shape 8"/>
          <p:cNvSpPr/>
          <p:nvPr/>
        </p:nvSpPr>
        <p:spPr>
          <a:xfrm>
            <a:off x="5312664" y="1417320"/>
            <a:ext cx="310896" cy="50292"/>
          </a:xfrm>
          <a:prstGeom prst="rect">
            <a:avLst/>
          </a:prstGeom>
          <a:solidFill>
            <a:srgbClr val="2C2F31"/>
          </a:solidFill>
          <a:ln w="12700">
            <a:solidFill>
              <a:srgbClr val="333333"/>
            </a:solidFill>
            <a:prstDash val="solid"/>
          </a:ln>
        </p:spPr>
      </p:sp>
      <p:sp>
        <p:nvSpPr>
          <p:cNvPr id="11" name="Text 9"/>
          <p:cNvSpPr/>
          <p:nvPr/>
        </p:nvSpPr>
        <p:spPr>
          <a:xfrm>
            <a:off x="777240" y="1783080"/>
            <a:ext cx="10637215" cy="1234440"/>
          </a:xfrm>
          <a:prstGeom prst="rect">
            <a:avLst/>
          </a:prstGeom>
          <a:noFill/>
          <a:ln/>
        </p:spPr>
        <p:txBody>
          <a:bodyPr wrap="square" lIns="0" tIns="0" rIns="0" bIns="0" rtlCol="0" anchor="ctr"/>
          <a:lstStyle/>
          <a:p>
            <a:pPr indent="0" marL="0">
              <a:buNone/>
            </a:pPr>
            <a:r>
              <a:rPr lang="en-US" sz="9200" b="1" spc="-300" kern="0" dirty="0">
                <a:solidFill>
                  <a:srgbClr val="F4F0E6"/>
                </a:solidFill>
                <a:latin typeface="Arial" pitchFamily="34" charset="0"/>
                <a:ea typeface="Arial" pitchFamily="34" charset="-122"/>
                <a:cs typeface="Arial" pitchFamily="34" charset="-120"/>
              </a:rPr>
              <a:t>PAPIER</a:t>
            </a:r>
            <a:endParaRPr lang="en-US" sz="9200" dirty="0"/>
          </a:p>
        </p:txBody>
      </p:sp>
      <p:sp>
        <p:nvSpPr>
          <p:cNvPr id="12" name="Text 10"/>
          <p:cNvSpPr/>
          <p:nvPr/>
        </p:nvSpPr>
        <p:spPr>
          <a:xfrm>
            <a:off x="777240" y="2880360"/>
            <a:ext cx="10637215" cy="1234440"/>
          </a:xfrm>
          <a:prstGeom prst="rect">
            <a:avLst/>
          </a:prstGeom>
          <a:noFill/>
          <a:ln/>
        </p:spPr>
        <p:txBody>
          <a:bodyPr wrap="square" lIns="0" tIns="0" rIns="0" bIns="0" rtlCol="0" anchor="ctr"/>
          <a:lstStyle/>
          <a:p>
            <a:pPr indent="0" marL="0">
              <a:buNone/>
            </a:pPr>
            <a:r>
              <a:rPr lang="en-US" sz="9200" b="1" spc="-300" kern="0" dirty="0">
                <a:solidFill>
                  <a:srgbClr val="F4F0E6"/>
                </a:solidFill>
                <a:latin typeface="Arial" pitchFamily="34" charset="0"/>
                <a:ea typeface="Arial" pitchFamily="34" charset="-122"/>
                <a:cs typeface="Arial" pitchFamily="34" charset="-120"/>
              </a:rPr>
              <a:t>GEGEN </a:t>
            </a:r>
            <a:pPr indent="0" marL="0">
              <a:buNone/>
            </a:pPr>
            <a:r>
              <a:rPr lang="en-US" sz="9200" b="1" spc="-300" kern="0" dirty="0">
                <a:solidFill>
                  <a:srgbClr val="E0442B"/>
                </a:solidFill>
                <a:latin typeface="Arial" pitchFamily="34" charset="0"/>
                <a:ea typeface="Arial" pitchFamily="34" charset="-122"/>
                <a:cs typeface="Arial" pitchFamily="34" charset="-120"/>
              </a:rPr>
              <a:t>STRASSE</a:t>
            </a:r>
            <a:endParaRPr lang="en-US" sz="9200" dirty="0"/>
          </a:p>
        </p:txBody>
      </p:sp>
      <p:sp>
        <p:nvSpPr>
          <p:cNvPr id="13" name="Text 11"/>
          <p:cNvSpPr/>
          <p:nvPr/>
        </p:nvSpPr>
        <p:spPr>
          <a:xfrm>
            <a:off x="777240" y="4224528"/>
            <a:ext cx="10637215" cy="411480"/>
          </a:xfrm>
          <a:prstGeom prst="rect">
            <a:avLst/>
          </a:prstGeom>
          <a:noFill/>
          <a:ln/>
        </p:spPr>
        <p:txBody>
          <a:bodyPr wrap="square" lIns="0" tIns="0" rIns="0" bIns="0" rtlCol="0" anchor="ctr"/>
          <a:lstStyle/>
          <a:p>
            <a:pPr indent="0" marL="0">
              <a:buNone/>
            </a:pPr>
            <a:r>
              <a:rPr lang="en-US" sz="1900" dirty="0">
                <a:solidFill>
                  <a:srgbClr val="C9C4B6"/>
                </a:solidFill>
                <a:latin typeface="Arial" pitchFamily="34" charset="0"/>
                <a:ea typeface="Arial" pitchFamily="34" charset="-122"/>
                <a:cs typeface="Arial" pitchFamily="34" charset="-120"/>
              </a:rPr>
              <a:t>Die Realverbrauchslücke der EU-Neuwagenflotte</a:t>
            </a:r>
            <a:endParaRPr lang="en-US" sz="1900" dirty="0"/>
          </a:p>
        </p:txBody>
      </p:sp>
      <p:sp>
        <p:nvSpPr>
          <p:cNvPr id="14" name="Text 12"/>
          <p:cNvSpPr/>
          <p:nvPr/>
        </p:nvSpPr>
        <p:spPr>
          <a:xfrm>
            <a:off x="777240" y="4645152"/>
            <a:ext cx="10637215" cy="365760"/>
          </a:xfrm>
          <a:prstGeom prst="rect">
            <a:avLst/>
          </a:prstGeom>
          <a:noFill/>
          <a:ln/>
        </p:spPr>
        <p:txBody>
          <a:bodyPr wrap="square" lIns="0" tIns="0" rIns="0" bIns="0" rtlCol="0" anchor="ctr"/>
          <a:lstStyle/>
          <a:p>
            <a:pPr indent="0" marL="0">
              <a:buNone/>
            </a:pPr>
            <a:r>
              <a:rPr lang="en-US" sz="1400" dirty="0">
                <a:solidFill>
                  <a:srgbClr val="6E7377"/>
                </a:solidFill>
                <a:latin typeface="Arial" pitchFamily="34" charset="0"/>
                <a:ea typeface="Arial" pitchFamily="34" charset="-122"/>
                <a:cs typeface="Arial" pitchFamily="34" charset="-120"/>
              </a:rPr>
              <a:t>45 Millionen amtliche Datensätze  ·  EU-CO₂-Monitoring 2021–2025</a:t>
            </a:r>
            <a:endParaRPr lang="en-US" sz="1400" dirty="0"/>
          </a:p>
        </p:txBody>
      </p:sp>
      <p:sp>
        <p:nvSpPr>
          <p:cNvPr id="15" name="Text 13"/>
          <p:cNvSpPr/>
          <p:nvPr/>
        </p:nvSpPr>
        <p:spPr>
          <a:xfrm>
            <a:off x="777240" y="5989320"/>
            <a:ext cx="10637215" cy="320040"/>
          </a:xfrm>
          <a:prstGeom prst="rect">
            <a:avLst/>
          </a:prstGeom>
          <a:noFill/>
          <a:ln/>
        </p:spPr>
        <p:txBody>
          <a:bodyPr wrap="square" lIns="0" tIns="0" rIns="0" bIns="0" rtlCol="0" anchor="ctr"/>
          <a:lstStyle/>
          <a:p>
            <a:pPr indent="0" marL="0">
              <a:buNone/>
            </a:pPr>
            <a:r>
              <a:rPr lang="en-US" sz="1050" b="1" spc="200" kern="0" dirty="0">
                <a:solidFill>
                  <a:srgbClr val="6E7377"/>
                </a:solidFill>
                <a:latin typeface="Arial" pitchFamily="34" charset="0"/>
                <a:ea typeface="Arial" pitchFamily="34" charset="-122"/>
                <a:cs typeface="Arial" pitchFamily="34" charset="-120"/>
              </a:rPr>
              <a:t>ALEXANDER SAGERT   ·   PROJEKTARBEIT BIG DATA   ·   educX   ·   AUGUST 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0E6"/>
        </a:solidFill>
      </p:bgPr>
    </p:bg>
    <p:spTree>
      <p:nvGrpSpPr>
        <p:cNvPr id="1" name=""/>
        <p:cNvGrpSpPr/>
        <p:nvPr/>
      </p:nvGrpSpPr>
      <p:grpSpPr>
        <a:xfrm>
          <a:off x="0" y="0"/>
          <a:ext cx="0" cy="0"/>
          <a:chOff x="0" y="0"/>
          <a:chExt cx="0" cy="0"/>
        </a:xfrm>
      </p:grpSpPr>
      <p:sp>
        <p:nvSpPr>
          <p:cNvPr id="2" name="Text 0"/>
          <p:cNvSpPr/>
          <p:nvPr/>
        </p:nvSpPr>
        <p:spPr>
          <a:xfrm>
            <a:off x="777240" y="475488"/>
            <a:ext cx="10637215" cy="256032"/>
          </a:xfrm>
          <a:prstGeom prst="rect">
            <a:avLst/>
          </a:prstGeom>
          <a:noFill/>
          <a:ln/>
        </p:spPr>
        <p:txBody>
          <a:bodyPr wrap="square" lIns="0" tIns="0" rIns="0" bIns="0" rtlCol="0" anchor="ctr"/>
          <a:lstStyle/>
          <a:p>
            <a:pPr indent="0" marL="0">
              <a:buNone/>
            </a:pPr>
            <a:r>
              <a:rPr lang="en-US" sz="1100" b="1" spc="300" kern="0" dirty="0">
                <a:solidFill>
                  <a:srgbClr val="E0442B"/>
                </a:solidFill>
                <a:latin typeface="Arial" pitchFamily="34" charset="0"/>
                <a:ea typeface="Arial" pitchFamily="34" charset="-122"/>
                <a:cs typeface="Arial" pitchFamily="34" charset="-120"/>
              </a:rPr>
              <a:t>01</a:t>
            </a:r>
            <a:pPr indent="0" marL="0">
              <a:buNone/>
            </a:pPr>
            <a:r>
              <a:rPr lang="en-US" sz="1100" b="1" spc="300" kern="0" dirty="0">
                <a:solidFill>
                  <a:srgbClr val="6E7377"/>
                </a:solidFill>
                <a:latin typeface="Arial" pitchFamily="34" charset="0"/>
                <a:ea typeface="Arial" pitchFamily="34" charset="-122"/>
                <a:cs typeface="Arial" pitchFamily="34" charset="-120"/>
              </a:rPr>
              <a:t>   DIE FRAGE</a:t>
            </a:r>
            <a:endParaRPr lang="en-US" sz="1100" dirty="0"/>
          </a:p>
        </p:txBody>
      </p:sp>
      <p:sp>
        <p:nvSpPr>
          <p:cNvPr id="3" name="Text 1"/>
          <p:cNvSpPr/>
          <p:nvPr/>
        </p:nvSpPr>
        <p:spPr>
          <a:xfrm>
            <a:off x="777240" y="841248"/>
            <a:ext cx="10637215" cy="777240"/>
          </a:xfrm>
          <a:prstGeom prst="rect">
            <a:avLst/>
          </a:prstGeom>
          <a:noFill/>
          <a:ln/>
        </p:spPr>
        <p:txBody>
          <a:bodyPr wrap="square" lIns="0" tIns="0" rIns="0" bIns="0" rtlCol="0" anchor="ctr"/>
          <a:lstStyle/>
          <a:p>
            <a:pPr indent="0" marL="0">
              <a:buNone/>
            </a:pPr>
            <a:r>
              <a:rPr lang="en-US" sz="4000" b="1" spc="-120" kern="0" dirty="0">
                <a:solidFill>
                  <a:srgbClr val="17191B"/>
                </a:solidFill>
                <a:latin typeface="Arial" pitchFamily="34" charset="0"/>
                <a:ea typeface="Arial" pitchFamily="34" charset="-122"/>
                <a:cs typeface="Arial" pitchFamily="34" charset="-120"/>
              </a:rPr>
              <a:t>Dieselben Autos. Zwei Zahlen.</a:t>
            </a:r>
            <a:endParaRPr lang="en-US" sz="4000" dirty="0"/>
          </a:p>
        </p:txBody>
      </p:sp>
      <p:sp>
        <p:nvSpPr>
          <p:cNvPr id="4" name="Text 2"/>
          <p:cNvSpPr/>
          <p:nvPr/>
        </p:nvSpPr>
        <p:spPr>
          <a:xfrm>
            <a:off x="777240" y="1719072"/>
            <a:ext cx="7658795" cy="640080"/>
          </a:xfrm>
          <a:prstGeom prst="rect">
            <a:avLst/>
          </a:prstGeom>
          <a:noFill/>
          <a:ln/>
        </p:spPr>
        <p:txBody>
          <a:bodyPr wrap="square" lIns="0" tIns="0" rIns="0" bIns="0" rtlCol="0" anchor="ctr"/>
          <a:lstStyle/>
          <a:p>
            <a:pPr indent="0" marL="0">
              <a:buNone/>
            </a:pPr>
            <a:r>
              <a:rPr lang="en-US" sz="1400" dirty="0">
                <a:solidFill>
                  <a:srgbClr val="6E7377"/>
                </a:solidFill>
                <a:latin typeface="Arial" pitchFamily="34" charset="0"/>
                <a:ea typeface="Arial" pitchFamily="34" charset="-122"/>
                <a:cs typeface="Arial" pitchFamily="34" charset="-120"/>
              </a:rPr>
              <a:t>Es sind nicht zwei Stichproben, sondern zweimal dasselbe Fahrzeug — verbunden über die Typgenehmigung. Die Lücke ist deshalb keine Schätzung, sondern eine Differenz.</a:t>
            </a:r>
            <a:endParaRPr lang="en-US" sz="1400" dirty="0"/>
          </a:p>
        </p:txBody>
      </p:sp>
      <p:sp>
        <p:nvSpPr>
          <p:cNvPr id="5" name="Shape 3"/>
          <p:cNvSpPr/>
          <p:nvPr/>
        </p:nvSpPr>
        <p:spPr>
          <a:xfrm>
            <a:off x="777240" y="2606040"/>
            <a:ext cx="3289706" cy="2148840"/>
          </a:xfrm>
          <a:prstGeom prst="rect">
            <a:avLst/>
          </a:prstGeom>
          <a:solidFill>
            <a:srgbClr val="E6E0D2"/>
          </a:solidFill>
          <a:ln w="12700">
            <a:solidFill>
              <a:srgbClr val="333333"/>
            </a:solidFill>
            <a:prstDash val="solid"/>
          </a:ln>
        </p:spPr>
      </p:sp>
      <p:sp>
        <p:nvSpPr>
          <p:cNvPr id="6" name="Text 4"/>
          <p:cNvSpPr/>
          <p:nvPr/>
        </p:nvSpPr>
        <p:spPr>
          <a:xfrm>
            <a:off x="1033272" y="2816352"/>
            <a:ext cx="2832506" cy="256032"/>
          </a:xfrm>
          <a:prstGeom prst="rect">
            <a:avLst/>
          </a:prstGeom>
          <a:noFill/>
          <a:ln/>
        </p:spPr>
        <p:txBody>
          <a:bodyPr wrap="square" lIns="0" tIns="0" rIns="0" bIns="0" rtlCol="0" anchor="ctr"/>
          <a:lstStyle/>
          <a:p>
            <a:pPr indent="0" marL="0">
              <a:buNone/>
            </a:pPr>
            <a:r>
              <a:rPr lang="en-US" sz="1050" b="1" spc="160" kern="0" dirty="0">
                <a:solidFill>
                  <a:srgbClr val="6E7377"/>
                </a:solidFill>
                <a:latin typeface="Arial" pitchFamily="34" charset="0"/>
                <a:ea typeface="Arial" pitchFamily="34" charset="-122"/>
                <a:cs typeface="Arial" pitchFamily="34" charset="-120"/>
              </a:rPr>
              <a:t>ARTIKEL 7</a:t>
            </a:r>
            <a:endParaRPr lang="en-US" sz="1050" dirty="0"/>
          </a:p>
        </p:txBody>
      </p:sp>
      <p:sp>
        <p:nvSpPr>
          <p:cNvPr id="7" name="Text 5"/>
          <p:cNvSpPr/>
          <p:nvPr/>
        </p:nvSpPr>
        <p:spPr>
          <a:xfrm>
            <a:off x="1033272" y="3127248"/>
            <a:ext cx="2832506" cy="384048"/>
          </a:xfrm>
          <a:prstGeom prst="rect">
            <a:avLst/>
          </a:prstGeom>
          <a:noFill/>
          <a:ln/>
        </p:spPr>
        <p:txBody>
          <a:bodyPr wrap="square" lIns="0" tIns="0" rIns="0" bIns="0" rtlCol="0" anchor="ctr"/>
          <a:lstStyle/>
          <a:p>
            <a:pPr indent="0" marL="0">
              <a:buNone/>
            </a:pPr>
            <a:r>
              <a:rPr lang="en-US" sz="1900" b="1" spc="-40" kern="0" dirty="0">
                <a:solidFill>
                  <a:srgbClr val="17191B"/>
                </a:solidFill>
                <a:latin typeface="Arial" pitchFamily="34" charset="0"/>
                <a:ea typeface="Arial" pitchFamily="34" charset="-122"/>
                <a:cs typeface="Arial" pitchFamily="34" charset="-120"/>
              </a:rPr>
              <a:t>Zulassungsdatenbank</a:t>
            </a:r>
            <a:endParaRPr lang="en-US" sz="1900" dirty="0"/>
          </a:p>
        </p:txBody>
      </p:sp>
      <p:sp>
        <p:nvSpPr>
          <p:cNvPr id="8" name="Text 6"/>
          <p:cNvSpPr/>
          <p:nvPr/>
        </p:nvSpPr>
        <p:spPr>
          <a:xfrm>
            <a:off x="1033272" y="3611880"/>
            <a:ext cx="2832506" cy="1005840"/>
          </a:xfrm>
          <a:prstGeom prst="rect">
            <a:avLst/>
          </a:prstGeom>
          <a:noFill/>
          <a:ln/>
        </p:spPr>
        <p:txBody>
          <a:bodyPr wrap="square" lIns="0" tIns="0" rIns="0" bIns="0" rtlCol="0" anchor="ctr"/>
          <a:lstStyle/>
          <a:p>
            <a:pPr indent="0" marL="0">
              <a:buNone/>
            </a:pPr>
            <a:r>
              <a:rPr lang="en-US" sz="1200" dirty="0">
                <a:solidFill>
                  <a:srgbClr val="6E7377"/>
                </a:solidFill>
                <a:latin typeface="Arial" pitchFamily="34" charset="0"/>
                <a:ea typeface="Arial" pitchFamily="34" charset="-122"/>
                <a:cs typeface="Arial" pitchFamily="34" charset="-120"/>
              </a:rPr>
              <a:t>Der zertifizierte Laborwert aus der</a:t>
            </a:r>
            <a:endParaRPr lang="en-US" sz="1200" dirty="0"/>
          </a:p>
          <a:p>
            <a:pPr indent="0" marL="0">
              <a:buNone/>
            </a:pPr>
            <a:r>
              <a:rPr lang="en-US" sz="1200" dirty="0">
                <a:solidFill>
                  <a:srgbClr val="6E7377"/>
                </a:solidFill>
                <a:latin typeface="Arial" pitchFamily="34" charset="0"/>
                <a:ea typeface="Arial" pitchFamily="34" charset="-122"/>
                <a:cs typeface="Arial" pitchFamily="34" charset="-120"/>
              </a:rPr>
              <a:t>WLTP-Typprüfung. Grundlage für</a:t>
            </a:r>
            <a:endParaRPr lang="en-US" sz="1200" dirty="0"/>
          </a:p>
          <a:p>
            <a:pPr indent="0" marL="0">
              <a:buNone/>
            </a:pPr>
            <a:r>
              <a:rPr lang="en-US" sz="1200" dirty="0">
                <a:solidFill>
                  <a:srgbClr val="6E7377"/>
                </a:solidFill>
                <a:latin typeface="Arial" pitchFamily="34" charset="0"/>
                <a:ea typeface="Arial" pitchFamily="34" charset="-122"/>
                <a:cs typeface="Arial" pitchFamily="34" charset="-120"/>
              </a:rPr>
              <a:t>Steuer, Förderung, Flottenziel.</a:t>
            </a:r>
            <a:endParaRPr lang="en-US" sz="1200" dirty="0"/>
          </a:p>
        </p:txBody>
      </p:sp>
      <p:sp>
        <p:nvSpPr>
          <p:cNvPr id="9" name="Shape 7"/>
          <p:cNvSpPr/>
          <p:nvPr/>
        </p:nvSpPr>
        <p:spPr>
          <a:xfrm>
            <a:off x="4377842" y="2606040"/>
            <a:ext cx="3289706" cy="2148840"/>
          </a:xfrm>
          <a:prstGeom prst="rect">
            <a:avLst/>
          </a:prstGeom>
          <a:solidFill>
            <a:srgbClr val="E6E0D2"/>
          </a:solidFill>
          <a:ln w="12700">
            <a:solidFill>
              <a:srgbClr val="333333"/>
            </a:solidFill>
            <a:prstDash val="solid"/>
          </a:ln>
        </p:spPr>
      </p:sp>
      <p:sp>
        <p:nvSpPr>
          <p:cNvPr id="10" name="Text 8"/>
          <p:cNvSpPr/>
          <p:nvPr/>
        </p:nvSpPr>
        <p:spPr>
          <a:xfrm>
            <a:off x="4633874" y="2816352"/>
            <a:ext cx="2832506" cy="256032"/>
          </a:xfrm>
          <a:prstGeom prst="rect">
            <a:avLst/>
          </a:prstGeom>
          <a:noFill/>
          <a:ln/>
        </p:spPr>
        <p:txBody>
          <a:bodyPr wrap="square" lIns="0" tIns="0" rIns="0" bIns="0" rtlCol="0" anchor="ctr"/>
          <a:lstStyle/>
          <a:p>
            <a:pPr indent="0" marL="0">
              <a:buNone/>
            </a:pPr>
            <a:r>
              <a:rPr lang="en-US" sz="1050" b="1" spc="160" kern="0" dirty="0">
                <a:solidFill>
                  <a:srgbClr val="E0442B"/>
                </a:solidFill>
                <a:latin typeface="Arial" pitchFamily="34" charset="0"/>
                <a:ea typeface="Arial" pitchFamily="34" charset="-122"/>
                <a:cs typeface="Arial" pitchFamily="34" charset="-120"/>
              </a:rPr>
              <a:t>ARTIKEL 12</a:t>
            </a:r>
            <a:endParaRPr lang="en-US" sz="1050" dirty="0"/>
          </a:p>
        </p:txBody>
      </p:sp>
      <p:sp>
        <p:nvSpPr>
          <p:cNvPr id="11" name="Text 9"/>
          <p:cNvSpPr/>
          <p:nvPr/>
        </p:nvSpPr>
        <p:spPr>
          <a:xfrm>
            <a:off x="4633874" y="3127248"/>
            <a:ext cx="2832506" cy="384048"/>
          </a:xfrm>
          <a:prstGeom prst="rect">
            <a:avLst/>
          </a:prstGeom>
          <a:noFill/>
          <a:ln/>
        </p:spPr>
        <p:txBody>
          <a:bodyPr wrap="square" lIns="0" tIns="0" rIns="0" bIns="0" rtlCol="0" anchor="ctr"/>
          <a:lstStyle/>
          <a:p>
            <a:pPr indent="0" marL="0">
              <a:buNone/>
            </a:pPr>
            <a:r>
              <a:rPr lang="en-US" sz="1900" b="1" spc="-40" kern="0" dirty="0">
                <a:solidFill>
                  <a:srgbClr val="17191B"/>
                </a:solidFill>
                <a:latin typeface="Arial" pitchFamily="34" charset="0"/>
                <a:ea typeface="Arial" pitchFamily="34" charset="-122"/>
                <a:cs typeface="Arial" pitchFamily="34" charset="-120"/>
              </a:rPr>
              <a:t>Bordzähler (OBFCM)</a:t>
            </a:r>
            <a:endParaRPr lang="en-US" sz="1900" dirty="0"/>
          </a:p>
        </p:txBody>
      </p:sp>
      <p:sp>
        <p:nvSpPr>
          <p:cNvPr id="12" name="Text 10"/>
          <p:cNvSpPr/>
          <p:nvPr/>
        </p:nvSpPr>
        <p:spPr>
          <a:xfrm>
            <a:off x="4633874" y="3611880"/>
            <a:ext cx="2832506" cy="1005840"/>
          </a:xfrm>
          <a:prstGeom prst="rect">
            <a:avLst/>
          </a:prstGeom>
          <a:noFill/>
          <a:ln/>
        </p:spPr>
        <p:txBody>
          <a:bodyPr wrap="square" lIns="0" tIns="0" rIns="0" bIns="0" rtlCol="0" anchor="ctr"/>
          <a:lstStyle/>
          <a:p>
            <a:pPr indent="0" marL="0">
              <a:buNone/>
            </a:pPr>
            <a:r>
              <a:rPr lang="en-US" sz="1200" dirty="0">
                <a:solidFill>
                  <a:srgbClr val="6E7377"/>
                </a:solidFill>
                <a:latin typeface="Arial" pitchFamily="34" charset="0"/>
                <a:ea typeface="Arial" pitchFamily="34" charset="-122"/>
                <a:cs typeface="Arial" pitchFamily="34" charset="-120"/>
              </a:rPr>
              <a:t>Der über die Lebensdauer</a:t>
            </a:r>
            <a:endParaRPr lang="en-US" sz="1200" dirty="0"/>
          </a:p>
          <a:p>
            <a:pPr indent="0" marL="0">
              <a:buNone/>
            </a:pPr>
            <a:r>
              <a:rPr lang="en-US" sz="1200" dirty="0">
                <a:solidFill>
                  <a:srgbClr val="6E7377"/>
                </a:solidFill>
                <a:latin typeface="Arial" pitchFamily="34" charset="0"/>
                <a:ea typeface="Arial" pitchFamily="34" charset="-122"/>
                <a:cs typeface="Arial" pitchFamily="34" charset="-120"/>
              </a:rPr>
              <a:t>gemessene Verbrauch. Seit 2021</a:t>
            </a:r>
            <a:endParaRPr lang="en-US" sz="1200" dirty="0"/>
          </a:p>
          <a:p>
            <a:pPr indent="0" marL="0">
              <a:buNone/>
            </a:pPr>
            <a:r>
              <a:rPr lang="en-US" sz="1200" dirty="0">
                <a:solidFill>
                  <a:srgbClr val="6E7377"/>
                </a:solidFill>
                <a:latin typeface="Arial" pitchFamily="34" charset="0"/>
                <a:ea typeface="Arial" pitchFamily="34" charset="-122"/>
                <a:cs typeface="Arial" pitchFamily="34" charset="-120"/>
              </a:rPr>
              <a:t>meldepflichtig für jedes Fahrzeug.</a:t>
            </a:r>
            <a:endParaRPr lang="en-US" sz="1200" dirty="0"/>
          </a:p>
        </p:txBody>
      </p:sp>
      <p:sp>
        <p:nvSpPr>
          <p:cNvPr id="13" name="Shape 11"/>
          <p:cNvSpPr/>
          <p:nvPr/>
        </p:nvSpPr>
        <p:spPr>
          <a:xfrm>
            <a:off x="7978445" y="2606040"/>
            <a:ext cx="3289706" cy="2148840"/>
          </a:xfrm>
          <a:prstGeom prst="rect">
            <a:avLst/>
          </a:prstGeom>
          <a:solidFill>
            <a:srgbClr val="E6E0D2"/>
          </a:solidFill>
          <a:ln w="12700">
            <a:solidFill>
              <a:srgbClr val="333333"/>
            </a:solidFill>
            <a:prstDash val="solid"/>
          </a:ln>
        </p:spPr>
      </p:sp>
      <p:sp>
        <p:nvSpPr>
          <p:cNvPr id="14" name="Text 12"/>
          <p:cNvSpPr/>
          <p:nvPr/>
        </p:nvSpPr>
        <p:spPr>
          <a:xfrm>
            <a:off x="8234477" y="2816352"/>
            <a:ext cx="2832506" cy="256032"/>
          </a:xfrm>
          <a:prstGeom prst="rect">
            <a:avLst/>
          </a:prstGeom>
          <a:noFill/>
          <a:ln/>
        </p:spPr>
        <p:txBody>
          <a:bodyPr wrap="square" lIns="0" tIns="0" rIns="0" bIns="0" rtlCol="0" anchor="ctr"/>
          <a:lstStyle/>
          <a:p>
            <a:pPr indent="0" marL="0">
              <a:buNone/>
            </a:pPr>
            <a:r>
              <a:rPr lang="en-US" sz="1050" b="1" spc="160" kern="0" dirty="0">
                <a:solidFill>
                  <a:srgbClr val="17191B"/>
                </a:solidFill>
                <a:latin typeface="Arial" pitchFamily="34" charset="0"/>
                <a:ea typeface="Arial" pitchFamily="34" charset="-122"/>
                <a:cs typeface="Arial" pitchFamily="34" charset="-120"/>
              </a:rPr>
              <a:t>DIE DIFFERENZ</a:t>
            </a:r>
            <a:endParaRPr lang="en-US" sz="1050" dirty="0"/>
          </a:p>
        </p:txBody>
      </p:sp>
      <p:sp>
        <p:nvSpPr>
          <p:cNvPr id="15" name="Text 13"/>
          <p:cNvSpPr/>
          <p:nvPr/>
        </p:nvSpPr>
        <p:spPr>
          <a:xfrm>
            <a:off x="8234477" y="3127248"/>
            <a:ext cx="2832506" cy="384048"/>
          </a:xfrm>
          <a:prstGeom prst="rect">
            <a:avLst/>
          </a:prstGeom>
          <a:noFill/>
          <a:ln/>
        </p:spPr>
        <p:txBody>
          <a:bodyPr wrap="square" lIns="0" tIns="0" rIns="0" bIns="0" rtlCol="0" anchor="ctr"/>
          <a:lstStyle/>
          <a:p>
            <a:pPr indent="0" marL="0">
              <a:buNone/>
            </a:pPr>
            <a:r>
              <a:rPr lang="en-US" sz="1900" b="1" spc="-40" kern="0" dirty="0">
                <a:solidFill>
                  <a:srgbClr val="17191B"/>
                </a:solidFill>
                <a:latin typeface="Arial" pitchFamily="34" charset="0"/>
                <a:ea typeface="Arial" pitchFamily="34" charset="-122"/>
                <a:cs typeface="Arial" pitchFamily="34" charset="-120"/>
              </a:rPr>
              <a:t>45 Mio. Datensätze</a:t>
            </a:r>
            <a:endParaRPr lang="en-US" sz="1900" dirty="0"/>
          </a:p>
        </p:txBody>
      </p:sp>
      <p:sp>
        <p:nvSpPr>
          <p:cNvPr id="16" name="Text 14"/>
          <p:cNvSpPr/>
          <p:nvPr/>
        </p:nvSpPr>
        <p:spPr>
          <a:xfrm>
            <a:off x="8234477" y="3611880"/>
            <a:ext cx="2832506" cy="1005840"/>
          </a:xfrm>
          <a:prstGeom prst="rect">
            <a:avLst/>
          </a:prstGeom>
          <a:noFill/>
          <a:ln/>
        </p:spPr>
        <p:txBody>
          <a:bodyPr wrap="square" lIns="0" tIns="0" rIns="0" bIns="0" rtlCol="0" anchor="ctr"/>
          <a:lstStyle/>
          <a:p>
            <a:pPr indent="0" marL="0">
              <a:buNone/>
            </a:pPr>
            <a:r>
              <a:rPr lang="en-US" sz="1200" dirty="0">
                <a:solidFill>
                  <a:srgbClr val="6E7377"/>
                </a:solidFill>
                <a:latin typeface="Arial" pitchFamily="34" charset="0"/>
                <a:ea typeface="Arial" pitchFamily="34" charset="-122"/>
                <a:cs typeface="Arial" pitchFamily="34" charset="-120"/>
              </a:rPr>
              <a:t>37,1 Mio. Zulassungen und</a:t>
            </a:r>
            <a:endParaRPr lang="en-US" sz="1200" dirty="0"/>
          </a:p>
          <a:p>
            <a:pPr indent="0" marL="0">
              <a:buNone/>
            </a:pPr>
            <a:r>
              <a:rPr lang="en-US" sz="1200" dirty="0">
                <a:solidFill>
                  <a:srgbClr val="6E7377"/>
                </a:solidFill>
                <a:latin typeface="Arial" pitchFamily="34" charset="0"/>
                <a:ea typeface="Arial" pitchFamily="34" charset="-122"/>
                <a:cs typeface="Arial" pitchFamily="34" charset="-120"/>
              </a:rPr>
              <a:t>7,8 Mio. gemessene Fahrzeuge,</a:t>
            </a:r>
            <a:endParaRPr lang="en-US" sz="1200" dirty="0"/>
          </a:p>
          <a:p>
            <a:pPr indent="0" marL="0">
              <a:buNone/>
            </a:pPr>
            <a:r>
              <a:rPr lang="en-US" sz="1200" dirty="0">
                <a:solidFill>
                  <a:srgbClr val="6E7377"/>
                </a:solidFill>
                <a:latin typeface="Arial" pitchFamily="34" charset="0"/>
                <a:ea typeface="Arial" pitchFamily="34" charset="-122"/>
                <a:cs typeface="Arial" pitchFamily="34" charset="-120"/>
              </a:rPr>
              <a:t>zusammengeführt in einer Datenbank.</a:t>
            </a:r>
            <a:endParaRPr lang="en-US" sz="1200" dirty="0"/>
          </a:p>
        </p:txBody>
      </p:sp>
      <p:sp>
        <p:nvSpPr>
          <p:cNvPr id="17" name="Text 15"/>
          <p:cNvSpPr/>
          <p:nvPr/>
        </p:nvSpPr>
        <p:spPr>
          <a:xfrm>
            <a:off x="777240" y="5029200"/>
            <a:ext cx="9148005" cy="685800"/>
          </a:xfrm>
          <a:prstGeom prst="rect">
            <a:avLst/>
          </a:prstGeom>
          <a:noFill/>
          <a:ln/>
        </p:spPr>
        <p:txBody>
          <a:bodyPr wrap="square" lIns="0" tIns="0" rIns="0" bIns="0" rtlCol="0" anchor="ctr"/>
          <a:lstStyle/>
          <a:p>
            <a:pPr indent="0" marL="0">
              <a:buNone/>
            </a:pPr>
            <a:r>
              <a:rPr lang="en-US" sz="1500" i="1" dirty="0">
                <a:solidFill>
                  <a:srgbClr val="17191B"/>
                </a:solidFill>
                <a:latin typeface="Century Schoolbook" pitchFamily="34" charset="0"/>
                <a:ea typeface="Century Schoolbook" pitchFamily="34" charset="-122"/>
                <a:cs typeface="Century Schoolbook" pitchFamily="34" charset="-120"/>
              </a:rPr>
              <a:t>„Wie weit liegen zertifizierte und gemessene CO₂-Werte auseinander — und ändert das die Bewertung des Verbrennerausstiegs?“</a:t>
            </a:r>
            <a:endParaRPr lang="en-US" sz="1500" dirty="0"/>
          </a:p>
        </p:txBody>
      </p:sp>
      <p:sp>
        <p:nvSpPr>
          <p:cNvPr id="18" name="Text 16"/>
          <p:cNvSpPr/>
          <p:nvPr/>
        </p:nvSpPr>
        <p:spPr>
          <a:xfrm>
            <a:off x="777240" y="6327648"/>
            <a:ext cx="10637215" cy="274320"/>
          </a:xfrm>
          <a:prstGeom prst="rect">
            <a:avLst/>
          </a:prstGeom>
          <a:noFill/>
          <a:ln/>
        </p:spPr>
        <p:txBody>
          <a:bodyPr wrap="square" lIns="0" tIns="0" rIns="0" bIns="0" rtlCol="0" anchor="ctr"/>
          <a:lstStyle/>
          <a:p>
            <a:pPr indent="0" marL="0">
              <a:buNone/>
            </a:pPr>
            <a:r>
              <a:rPr lang="en-US" sz="950" spc="60" kern="0" dirty="0">
                <a:solidFill>
                  <a:srgbClr val="6E7377"/>
                </a:solidFill>
                <a:latin typeface="Arial" pitchFamily="34" charset="0"/>
                <a:ea typeface="Arial" pitchFamily="34" charset="-122"/>
                <a:cs typeface="Arial" pitchFamily="34" charset="-120"/>
              </a:rPr>
              <a:t>VO (EU) 2019/631 — Verordnung über CO₂-Emissionsnormen für neue Personenkraftwagen</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0E6"/>
        </a:solidFill>
      </p:bgPr>
    </p:bg>
    <p:spTree>
      <p:nvGrpSpPr>
        <p:cNvPr id="1" name=""/>
        <p:cNvGrpSpPr/>
        <p:nvPr/>
      </p:nvGrpSpPr>
      <p:grpSpPr>
        <a:xfrm>
          <a:off x="0" y="0"/>
          <a:ext cx="0" cy="0"/>
          <a:chOff x="0" y="0"/>
          <a:chExt cx="0" cy="0"/>
        </a:xfrm>
      </p:grpSpPr>
      <p:sp>
        <p:nvSpPr>
          <p:cNvPr id="2" name="Text 0"/>
          <p:cNvSpPr/>
          <p:nvPr/>
        </p:nvSpPr>
        <p:spPr>
          <a:xfrm>
            <a:off x="777240" y="475488"/>
            <a:ext cx="10637215" cy="256032"/>
          </a:xfrm>
          <a:prstGeom prst="rect">
            <a:avLst/>
          </a:prstGeom>
          <a:noFill/>
          <a:ln/>
        </p:spPr>
        <p:txBody>
          <a:bodyPr wrap="square" lIns="0" tIns="0" rIns="0" bIns="0" rtlCol="0" anchor="ctr"/>
          <a:lstStyle/>
          <a:p>
            <a:pPr indent="0" marL="0">
              <a:buNone/>
            </a:pPr>
            <a:r>
              <a:rPr lang="en-US" sz="1100" b="1" spc="300" kern="0" dirty="0">
                <a:solidFill>
                  <a:srgbClr val="E0442B"/>
                </a:solidFill>
                <a:latin typeface="Arial" pitchFamily="34" charset="0"/>
                <a:ea typeface="Arial" pitchFamily="34" charset="-122"/>
                <a:cs typeface="Arial" pitchFamily="34" charset="-120"/>
              </a:rPr>
              <a:t>02</a:t>
            </a:r>
            <a:pPr indent="0" marL="0">
              <a:buNone/>
            </a:pPr>
            <a:r>
              <a:rPr lang="en-US" sz="1100" b="1" spc="300" kern="0" dirty="0">
                <a:solidFill>
                  <a:srgbClr val="6E7377"/>
                </a:solidFill>
                <a:latin typeface="Arial" pitchFamily="34" charset="0"/>
                <a:ea typeface="Arial" pitchFamily="34" charset="-122"/>
                <a:cs typeface="Arial" pitchFamily="34" charset="-120"/>
              </a:rPr>
              <a:t>   BESCHAFFUNG</a:t>
            </a:r>
            <a:endParaRPr lang="en-US" sz="1100" dirty="0"/>
          </a:p>
        </p:txBody>
      </p:sp>
      <p:sp>
        <p:nvSpPr>
          <p:cNvPr id="3" name="Text 1"/>
          <p:cNvSpPr/>
          <p:nvPr/>
        </p:nvSpPr>
        <p:spPr>
          <a:xfrm>
            <a:off x="777240" y="841248"/>
            <a:ext cx="10637215" cy="777240"/>
          </a:xfrm>
          <a:prstGeom prst="rect">
            <a:avLst/>
          </a:prstGeom>
          <a:noFill/>
          <a:ln/>
        </p:spPr>
        <p:txBody>
          <a:bodyPr wrap="square" lIns="0" tIns="0" rIns="0" bIns="0" rtlCol="0" anchor="ctr"/>
          <a:lstStyle/>
          <a:p>
            <a:pPr indent="0" marL="0">
              <a:buNone/>
            </a:pPr>
            <a:r>
              <a:rPr lang="en-US" sz="4000" b="1" spc="-120" kern="0" dirty="0">
                <a:solidFill>
                  <a:srgbClr val="17191B"/>
                </a:solidFill>
                <a:latin typeface="Arial" pitchFamily="34" charset="0"/>
                <a:ea typeface="Arial" pitchFamily="34" charset="-122"/>
                <a:cs typeface="Arial" pitchFamily="34" charset="-120"/>
              </a:rPr>
              <a:t>Für diese Daten gibt es keinen Download.</a:t>
            </a:r>
            <a:endParaRPr lang="en-US" sz="4000" dirty="0"/>
          </a:p>
        </p:txBody>
      </p:sp>
      <p:sp>
        <p:nvSpPr>
          <p:cNvPr id="4" name="Text 2"/>
          <p:cNvSpPr/>
          <p:nvPr/>
        </p:nvSpPr>
        <p:spPr>
          <a:xfrm>
            <a:off x="777240" y="1627632"/>
            <a:ext cx="8297028" cy="457200"/>
          </a:xfrm>
          <a:prstGeom prst="rect">
            <a:avLst/>
          </a:prstGeom>
          <a:noFill/>
          <a:ln/>
        </p:spPr>
        <p:txBody>
          <a:bodyPr wrap="square" lIns="0" tIns="0" rIns="0" bIns="0" rtlCol="0" anchor="ctr"/>
          <a:lstStyle/>
          <a:p>
            <a:pPr indent="0" marL="0">
              <a:buNone/>
            </a:pPr>
            <a:r>
              <a:rPr lang="en-US" sz="1400" dirty="0">
                <a:solidFill>
                  <a:srgbClr val="6E7377"/>
                </a:solidFill>
                <a:latin typeface="Arial" pitchFamily="34" charset="0"/>
                <a:ea typeface="Arial" pitchFamily="34" charset="-122"/>
                <a:cs typeface="Arial" pitchFamily="34" charset="-120"/>
              </a:rPr>
              <a:t>Der einzige Zugang zu Rohdaten auf Fahrzeugebene ist ein SQL-Endpunkt über HTTP. Die Ladepipeline musste selbst gebaut werden.</a:t>
            </a:r>
            <a:endParaRPr lang="en-US" sz="1400" dirty="0"/>
          </a:p>
        </p:txBody>
      </p:sp>
      <p:sp>
        <p:nvSpPr>
          <p:cNvPr id="5" name="Text 3"/>
          <p:cNvSpPr/>
          <p:nvPr/>
        </p:nvSpPr>
        <p:spPr>
          <a:xfrm>
            <a:off x="777240" y="2395728"/>
            <a:ext cx="731520" cy="502920"/>
          </a:xfrm>
          <a:prstGeom prst="rect">
            <a:avLst/>
          </a:prstGeom>
          <a:noFill/>
          <a:ln/>
        </p:spPr>
        <p:txBody>
          <a:bodyPr wrap="square" lIns="0" tIns="0" rIns="0" bIns="0" rtlCol="0" anchor="ctr"/>
          <a:lstStyle/>
          <a:p>
            <a:pPr indent="0" marL="0">
              <a:buNone/>
            </a:pPr>
            <a:r>
              <a:rPr lang="en-US" sz="3000" b="1" spc="-100" kern="0" dirty="0">
                <a:solidFill>
                  <a:srgbClr val="E0442B"/>
                </a:solidFill>
                <a:latin typeface="Arial" pitchFamily="34" charset="0"/>
                <a:ea typeface="Arial" pitchFamily="34" charset="-122"/>
                <a:cs typeface="Arial" pitchFamily="34" charset="-120"/>
              </a:rPr>
              <a:t>01</a:t>
            </a:r>
            <a:endParaRPr lang="en-US" sz="3000" dirty="0"/>
          </a:p>
        </p:txBody>
      </p:sp>
      <p:sp>
        <p:nvSpPr>
          <p:cNvPr id="6" name="Text 4"/>
          <p:cNvSpPr/>
          <p:nvPr/>
        </p:nvSpPr>
        <p:spPr>
          <a:xfrm>
            <a:off x="777240" y="2962656"/>
            <a:ext cx="2384984" cy="365760"/>
          </a:xfrm>
          <a:prstGeom prst="rect">
            <a:avLst/>
          </a:prstGeom>
          <a:noFill/>
          <a:ln/>
        </p:spPr>
        <p:txBody>
          <a:bodyPr wrap="square" lIns="0" tIns="0" rIns="0" bIns="0" rtlCol="0" anchor="ctr"/>
          <a:lstStyle/>
          <a:p>
            <a:pPr indent="0" marL="0">
              <a:buNone/>
            </a:pPr>
            <a:r>
              <a:rPr lang="en-US" sz="1500" b="1" spc="-30" kern="0" dirty="0">
                <a:solidFill>
                  <a:srgbClr val="17191B"/>
                </a:solidFill>
                <a:latin typeface="Arial" pitchFamily="34" charset="0"/>
                <a:ea typeface="Arial" pitchFamily="34" charset="-122"/>
                <a:cs typeface="Arial" pitchFamily="34" charset="-120"/>
              </a:rPr>
              <a:t>SQL über HTTP</a:t>
            </a:r>
            <a:endParaRPr lang="en-US" sz="1500" dirty="0"/>
          </a:p>
        </p:txBody>
      </p:sp>
      <p:sp>
        <p:nvSpPr>
          <p:cNvPr id="7" name="Text 5"/>
          <p:cNvSpPr/>
          <p:nvPr/>
        </p:nvSpPr>
        <p:spPr>
          <a:xfrm>
            <a:off x="777240" y="3401568"/>
            <a:ext cx="2384984" cy="1371600"/>
          </a:xfrm>
          <a:prstGeom prst="rect">
            <a:avLst/>
          </a:prstGeom>
          <a:noFill/>
          <a:ln/>
        </p:spPr>
        <p:txBody>
          <a:bodyPr wrap="square" lIns="0" tIns="0" rIns="0" bIns="0" rtlCol="0" anchor="ctr"/>
          <a:lstStyle/>
          <a:p>
            <a:pPr indent="0" marL="0">
              <a:buNone/>
            </a:pPr>
            <a:r>
              <a:rPr lang="en-US" sz="1150" dirty="0">
                <a:solidFill>
                  <a:srgbClr val="6E7377"/>
                </a:solidFill>
                <a:latin typeface="Arial" pitchFamily="34" charset="0"/>
                <a:ea typeface="Arial" pitchFamily="34" charset="-122"/>
                <a:cs typeface="Arial" pitchFamily="34" charset="-120"/>
              </a:rPr>
              <a:t>discodata.eea.europa.eu/sql</a:t>
            </a:r>
            <a:endParaRPr lang="en-US" sz="1150" dirty="0"/>
          </a:p>
          <a:p>
            <a:pPr indent="0" marL="0">
              <a:buNone/>
            </a:pPr>
            <a:r>
              <a:rPr lang="en-US" sz="1150" dirty="0">
                <a:solidFill>
                  <a:srgbClr val="6E7377"/>
                </a:solidFill>
                <a:latin typeface="Arial" pitchFamily="34" charset="0"/>
                <a:ea typeface="Arial" pitchFamily="34" charset="-122"/>
                <a:cs typeface="Arial" pitchFamily="34" charset="-120"/>
              </a:rPr>
              <a:t>T-SQL im Query-String, JSON zurück.</a:t>
            </a:r>
            <a:endParaRPr lang="en-US" sz="1150" dirty="0"/>
          </a:p>
          <a:p>
            <a:pPr indent="0" marL="0">
              <a:buNone/>
            </a:pPr>
            <a:r>
              <a:rPr lang="en-US" sz="1150" dirty="0">
                <a:solidFill>
                  <a:srgbClr val="6E7377"/>
                </a:solidFill>
                <a:latin typeface="Arial" pitchFamily="34" charset="0"/>
                <a:ea typeface="Arial" pitchFamily="34" charset="-122"/>
                <a:cs typeface="Arial" pitchFamily="34" charset="-120"/>
              </a:rPr>
              <a:t>MS SQL Server: keine CTEs,</a:t>
            </a:r>
            <a:endParaRPr lang="en-US" sz="1150" dirty="0"/>
          </a:p>
          <a:p>
            <a:pPr indent="0" marL="0">
              <a:buNone/>
            </a:pPr>
            <a:r>
              <a:rPr lang="en-US" sz="1150" dirty="0">
                <a:solidFill>
                  <a:srgbClr val="6E7377"/>
                </a:solidFill>
                <a:latin typeface="Arial" pitchFamily="34" charset="0"/>
                <a:ea typeface="Arial" pitchFamily="34" charset="-122"/>
                <a:cs typeface="Arial" pitchFamily="34" charset="-120"/>
              </a:rPr>
              <a:t>begrenzte Antwortgröße.</a:t>
            </a:r>
            <a:endParaRPr lang="en-US" sz="1150" dirty="0"/>
          </a:p>
        </p:txBody>
      </p:sp>
      <p:sp>
        <p:nvSpPr>
          <p:cNvPr id="8" name="Text 6"/>
          <p:cNvSpPr/>
          <p:nvPr/>
        </p:nvSpPr>
        <p:spPr>
          <a:xfrm>
            <a:off x="3454832" y="2395728"/>
            <a:ext cx="731520" cy="502920"/>
          </a:xfrm>
          <a:prstGeom prst="rect">
            <a:avLst/>
          </a:prstGeom>
          <a:noFill/>
          <a:ln/>
        </p:spPr>
        <p:txBody>
          <a:bodyPr wrap="square" lIns="0" tIns="0" rIns="0" bIns="0" rtlCol="0" anchor="ctr"/>
          <a:lstStyle/>
          <a:p>
            <a:pPr indent="0" marL="0">
              <a:buNone/>
            </a:pPr>
            <a:r>
              <a:rPr lang="en-US" sz="3000" b="1" spc="-100" kern="0" dirty="0">
                <a:solidFill>
                  <a:srgbClr val="E0442B"/>
                </a:solidFill>
                <a:latin typeface="Arial" pitchFamily="34" charset="0"/>
                <a:ea typeface="Arial" pitchFamily="34" charset="-122"/>
                <a:cs typeface="Arial" pitchFamily="34" charset="-120"/>
              </a:rPr>
              <a:t>02</a:t>
            </a:r>
            <a:endParaRPr lang="en-US" sz="3000" dirty="0"/>
          </a:p>
        </p:txBody>
      </p:sp>
      <p:sp>
        <p:nvSpPr>
          <p:cNvPr id="9" name="Text 7"/>
          <p:cNvSpPr/>
          <p:nvPr/>
        </p:nvSpPr>
        <p:spPr>
          <a:xfrm>
            <a:off x="3454832" y="2962656"/>
            <a:ext cx="2384984" cy="365760"/>
          </a:xfrm>
          <a:prstGeom prst="rect">
            <a:avLst/>
          </a:prstGeom>
          <a:noFill/>
          <a:ln/>
        </p:spPr>
        <p:txBody>
          <a:bodyPr wrap="square" lIns="0" tIns="0" rIns="0" bIns="0" rtlCol="0" anchor="ctr"/>
          <a:lstStyle/>
          <a:p>
            <a:pPr indent="0" marL="0">
              <a:buNone/>
            </a:pPr>
            <a:r>
              <a:rPr lang="en-US" sz="1500" b="1" spc="-30" kern="0" dirty="0">
                <a:solidFill>
                  <a:srgbClr val="17191B"/>
                </a:solidFill>
                <a:latin typeface="Arial" pitchFamily="34" charset="0"/>
                <a:ea typeface="Arial" pitchFamily="34" charset="-122"/>
                <a:cs typeface="Arial" pitchFamily="34" charset="-120"/>
              </a:rPr>
              <a:t>Keyset-Paginierung</a:t>
            </a:r>
            <a:endParaRPr lang="en-US" sz="1500" dirty="0"/>
          </a:p>
        </p:txBody>
      </p:sp>
      <p:sp>
        <p:nvSpPr>
          <p:cNvPr id="10" name="Text 8"/>
          <p:cNvSpPr/>
          <p:nvPr/>
        </p:nvSpPr>
        <p:spPr>
          <a:xfrm>
            <a:off x="3454832" y="3401568"/>
            <a:ext cx="2384984" cy="1371600"/>
          </a:xfrm>
          <a:prstGeom prst="rect">
            <a:avLst/>
          </a:prstGeom>
          <a:noFill/>
          <a:ln/>
        </p:spPr>
        <p:txBody>
          <a:bodyPr wrap="square" lIns="0" tIns="0" rIns="0" bIns="0" rtlCol="0" anchor="ctr"/>
          <a:lstStyle/>
          <a:p>
            <a:pPr indent="0" marL="0">
              <a:buNone/>
            </a:pPr>
            <a:r>
              <a:rPr lang="en-US" sz="1150" dirty="0">
                <a:solidFill>
                  <a:srgbClr val="6E7377"/>
                </a:solidFill>
                <a:latin typeface="Arial" pitchFamily="34" charset="0"/>
                <a:ea typeface="Arial" pitchFamily="34" charset="-122"/>
                <a:cs typeface="Arial" pitchFamily="34" charset="-120"/>
              </a:rPr>
              <a:t>Fenster auf der ID statt OFFSET.</a:t>
            </a:r>
            <a:endParaRPr lang="en-US" sz="1150" dirty="0"/>
          </a:p>
          <a:p>
            <a:pPr indent="0" marL="0">
              <a:buNone/>
            </a:pPr>
            <a:r>
              <a:rPr lang="en-US" sz="1150" dirty="0">
                <a:solidFill>
                  <a:srgbClr val="6E7377"/>
                </a:solidFill>
                <a:latin typeface="Arial" pitchFamily="34" charset="0"/>
                <a:ea typeface="Arial" pitchFamily="34" charset="-122"/>
                <a:cs typeface="Arial" pitchFamily="34" charset="-120"/>
              </a:rPr>
              <a:t>Die Weite justiert sich aus der</a:t>
            </a:r>
            <a:endParaRPr lang="en-US" sz="1150" dirty="0"/>
          </a:p>
          <a:p>
            <a:pPr indent="0" marL="0">
              <a:buNone/>
            </a:pPr>
            <a:r>
              <a:rPr lang="en-US" sz="1150" dirty="0">
                <a:solidFill>
                  <a:srgbClr val="6E7377"/>
                </a:solidFill>
                <a:latin typeface="Arial" pitchFamily="34" charset="0"/>
                <a:ea typeface="Arial" pitchFamily="34" charset="-122"/>
                <a:cs typeface="Arial" pitchFamily="34" charset="-120"/>
              </a:rPr>
              <a:t>gemessenen ID-Dichte — 2,80 bis</a:t>
            </a:r>
            <a:endParaRPr lang="en-US" sz="1150" dirty="0"/>
          </a:p>
          <a:p>
            <a:pPr indent="0" marL="0">
              <a:buNone/>
            </a:pPr>
            <a:r>
              <a:rPr lang="en-US" sz="1150" dirty="0">
                <a:solidFill>
                  <a:srgbClr val="6E7377"/>
                </a:solidFill>
                <a:latin typeface="Arial" pitchFamily="34" charset="0"/>
                <a:ea typeface="Arial" pitchFamily="34" charset="-122"/>
                <a:cs typeface="Arial" pitchFamily="34" charset="-120"/>
              </a:rPr>
              <a:t>20,89 IDs je Zielzeile.</a:t>
            </a:r>
            <a:endParaRPr lang="en-US" sz="1150" dirty="0"/>
          </a:p>
        </p:txBody>
      </p:sp>
      <p:sp>
        <p:nvSpPr>
          <p:cNvPr id="11" name="Text 9"/>
          <p:cNvSpPr/>
          <p:nvPr/>
        </p:nvSpPr>
        <p:spPr>
          <a:xfrm>
            <a:off x="6132424" y="2395728"/>
            <a:ext cx="731520" cy="502920"/>
          </a:xfrm>
          <a:prstGeom prst="rect">
            <a:avLst/>
          </a:prstGeom>
          <a:noFill/>
          <a:ln/>
        </p:spPr>
        <p:txBody>
          <a:bodyPr wrap="square" lIns="0" tIns="0" rIns="0" bIns="0" rtlCol="0" anchor="ctr"/>
          <a:lstStyle/>
          <a:p>
            <a:pPr indent="0" marL="0">
              <a:buNone/>
            </a:pPr>
            <a:r>
              <a:rPr lang="en-US" sz="3000" b="1" spc="-100" kern="0" dirty="0">
                <a:solidFill>
                  <a:srgbClr val="E0442B"/>
                </a:solidFill>
                <a:latin typeface="Arial" pitchFamily="34" charset="0"/>
                <a:ea typeface="Arial" pitchFamily="34" charset="-122"/>
                <a:cs typeface="Arial" pitchFamily="34" charset="-120"/>
              </a:rPr>
              <a:t>03</a:t>
            </a:r>
            <a:endParaRPr lang="en-US" sz="3000" dirty="0"/>
          </a:p>
        </p:txBody>
      </p:sp>
      <p:sp>
        <p:nvSpPr>
          <p:cNvPr id="12" name="Text 10"/>
          <p:cNvSpPr/>
          <p:nvPr/>
        </p:nvSpPr>
        <p:spPr>
          <a:xfrm>
            <a:off x="6132424" y="2962656"/>
            <a:ext cx="2384984" cy="365760"/>
          </a:xfrm>
          <a:prstGeom prst="rect">
            <a:avLst/>
          </a:prstGeom>
          <a:noFill/>
          <a:ln/>
        </p:spPr>
        <p:txBody>
          <a:bodyPr wrap="square" lIns="0" tIns="0" rIns="0" bIns="0" rtlCol="0" anchor="ctr"/>
          <a:lstStyle/>
          <a:p>
            <a:pPr indent="0" marL="0">
              <a:buNone/>
            </a:pPr>
            <a:r>
              <a:rPr lang="en-US" sz="1500" b="1" spc="-30" kern="0" dirty="0">
                <a:solidFill>
                  <a:srgbClr val="17191B"/>
                </a:solidFill>
                <a:latin typeface="Arial" pitchFamily="34" charset="0"/>
                <a:ea typeface="Arial" pitchFamily="34" charset="-122"/>
                <a:cs typeface="Arial" pitchFamily="34" charset="-120"/>
              </a:rPr>
              <a:t>CSV je Jahrgang</a:t>
            </a:r>
            <a:endParaRPr lang="en-US" sz="1500" dirty="0"/>
          </a:p>
        </p:txBody>
      </p:sp>
      <p:sp>
        <p:nvSpPr>
          <p:cNvPr id="13" name="Text 11"/>
          <p:cNvSpPr/>
          <p:nvPr/>
        </p:nvSpPr>
        <p:spPr>
          <a:xfrm>
            <a:off x="6132424" y="3401568"/>
            <a:ext cx="2384984" cy="1371600"/>
          </a:xfrm>
          <a:prstGeom prst="rect">
            <a:avLst/>
          </a:prstGeom>
          <a:noFill/>
          <a:ln/>
        </p:spPr>
        <p:txBody>
          <a:bodyPr wrap="square" lIns="0" tIns="0" rIns="0" bIns="0" rtlCol="0" anchor="ctr"/>
          <a:lstStyle/>
          <a:p>
            <a:pPr indent="0" marL="0">
              <a:buNone/>
            </a:pPr>
            <a:r>
              <a:rPr lang="en-US" sz="1150" dirty="0">
                <a:solidFill>
                  <a:srgbClr val="6E7377"/>
                </a:solidFill>
                <a:latin typeface="Arial" pitchFamily="34" charset="0"/>
                <a:ea typeface="Arial" pitchFamily="34" charset="-122"/>
                <a:cs typeface="Arial" pitchFamily="34" charset="-120"/>
              </a:rPr>
              <a:t>37,1 Mio. Zeilen.</a:t>
            </a:r>
            <a:endParaRPr lang="en-US" sz="1150" dirty="0"/>
          </a:p>
          <a:p>
            <a:pPr indent="0" marL="0">
              <a:buNone/>
            </a:pPr>
            <a:r>
              <a:rPr lang="en-US" sz="1150" dirty="0">
                <a:solidFill>
                  <a:srgbClr val="6E7377"/>
                </a:solidFill>
                <a:latin typeface="Arial" pitchFamily="34" charset="0"/>
                <a:ea typeface="Arial" pitchFamily="34" charset="-122"/>
                <a:cs typeface="Arial" pitchFamily="34" charset="-120"/>
              </a:rPr>
              <a:t>11.318 Zeilen/s.</a:t>
            </a:r>
            <a:endParaRPr lang="en-US" sz="1150" dirty="0"/>
          </a:p>
          <a:p>
            <a:pPr indent="0" marL="0">
              <a:buNone/>
            </a:pPr>
            <a:r>
              <a:rPr lang="en-US" sz="1150" dirty="0">
                <a:solidFill>
                  <a:srgbClr val="6E7377"/>
                </a:solidFill>
                <a:latin typeface="Arial" pitchFamily="34" charset="0"/>
                <a:ea typeface="Arial" pitchFamily="34" charset="-122"/>
                <a:cs typeface="Arial" pitchFamily="34" charset="-120"/>
              </a:rPr>
              <a:t>Wiederaufsetzbar: Zustand nach</a:t>
            </a:r>
            <a:endParaRPr lang="en-US" sz="1150" dirty="0"/>
          </a:p>
          <a:p>
            <a:pPr indent="0" marL="0">
              <a:buNone/>
            </a:pPr>
            <a:r>
              <a:rPr lang="en-US" sz="1150" dirty="0">
                <a:solidFill>
                  <a:srgbClr val="6E7377"/>
                </a:solidFill>
                <a:latin typeface="Arial" pitchFamily="34" charset="0"/>
                <a:ea typeface="Arial" pitchFamily="34" charset="-122"/>
                <a:cs typeface="Arial" pitchFamily="34" charset="-120"/>
              </a:rPr>
              <a:t>jedem Fenster gesichert.</a:t>
            </a:r>
            <a:endParaRPr lang="en-US" sz="1150" dirty="0"/>
          </a:p>
        </p:txBody>
      </p:sp>
      <p:sp>
        <p:nvSpPr>
          <p:cNvPr id="14" name="Text 12"/>
          <p:cNvSpPr/>
          <p:nvPr/>
        </p:nvSpPr>
        <p:spPr>
          <a:xfrm>
            <a:off x="8810015" y="2395728"/>
            <a:ext cx="731520" cy="502920"/>
          </a:xfrm>
          <a:prstGeom prst="rect">
            <a:avLst/>
          </a:prstGeom>
          <a:noFill/>
          <a:ln/>
        </p:spPr>
        <p:txBody>
          <a:bodyPr wrap="square" lIns="0" tIns="0" rIns="0" bIns="0" rtlCol="0" anchor="ctr"/>
          <a:lstStyle/>
          <a:p>
            <a:pPr indent="0" marL="0">
              <a:buNone/>
            </a:pPr>
            <a:r>
              <a:rPr lang="en-US" sz="3000" b="1" spc="-100" kern="0" dirty="0">
                <a:solidFill>
                  <a:srgbClr val="E0442B"/>
                </a:solidFill>
                <a:latin typeface="Arial" pitchFamily="34" charset="0"/>
                <a:ea typeface="Arial" pitchFamily="34" charset="-122"/>
                <a:cs typeface="Arial" pitchFamily="34" charset="-120"/>
              </a:rPr>
              <a:t>04</a:t>
            </a:r>
            <a:endParaRPr lang="en-US" sz="3000" dirty="0"/>
          </a:p>
        </p:txBody>
      </p:sp>
      <p:sp>
        <p:nvSpPr>
          <p:cNvPr id="15" name="Text 13"/>
          <p:cNvSpPr/>
          <p:nvPr/>
        </p:nvSpPr>
        <p:spPr>
          <a:xfrm>
            <a:off x="8810015" y="2962656"/>
            <a:ext cx="2384984" cy="365760"/>
          </a:xfrm>
          <a:prstGeom prst="rect">
            <a:avLst/>
          </a:prstGeom>
          <a:noFill/>
          <a:ln/>
        </p:spPr>
        <p:txBody>
          <a:bodyPr wrap="square" lIns="0" tIns="0" rIns="0" bIns="0" rtlCol="0" anchor="ctr"/>
          <a:lstStyle/>
          <a:p>
            <a:pPr indent="0" marL="0">
              <a:buNone/>
            </a:pPr>
            <a:r>
              <a:rPr lang="en-US" sz="1500" b="1" spc="-30" kern="0" dirty="0">
                <a:solidFill>
                  <a:srgbClr val="17191B"/>
                </a:solidFill>
                <a:latin typeface="Arial" pitchFamily="34" charset="0"/>
                <a:ea typeface="Arial" pitchFamily="34" charset="-122"/>
                <a:cs typeface="Arial" pitchFamily="34" charset="-120"/>
              </a:rPr>
              <a:t>COPY in die Datenbank</a:t>
            </a:r>
            <a:endParaRPr lang="en-US" sz="1500" dirty="0"/>
          </a:p>
        </p:txBody>
      </p:sp>
      <p:sp>
        <p:nvSpPr>
          <p:cNvPr id="16" name="Text 14"/>
          <p:cNvSpPr/>
          <p:nvPr/>
        </p:nvSpPr>
        <p:spPr>
          <a:xfrm>
            <a:off x="8810015" y="3401568"/>
            <a:ext cx="2384984" cy="1371600"/>
          </a:xfrm>
          <a:prstGeom prst="rect">
            <a:avLst/>
          </a:prstGeom>
          <a:noFill/>
          <a:ln/>
        </p:spPr>
        <p:txBody>
          <a:bodyPr wrap="square" lIns="0" tIns="0" rIns="0" bIns="0" rtlCol="0" anchor="ctr"/>
          <a:lstStyle/>
          <a:p>
            <a:pPr indent="0" marL="0">
              <a:buNone/>
            </a:pPr>
            <a:r>
              <a:rPr lang="en-US" sz="1150" dirty="0">
                <a:solidFill>
                  <a:srgbClr val="6E7377"/>
                </a:solidFill>
                <a:latin typeface="Arial" pitchFamily="34" charset="0"/>
                <a:ea typeface="Arial" pitchFamily="34" charset="-122"/>
                <a:cs typeface="Arial" pitchFamily="34" charset="-120"/>
              </a:rPr>
              <a:t>311.000 Zeilen/s.</a:t>
            </a:r>
            <a:endParaRPr lang="en-US" sz="1150" dirty="0"/>
          </a:p>
          <a:p>
            <a:pPr indent="0" marL="0">
              <a:buNone/>
            </a:pPr>
            <a:r>
              <a:rPr lang="en-US" sz="1150" dirty="0">
                <a:solidFill>
                  <a:srgbClr val="6E7377"/>
                </a:solidFill>
                <a:latin typeface="Arial" pitchFamily="34" charset="0"/>
                <a:ea typeface="Arial" pitchFamily="34" charset="-122"/>
                <a:cs typeface="Arial" pitchFamily="34" charset="-120"/>
              </a:rPr>
              <a:t>UNLOGGED-Staging, alle Spalten</a:t>
            </a:r>
            <a:endParaRPr lang="en-US" sz="1150" dirty="0"/>
          </a:p>
          <a:p>
            <a:pPr indent="0" marL="0">
              <a:buNone/>
            </a:pPr>
            <a:r>
              <a:rPr lang="en-US" sz="1150" dirty="0">
                <a:solidFill>
                  <a:srgbClr val="6E7377"/>
                </a:solidFill>
                <a:latin typeface="Arial" pitchFamily="34" charset="0"/>
                <a:ea typeface="Arial" pitchFamily="34" charset="-122"/>
                <a:cs typeface="Arial" pitchFamily="34" charset="-120"/>
              </a:rPr>
              <a:t>TEXT — Typprüfung ist Aufgabe</a:t>
            </a:r>
            <a:endParaRPr lang="en-US" sz="1150" dirty="0"/>
          </a:p>
          <a:p>
            <a:pPr indent="0" marL="0">
              <a:buNone/>
            </a:pPr>
            <a:r>
              <a:rPr lang="en-US" sz="1150" dirty="0">
                <a:solidFill>
                  <a:srgbClr val="6E7377"/>
                </a:solidFill>
                <a:latin typeface="Arial" pitchFamily="34" charset="0"/>
                <a:ea typeface="Arial" pitchFamily="34" charset="-122"/>
                <a:cs typeface="Arial" pitchFamily="34" charset="-120"/>
              </a:rPr>
              <a:t>der nächsten Schicht.</a:t>
            </a:r>
            <a:endParaRPr lang="en-US" sz="1150" dirty="0"/>
          </a:p>
        </p:txBody>
      </p:sp>
      <p:sp>
        <p:nvSpPr>
          <p:cNvPr id="17" name="Shape 15"/>
          <p:cNvSpPr/>
          <p:nvPr/>
        </p:nvSpPr>
        <p:spPr>
          <a:xfrm>
            <a:off x="777240" y="4956048"/>
            <a:ext cx="10637215" cy="960120"/>
          </a:xfrm>
          <a:prstGeom prst="rect">
            <a:avLst/>
          </a:prstGeom>
          <a:solidFill>
            <a:srgbClr val="E6E0D2"/>
          </a:solidFill>
          <a:ln w="12700">
            <a:solidFill>
              <a:srgbClr val="333333"/>
            </a:solidFill>
            <a:prstDash val="solid"/>
          </a:ln>
        </p:spPr>
      </p:sp>
      <p:sp>
        <p:nvSpPr>
          <p:cNvPr id="18" name="Text 16"/>
          <p:cNvSpPr/>
          <p:nvPr/>
        </p:nvSpPr>
        <p:spPr>
          <a:xfrm>
            <a:off x="1051560" y="5138928"/>
            <a:ext cx="10088575" cy="685800"/>
          </a:xfrm>
          <a:prstGeom prst="rect">
            <a:avLst/>
          </a:prstGeom>
          <a:noFill/>
          <a:ln/>
        </p:spPr>
        <p:txBody>
          <a:bodyPr wrap="square" lIns="0" tIns="0" rIns="0" bIns="0" rtlCol="0" anchor="ctr"/>
          <a:lstStyle/>
          <a:p>
            <a:pPr indent="0" marL="0">
              <a:buNone/>
            </a:pPr>
            <a:r>
              <a:rPr lang="en-US" sz="1500" i="1" dirty="0">
                <a:solidFill>
                  <a:srgbClr val="17191B"/>
                </a:solidFill>
                <a:latin typeface="Century Schoolbook" pitchFamily="34" charset="0"/>
                <a:ea typeface="Century Schoolbook" pitchFamily="34" charset="-122"/>
                <a:cs typeface="Century Schoolbook" pitchFamily="34" charset="-120"/>
              </a:rPr>
              <a:t>Ein festes Abfragefenster war für den Jahrgang 2021 um den Faktor 10 zu klein — die IDs werden über alle 27 Mitgliedstaaten vergeben, wir filtern auf sechs.</a:t>
            </a:r>
            <a:endParaRPr lang="en-US" sz="1500" dirty="0"/>
          </a:p>
        </p:txBody>
      </p:sp>
      <p:sp>
        <p:nvSpPr>
          <p:cNvPr id="19" name="Text 17"/>
          <p:cNvSpPr/>
          <p:nvPr/>
        </p:nvSpPr>
        <p:spPr>
          <a:xfrm>
            <a:off x="777240" y="6327648"/>
            <a:ext cx="10637215" cy="274320"/>
          </a:xfrm>
          <a:prstGeom prst="rect">
            <a:avLst/>
          </a:prstGeom>
          <a:noFill/>
          <a:ln/>
        </p:spPr>
        <p:txBody>
          <a:bodyPr wrap="square" lIns="0" tIns="0" rIns="0" bIns="0" rtlCol="0" anchor="ctr"/>
          <a:lstStyle/>
          <a:p>
            <a:pPr indent="0" marL="0">
              <a:buNone/>
            </a:pPr>
            <a:r>
              <a:rPr lang="en-US" sz="950" spc="60" kern="0" dirty="0">
                <a:solidFill>
                  <a:srgbClr val="6E7377"/>
                </a:solidFill>
                <a:latin typeface="Arial" pitchFamily="34" charset="0"/>
                <a:ea typeface="Arial" pitchFamily="34" charset="-122"/>
                <a:cs typeface="Arial" pitchFamily="34" charset="-120"/>
              </a:rPr>
              <a:t>QUELLEN: EEA co2cars (Art. 7)  ·  EEA OBFCM (Art. 12, CC-BY-4.0)  ·  SMARD, Bundesnetzagentur (CC-BY-4.0)</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0E6"/>
        </a:solidFill>
      </p:bgPr>
    </p:bg>
    <p:spTree>
      <p:nvGrpSpPr>
        <p:cNvPr id="1" name=""/>
        <p:cNvGrpSpPr/>
        <p:nvPr/>
      </p:nvGrpSpPr>
      <p:grpSpPr>
        <a:xfrm>
          <a:off x="0" y="0"/>
          <a:ext cx="0" cy="0"/>
          <a:chOff x="0" y="0"/>
          <a:chExt cx="0" cy="0"/>
        </a:xfrm>
      </p:grpSpPr>
      <p:sp>
        <p:nvSpPr>
          <p:cNvPr id="2" name="Text 0"/>
          <p:cNvSpPr/>
          <p:nvPr/>
        </p:nvSpPr>
        <p:spPr>
          <a:xfrm>
            <a:off x="777240" y="475488"/>
            <a:ext cx="10637215" cy="256032"/>
          </a:xfrm>
          <a:prstGeom prst="rect">
            <a:avLst/>
          </a:prstGeom>
          <a:noFill/>
          <a:ln/>
        </p:spPr>
        <p:txBody>
          <a:bodyPr wrap="square" lIns="0" tIns="0" rIns="0" bIns="0" rtlCol="0" anchor="ctr"/>
          <a:lstStyle/>
          <a:p>
            <a:pPr indent="0" marL="0">
              <a:buNone/>
            </a:pPr>
            <a:r>
              <a:rPr lang="en-US" sz="1100" b="1" spc="300" kern="0" dirty="0">
                <a:solidFill>
                  <a:srgbClr val="E0442B"/>
                </a:solidFill>
                <a:latin typeface="Arial" pitchFamily="34" charset="0"/>
                <a:ea typeface="Arial" pitchFamily="34" charset="-122"/>
                <a:cs typeface="Arial" pitchFamily="34" charset="-120"/>
              </a:rPr>
              <a:t>03</a:t>
            </a:r>
            <a:pPr indent="0" marL="0">
              <a:buNone/>
            </a:pPr>
            <a:r>
              <a:rPr lang="en-US" sz="1100" b="1" spc="300" kern="0" dirty="0">
                <a:solidFill>
                  <a:srgbClr val="6E7377"/>
                </a:solidFill>
                <a:latin typeface="Arial" pitchFamily="34" charset="0"/>
                <a:ea typeface="Arial" pitchFamily="34" charset="-122"/>
                <a:cs typeface="Arial" pitchFamily="34" charset="-120"/>
              </a:rPr>
              <a:t>   DATENSTRUKTUR</a:t>
            </a:r>
            <a:endParaRPr lang="en-US" sz="1100" dirty="0"/>
          </a:p>
        </p:txBody>
      </p:sp>
      <p:sp>
        <p:nvSpPr>
          <p:cNvPr id="3" name="Text 1"/>
          <p:cNvSpPr/>
          <p:nvPr/>
        </p:nvSpPr>
        <p:spPr>
          <a:xfrm>
            <a:off x="777240" y="841248"/>
            <a:ext cx="10637215" cy="777240"/>
          </a:xfrm>
          <a:prstGeom prst="rect">
            <a:avLst/>
          </a:prstGeom>
          <a:noFill/>
          <a:ln/>
        </p:spPr>
        <p:txBody>
          <a:bodyPr wrap="square" lIns="0" tIns="0" rIns="0" bIns="0" rtlCol="0" anchor="ctr"/>
          <a:lstStyle/>
          <a:p>
            <a:pPr indent="0" marL="0">
              <a:buNone/>
            </a:pPr>
            <a:r>
              <a:rPr lang="en-US" sz="4000" b="1" spc="-120" kern="0" dirty="0">
                <a:solidFill>
                  <a:srgbClr val="17191B"/>
                </a:solidFill>
                <a:latin typeface="Arial" pitchFamily="34" charset="0"/>
                <a:ea typeface="Arial" pitchFamily="34" charset="-122"/>
                <a:cs typeface="Arial" pitchFamily="34" charset="-120"/>
              </a:rPr>
              <a:t>Vier Schichten, ein Sternschema.</a:t>
            </a:r>
            <a:endParaRPr lang="en-US" sz="4000" dirty="0"/>
          </a:p>
        </p:txBody>
      </p:sp>
      <p:sp>
        <p:nvSpPr>
          <p:cNvPr id="4" name="Shape 2"/>
          <p:cNvSpPr/>
          <p:nvPr/>
        </p:nvSpPr>
        <p:spPr>
          <a:xfrm>
            <a:off x="777240" y="1783080"/>
            <a:ext cx="1371600" cy="658368"/>
          </a:xfrm>
          <a:prstGeom prst="rect">
            <a:avLst/>
          </a:prstGeom>
          <a:solidFill>
            <a:srgbClr val="E6E0D2"/>
          </a:solidFill>
          <a:ln w="12700">
            <a:solidFill>
              <a:srgbClr val="333333"/>
            </a:solidFill>
            <a:prstDash val="solid"/>
          </a:ln>
        </p:spPr>
      </p:sp>
      <p:sp>
        <p:nvSpPr>
          <p:cNvPr id="5" name="Text 3"/>
          <p:cNvSpPr/>
          <p:nvPr/>
        </p:nvSpPr>
        <p:spPr>
          <a:xfrm>
            <a:off x="923544" y="1847088"/>
            <a:ext cx="1097280" cy="329184"/>
          </a:xfrm>
          <a:prstGeom prst="rect">
            <a:avLst/>
          </a:prstGeom>
          <a:noFill/>
          <a:ln/>
        </p:spPr>
        <p:txBody>
          <a:bodyPr wrap="square" lIns="0" tIns="0" rIns="0" bIns="0" rtlCol="0" anchor="ctr"/>
          <a:lstStyle/>
          <a:p>
            <a:pPr indent="0" marL="0">
              <a:buNone/>
            </a:pPr>
            <a:r>
              <a:rPr lang="en-US" sz="1700" b="1" dirty="0">
                <a:solidFill>
                  <a:srgbClr val="6E7377"/>
                </a:solidFill>
                <a:latin typeface="Arial" pitchFamily="34" charset="0"/>
                <a:ea typeface="Arial" pitchFamily="34" charset="-122"/>
                <a:cs typeface="Arial" pitchFamily="34" charset="-120"/>
              </a:rPr>
              <a:t>raw</a:t>
            </a:r>
            <a:endParaRPr lang="en-US" sz="1700" dirty="0"/>
          </a:p>
        </p:txBody>
      </p:sp>
      <p:sp>
        <p:nvSpPr>
          <p:cNvPr id="6" name="Text 4"/>
          <p:cNvSpPr/>
          <p:nvPr/>
        </p:nvSpPr>
        <p:spPr>
          <a:xfrm>
            <a:off x="923544" y="2167128"/>
            <a:ext cx="1188720" cy="237744"/>
          </a:xfrm>
          <a:prstGeom prst="rect">
            <a:avLst/>
          </a:prstGeom>
          <a:noFill/>
          <a:ln/>
        </p:spPr>
        <p:txBody>
          <a:bodyPr wrap="square" lIns="0" tIns="0" rIns="0" bIns="0" rtlCol="0" anchor="ctr"/>
          <a:lstStyle/>
          <a:p>
            <a:pPr indent="0" marL="0">
              <a:buNone/>
            </a:pPr>
            <a:r>
              <a:rPr lang="en-US" sz="900" dirty="0">
                <a:solidFill>
                  <a:srgbClr val="6E7377"/>
                </a:solidFill>
                <a:latin typeface="Arial" pitchFamily="34" charset="0"/>
                <a:ea typeface="Arial" pitchFamily="34" charset="-122"/>
                <a:cs typeface="Arial" pitchFamily="34" charset="-120"/>
              </a:rPr>
              <a:t>wie geliefert</a:t>
            </a:r>
            <a:endParaRPr lang="en-US" sz="900" dirty="0"/>
          </a:p>
        </p:txBody>
      </p:sp>
      <p:sp>
        <p:nvSpPr>
          <p:cNvPr id="7" name="Text 5"/>
          <p:cNvSpPr/>
          <p:nvPr/>
        </p:nvSpPr>
        <p:spPr>
          <a:xfrm>
            <a:off x="2167128" y="1956816"/>
            <a:ext cx="182880" cy="274320"/>
          </a:xfrm>
          <a:prstGeom prst="rect">
            <a:avLst/>
          </a:prstGeom>
          <a:noFill/>
          <a:ln/>
        </p:spPr>
        <p:txBody>
          <a:bodyPr wrap="square" lIns="0" tIns="0" rIns="0" bIns="0" rtlCol="0" anchor="ctr"/>
          <a:lstStyle/>
          <a:p>
            <a:pPr algn="ctr" indent="0" marL="0">
              <a:buNone/>
            </a:pPr>
            <a:r>
              <a:rPr lang="en-US" sz="1400" dirty="0">
                <a:solidFill>
                  <a:srgbClr val="6E7377"/>
                </a:solidFill>
                <a:latin typeface="Arial" pitchFamily="34" charset="0"/>
                <a:ea typeface="Arial" pitchFamily="34" charset="-122"/>
                <a:cs typeface="Arial" pitchFamily="34" charset="-120"/>
              </a:rPr>
              <a:t>→</a:t>
            </a:r>
            <a:endParaRPr lang="en-US" sz="1400" dirty="0"/>
          </a:p>
        </p:txBody>
      </p:sp>
      <p:sp>
        <p:nvSpPr>
          <p:cNvPr id="8" name="Shape 6"/>
          <p:cNvSpPr/>
          <p:nvPr/>
        </p:nvSpPr>
        <p:spPr>
          <a:xfrm>
            <a:off x="2350008" y="1783080"/>
            <a:ext cx="1371600" cy="658368"/>
          </a:xfrm>
          <a:prstGeom prst="rect">
            <a:avLst/>
          </a:prstGeom>
          <a:solidFill>
            <a:srgbClr val="E6E0D2"/>
          </a:solidFill>
          <a:ln w="12700">
            <a:solidFill>
              <a:srgbClr val="333333"/>
            </a:solidFill>
            <a:prstDash val="solid"/>
          </a:ln>
        </p:spPr>
      </p:sp>
      <p:sp>
        <p:nvSpPr>
          <p:cNvPr id="9" name="Text 7"/>
          <p:cNvSpPr/>
          <p:nvPr/>
        </p:nvSpPr>
        <p:spPr>
          <a:xfrm>
            <a:off x="2496312" y="1847088"/>
            <a:ext cx="1097280" cy="329184"/>
          </a:xfrm>
          <a:prstGeom prst="rect">
            <a:avLst/>
          </a:prstGeom>
          <a:noFill/>
          <a:ln/>
        </p:spPr>
        <p:txBody>
          <a:bodyPr wrap="square" lIns="0" tIns="0" rIns="0" bIns="0" rtlCol="0" anchor="ctr"/>
          <a:lstStyle/>
          <a:p>
            <a:pPr indent="0" marL="0">
              <a:buNone/>
            </a:pPr>
            <a:r>
              <a:rPr lang="en-US" sz="1700" b="1" dirty="0">
                <a:solidFill>
                  <a:srgbClr val="17191B"/>
                </a:solidFill>
                <a:latin typeface="Arial" pitchFamily="34" charset="0"/>
                <a:ea typeface="Arial" pitchFamily="34" charset="-122"/>
                <a:cs typeface="Arial" pitchFamily="34" charset="-120"/>
              </a:rPr>
              <a:t>core</a:t>
            </a:r>
            <a:endParaRPr lang="en-US" sz="1700" dirty="0"/>
          </a:p>
        </p:txBody>
      </p:sp>
      <p:sp>
        <p:nvSpPr>
          <p:cNvPr id="10" name="Text 8"/>
          <p:cNvSpPr/>
          <p:nvPr/>
        </p:nvSpPr>
        <p:spPr>
          <a:xfrm>
            <a:off x="2496312" y="2167128"/>
            <a:ext cx="1188720" cy="237744"/>
          </a:xfrm>
          <a:prstGeom prst="rect">
            <a:avLst/>
          </a:prstGeom>
          <a:noFill/>
          <a:ln/>
        </p:spPr>
        <p:txBody>
          <a:bodyPr wrap="square" lIns="0" tIns="0" rIns="0" bIns="0" rtlCol="0" anchor="ctr"/>
          <a:lstStyle/>
          <a:p>
            <a:pPr indent="0" marL="0">
              <a:buNone/>
            </a:pPr>
            <a:r>
              <a:rPr lang="en-US" sz="900" dirty="0">
                <a:solidFill>
                  <a:srgbClr val="6E7377"/>
                </a:solidFill>
                <a:latin typeface="Arial" pitchFamily="34" charset="0"/>
                <a:ea typeface="Arial" pitchFamily="34" charset="-122"/>
                <a:cs typeface="Arial" pitchFamily="34" charset="-120"/>
              </a:rPr>
              <a:t>typisiert, gefiltert</a:t>
            </a:r>
            <a:endParaRPr lang="en-US" sz="900" dirty="0"/>
          </a:p>
        </p:txBody>
      </p:sp>
      <p:sp>
        <p:nvSpPr>
          <p:cNvPr id="11" name="Text 9"/>
          <p:cNvSpPr/>
          <p:nvPr/>
        </p:nvSpPr>
        <p:spPr>
          <a:xfrm>
            <a:off x="3739896" y="1956816"/>
            <a:ext cx="182880" cy="274320"/>
          </a:xfrm>
          <a:prstGeom prst="rect">
            <a:avLst/>
          </a:prstGeom>
          <a:noFill/>
          <a:ln/>
        </p:spPr>
        <p:txBody>
          <a:bodyPr wrap="square" lIns="0" tIns="0" rIns="0" bIns="0" rtlCol="0" anchor="ctr"/>
          <a:lstStyle/>
          <a:p>
            <a:pPr algn="ctr" indent="0" marL="0">
              <a:buNone/>
            </a:pPr>
            <a:r>
              <a:rPr lang="en-US" sz="1400" dirty="0">
                <a:solidFill>
                  <a:srgbClr val="6E7377"/>
                </a:solidFill>
                <a:latin typeface="Arial" pitchFamily="34" charset="0"/>
                <a:ea typeface="Arial" pitchFamily="34" charset="-122"/>
                <a:cs typeface="Arial" pitchFamily="34" charset="-120"/>
              </a:rPr>
              <a:t>→</a:t>
            </a:r>
            <a:endParaRPr lang="en-US" sz="1400" dirty="0"/>
          </a:p>
        </p:txBody>
      </p:sp>
      <p:sp>
        <p:nvSpPr>
          <p:cNvPr id="12" name="Shape 10"/>
          <p:cNvSpPr/>
          <p:nvPr/>
        </p:nvSpPr>
        <p:spPr>
          <a:xfrm>
            <a:off x="3922776" y="1783080"/>
            <a:ext cx="1371600" cy="658368"/>
          </a:xfrm>
          <a:prstGeom prst="rect">
            <a:avLst/>
          </a:prstGeom>
          <a:solidFill>
            <a:srgbClr val="E6E0D2"/>
          </a:solidFill>
          <a:ln w="12700">
            <a:solidFill>
              <a:srgbClr val="333333"/>
            </a:solidFill>
            <a:prstDash val="solid"/>
          </a:ln>
        </p:spPr>
      </p:sp>
      <p:sp>
        <p:nvSpPr>
          <p:cNvPr id="13" name="Text 11"/>
          <p:cNvSpPr/>
          <p:nvPr/>
        </p:nvSpPr>
        <p:spPr>
          <a:xfrm>
            <a:off x="4069080" y="1847088"/>
            <a:ext cx="1097280" cy="329184"/>
          </a:xfrm>
          <a:prstGeom prst="rect">
            <a:avLst/>
          </a:prstGeom>
          <a:noFill/>
          <a:ln/>
        </p:spPr>
        <p:txBody>
          <a:bodyPr wrap="square" lIns="0" tIns="0" rIns="0" bIns="0" rtlCol="0" anchor="ctr"/>
          <a:lstStyle/>
          <a:p>
            <a:pPr indent="0" marL="0">
              <a:buNone/>
            </a:pPr>
            <a:r>
              <a:rPr lang="en-US" sz="1700" b="1" dirty="0">
                <a:solidFill>
                  <a:srgbClr val="E0442B"/>
                </a:solidFill>
                <a:latin typeface="Arial" pitchFamily="34" charset="0"/>
                <a:ea typeface="Arial" pitchFamily="34" charset="-122"/>
                <a:cs typeface="Arial" pitchFamily="34" charset="-120"/>
              </a:rPr>
              <a:t>star</a:t>
            </a:r>
            <a:endParaRPr lang="en-US" sz="1700" dirty="0"/>
          </a:p>
        </p:txBody>
      </p:sp>
      <p:sp>
        <p:nvSpPr>
          <p:cNvPr id="14" name="Text 12"/>
          <p:cNvSpPr/>
          <p:nvPr/>
        </p:nvSpPr>
        <p:spPr>
          <a:xfrm>
            <a:off x="4069080" y="2167128"/>
            <a:ext cx="1188720" cy="237744"/>
          </a:xfrm>
          <a:prstGeom prst="rect">
            <a:avLst/>
          </a:prstGeom>
          <a:noFill/>
          <a:ln/>
        </p:spPr>
        <p:txBody>
          <a:bodyPr wrap="square" lIns="0" tIns="0" rIns="0" bIns="0" rtlCol="0" anchor="ctr"/>
          <a:lstStyle/>
          <a:p>
            <a:pPr indent="0" marL="0">
              <a:buNone/>
            </a:pPr>
            <a:r>
              <a:rPr lang="en-US" sz="900" dirty="0">
                <a:solidFill>
                  <a:srgbClr val="6E7377"/>
                </a:solidFill>
                <a:latin typeface="Arial" pitchFamily="34" charset="0"/>
                <a:ea typeface="Arial" pitchFamily="34" charset="-122"/>
                <a:cs typeface="Arial" pitchFamily="34" charset="-120"/>
              </a:rPr>
              <a:t>Fakten + Dimensionen</a:t>
            </a:r>
            <a:endParaRPr lang="en-US" sz="900" dirty="0"/>
          </a:p>
        </p:txBody>
      </p:sp>
      <p:sp>
        <p:nvSpPr>
          <p:cNvPr id="15" name="Text 13"/>
          <p:cNvSpPr/>
          <p:nvPr/>
        </p:nvSpPr>
        <p:spPr>
          <a:xfrm>
            <a:off x="5312664" y="1956816"/>
            <a:ext cx="182880" cy="274320"/>
          </a:xfrm>
          <a:prstGeom prst="rect">
            <a:avLst/>
          </a:prstGeom>
          <a:noFill/>
          <a:ln/>
        </p:spPr>
        <p:txBody>
          <a:bodyPr wrap="square" lIns="0" tIns="0" rIns="0" bIns="0" rtlCol="0" anchor="ctr"/>
          <a:lstStyle/>
          <a:p>
            <a:pPr algn="ctr" indent="0" marL="0">
              <a:buNone/>
            </a:pPr>
            <a:r>
              <a:rPr lang="en-US" sz="1400" dirty="0">
                <a:solidFill>
                  <a:srgbClr val="6E7377"/>
                </a:solidFill>
                <a:latin typeface="Arial" pitchFamily="34" charset="0"/>
                <a:ea typeface="Arial" pitchFamily="34" charset="-122"/>
                <a:cs typeface="Arial" pitchFamily="34" charset="-120"/>
              </a:rPr>
              <a:t>→</a:t>
            </a:r>
            <a:endParaRPr lang="en-US" sz="1400" dirty="0"/>
          </a:p>
        </p:txBody>
      </p:sp>
      <p:sp>
        <p:nvSpPr>
          <p:cNvPr id="16" name="Shape 14"/>
          <p:cNvSpPr/>
          <p:nvPr/>
        </p:nvSpPr>
        <p:spPr>
          <a:xfrm>
            <a:off x="5495544" y="1783080"/>
            <a:ext cx="1371600" cy="658368"/>
          </a:xfrm>
          <a:prstGeom prst="rect">
            <a:avLst/>
          </a:prstGeom>
          <a:solidFill>
            <a:srgbClr val="E6E0D2"/>
          </a:solidFill>
          <a:ln w="12700">
            <a:solidFill>
              <a:srgbClr val="333333"/>
            </a:solidFill>
            <a:prstDash val="solid"/>
          </a:ln>
        </p:spPr>
      </p:sp>
      <p:sp>
        <p:nvSpPr>
          <p:cNvPr id="17" name="Text 15"/>
          <p:cNvSpPr/>
          <p:nvPr/>
        </p:nvSpPr>
        <p:spPr>
          <a:xfrm>
            <a:off x="5641848" y="1847088"/>
            <a:ext cx="1097280" cy="329184"/>
          </a:xfrm>
          <a:prstGeom prst="rect">
            <a:avLst/>
          </a:prstGeom>
          <a:noFill/>
          <a:ln/>
        </p:spPr>
        <p:txBody>
          <a:bodyPr wrap="square" lIns="0" tIns="0" rIns="0" bIns="0" rtlCol="0" anchor="ctr"/>
          <a:lstStyle/>
          <a:p>
            <a:pPr indent="0" marL="0">
              <a:buNone/>
            </a:pPr>
            <a:r>
              <a:rPr lang="en-US" sz="1700" b="1" dirty="0">
                <a:solidFill>
                  <a:srgbClr val="2E8B62"/>
                </a:solidFill>
                <a:latin typeface="Arial" pitchFamily="34" charset="0"/>
                <a:ea typeface="Arial" pitchFamily="34" charset="-122"/>
                <a:cs typeface="Arial" pitchFamily="34" charset="-120"/>
              </a:rPr>
              <a:t>mart</a:t>
            </a:r>
            <a:endParaRPr lang="en-US" sz="1700" dirty="0"/>
          </a:p>
        </p:txBody>
      </p:sp>
      <p:sp>
        <p:nvSpPr>
          <p:cNvPr id="18" name="Text 16"/>
          <p:cNvSpPr/>
          <p:nvPr/>
        </p:nvSpPr>
        <p:spPr>
          <a:xfrm>
            <a:off x="5641848" y="2167128"/>
            <a:ext cx="1188720" cy="237744"/>
          </a:xfrm>
          <a:prstGeom prst="rect">
            <a:avLst/>
          </a:prstGeom>
          <a:noFill/>
          <a:ln/>
        </p:spPr>
        <p:txBody>
          <a:bodyPr wrap="square" lIns="0" tIns="0" rIns="0" bIns="0" rtlCol="0" anchor="ctr"/>
          <a:lstStyle/>
          <a:p>
            <a:pPr indent="0" marL="0">
              <a:buNone/>
            </a:pPr>
            <a:r>
              <a:rPr lang="en-US" sz="900" dirty="0">
                <a:solidFill>
                  <a:srgbClr val="6E7377"/>
                </a:solidFill>
                <a:latin typeface="Arial" pitchFamily="34" charset="0"/>
                <a:ea typeface="Arial" pitchFamily="34" charset="-122"/>
                <a:cs typeface="Arial" pitchFamily="34" charset="-120"/>
              </a:rPr>
              <a:t>Ergebnis je Analyse</a:t>
            </a:r>
            <a:endParaRPr lang="en-US" sz="900" dirty="0"/>
          </a:p>
        </p:txBody>
      </p:sp>
      <p:pic>
        <p:nvPicPr>
          <p:cNvPr id="19" name="Image 0" descr="/sessions/great-cool-volta/mnt/04_Big Data/Woche 4/Projekt_Papier_gegen_Strasse/05_visualisierung/07_erd_star_sternschema.png">    </p:cNvPr>
          <p:cNvPicPr>
            <a:picLocks noChangeAspect="1"/>
          </p:cNvPicPr>
          <p:nvPr/>
        </p:nvPicPr>
        <p:blipFill>
          <a:blip r:embed="rId1"/>
          <a:stretch>
            <a:fillRect/>
          </a:stretch>
        </p:blipFill>
        <p:spPr>
          <a:xfrm>
            <a:off x="777240" y="2651760"/>
            <a:ext cx="4663440" cy="3566160"/>
          </a:xfrm>
          <a:prstGeom prst="rect">
            <a:avLst/>
          </a:prstGeom>
        </p:spPr>
      </p:pic>
      <p:sp>
        <p:nvSpPr>
          <p:cNvPr id="20" name="Text 17"/>
          <p:cNvSpPr/>
          <p:nvPr/>
        </p:nvSpPr>
        <p:spPr>
          <a:xfrm>
            <a:off x="6126480" y="2651760"/>
            <a:ext cx="5287975" cy="685800"/>
          </a:xfrm>
          <a:prstGeom prst="rect">
            <a:avLst/>
          </a:prstGeom>
          <a:noFill/>
          <a:ln/>
        </p:spPr>
        <p:txBody>
          <a:bodyPr wrap="square" lIns="0" tIns="0" rIns="0" bIns="0" rtlCol="0" anchor="ctr"/>
          <a:lstStyle/>
          <a:p>
            <a:pPr indent="0" marL="0">
              <a:buNone/>
            </a:pPr>
            <a:r>
              <a:rPr lang="en-US" sz="4600" b="1" spc="-200" kern="0" dirty="0">
                <a:solidFill>
                  <a:srgbClr val="17191B"/>
                </a:solidFill>
                <a:latin typeface="Arial" pitchFamily="34" charset="0"/>
                <a:ea typeface="Arial" pitchFamily="34" charset="-122"/>
                <a:cs typeface="Arial" pitchFamily="34" charset="-120"/>
              </a:rPr>
              <a:t>37.092.376</a:t>
            </a:r>
            <a:endParaRPr lang="en-US" sz="4600" dirty="0"/>
          </a:p>
        </p:txBody>
      </p:sp>
      <p:sp>
        <p:nvSpPr>
          <p:cNvPr id="21" name="Text 18"/>
          <p:cNvSpPr/>
          <p:nvPr/>
        </p:nvSpPr>
        <p:spPr>
          <a:xfrm>
            <a:off x="6126480" y="3310128"/>
            <a:ext cx="5287975" cy="310896"/>
          </a:xfrm>
          <a:prstGeom prst="rect">
            <a:avLst/>
          </a:prstGeom>
          <a:noFill/>
          <a:ln/>
        </p:spPr>
        <p:txBody>
          <a:bodyPr wrap="square" lIns="0" tIns="0" rIns="0" bIns="0" rtlCol="0" anchor="ctr"/>
          <a:lstStyle/>
          <a:p>
            <a:pPr indent="0" marL="0">
              <a:buNone/>
            </a:pPr>
            <a:r>
              <a:rPr lang="en-US" sz="1150" dirty="0">
                <a:solidFill>
                  <a:srgbClr val="6E7377"/>
                </a:solidFill>
                <a:latin typeface="Arial" pitchFamily="34" charset="0"/>
                <a:ea typeface="Arial" pitchFamily="34" charset="-122"/>
                <a:cs typeface="Arial" pitchFamily="34" charset="-120"/>
              </a:rPr>
              <a:t>Zeilen in fact_registration · Zeilenkontrolle gegen core: Differenz null</a:t>
            </a:r>
            <a:endParaRPr lang="en-US" sz="1150" dirty="0"/>
          </a:p>
        </p:txBody>
      </p:sp>
      <p:sp>
        <p:nvSpPr>
          <p:cNvPr id="22" name="Text 19"/>
          <p:cNvSpPr/>
          <p:nvPr/>
        </p:nvSpPr>
        <p:spPr>
          <a:xfrm>
            <a:off x="6126480" y="3794760"/>
            <a:ext cx="5287975" cy="274320"/>
          </a:xfrm>
          <a:prstGeom prst="rect">
            <a:avLst/>
          </a:prstGeom>
          <a:noFill/>
          <a:ln/>
        </p:spPr>
        <p:txBody>
          <a:bodyPr wrap="square" lIns="0" tIns="0" rIns="0" bIns="0" rtlCol="0" anchor="ctr"/>
          <a:lstStyle/>
          <a:p>
            <a:pPr indent="0" marL="0">
              <a:buNone/>
            </a:pPr>
            <a:r>
              <a:rPr lang="en-US" sz="1250" b="1" dirty="0">
                <a:solidFill>
                  <a:srgbClr val="17191B"/>
                </a:solidFill>
                <a:latin typeface="Arial" pitchFamily="34" charset="0"/>
                <a:ea typeface="Arial" pitchFamily="34" charset="-122"/>
                <a:cs typeface="Arial" pitchFamily="34" charset="-120"/>
              </a:rPr>
              <a:t>PARTITION BY RANGE (jahr)</a:t>
            </a:r>
            <a:endParaRPr lang="en-US" sz="1250" dirty="0"/>
          </a:p>
        </p:txBody>
      </p:sp>
      <p:sp>
        <p:nvSpPr>
          <p:cNvPr id="23" name="Text 20"/>
          <p:cNvSpPr/>
          <p:nvPr/>
        </p:nvSpPr>
        <p:spPr>
          <a:xfrm>
            <a:off x="6126480" y="4069080"/>
            <a:ext cx="5287975" cy="548640"/>
          </a:xfrm>
          <a:prstGeom prst="rect">
            <a:avLst/>
          </a:prstGeom>
          <a:noFill/>
          <a:ln/>
        </p:spPr>
        <p:txBody>
          <a:bodyPr wrap="square" lIns="0" tIns="0" rIns="0" bIns="0" rtlCol="0" anchor="ctr"/>
          <a:lstStyle/>
          <a:p>
            <a:pPr indent="0" marL="0">
              <a:buNone/>
            </a:pPr>
            <a:r>
              <a:rPr lang="en-US" sz="1100" dirty="0">
                <a:solidFill>
                  <a:srgbClr val="6E7377"/>
                </a:solidFill>
                <a:latin typeface="Arial" pitchFamily="34" charset="0"/>
                <a:ea typeface="Arial" pitchFamily="34" charset="-122"/>
                <a:cs typeface="Arial" pitchFamily="34" charset="-120"/>
              </a:rPr>
              <a:t>Jede Analyse filtert auf Jahre. Partition Pruning schaltet ganze Jahrgänge weg, bevor gelesen wird.</a:t>
            </a:r>
            <a:endParaRPr lang="en-US" sz="1100" dirty="0"/>
          </a:p>
        </p:txBody>
      </p:sp>
      <p:sp>
        <p:nvSpPr>
          <p:cNvPr id="24" name="Text 21"/>
          <p:cNvSpPr/>
          <p:nvPr/>
        </p:nvSpPr>
        <p:spPr>
          <a:xfrm>
            <a:off x="6126480" y="4654296"/>
            <a:ext cx="5287975" cy="274320"/>
          </a:xfrm>
          <a:prstGeom prst="rect">
            <a:avLst/>
          </a:prstGeom>
          <a:noFill/>
          <a:ln/>
        </p:spPr>
        <p:txBody>
          <a:bodyPr wrap="square" lIns="0" tIns="0" rIns="0" bIns="0" rtlCol="0" anchor="ctr"/>
          <a:lstStyle/>
          <a:p>
            <a:pPr indent="0" marL="0">
              <a:buNone/>
            </a:pPr>
            <a:r>
              <a:rPr lang="en-US" sz="1250" b="1" dirty="0">
                <a:solidFill>
                  <a:srgbClr val="17191B"/>
                </a:solidFill>
                <a:latin typeface="Arial" pitchFamily="34" charset="0"/>
                <a:ea typeface="Arial" pitchFamily="34" charset="-122"/>
                <a:cs typeface="Arial" pitchFamily="34" charset="-120"/>
              </a:rPr>
              <a:t>Schlüssel erst nach dem Laden</a:t>
            </a:r>
            <a:endParaRPr lang="en-US" sz="1250" dirty="0"/>
          </a:p>
        </p:txBody>
      </p:sp>
      <p:sp>
        <p:nvSpPr>
          <p:cNvPr id="25" name="Text 22"/>
          <p:cNvSpPr/>
          <p:nvPr/>
        </p:nvSpPr>
        <p:spPr>
          <a:xfrm>
            <a:off x="6126480" y="4928616"/>
            <a:ext cx="5287975" cy="548640"/>
          </a:xfrm>
          <a:prstGeom prst="rect">
            <a:avLst/>
          </a:prstGeom>
          <a:noFill/>
          <a:ln/>
        </p:spPr>
        <p:txBody>
          <a:bodyPr wrap="square" lIns="0" tIns="0" rIns="0" bIns="0" rtlCol="0" anchor="ctr"/>
          <a:lstStyle/>
          <a:p>
            <a:pPr indent="0" marL="0">
              <a:buNone/>
            </a:pPr>
            <a:r>
              <a:rPr lang="en-US" sz="1100" dirty="0">
                <a:solidFill>
                  <a:srgbClr val="6E7377"/>
                </a:solidFill>
                <a:latin typeface="Arial" pitchFamily="34" charset="0"/>
                <a:ea typeface="Arial" pitchFamily="34" charset="-122"/>
                <a:cs typeface="Arial" pitchFamily="34" charset="-120"/>
              </a:rPr>
              <a:t>Während des Ladens hätte jede der 37 Mio. Zeilen fünf Fremdschlüsselprüfungen ausgelöst.</a:t>
            </a:r>
            <a:endParaRPr lang="en-US" sz="1100" dirty="0"/>
          </a:p>
        </p:txBody>
      </p:sp>
      <p:sp>
        <p:nvSpPr>
          <p:cNvPr id="26" name="Text 23"/>
          <p:cNvSpPr/>
          <p:nvPr/>
        </p:nvSpPr>
        <p:spPr>
          <a:xfrm>
            <a:off x="6126480" y="5513832"/>
            <a:ext cx="5287975" cy="274320"/>
          </a:xfrm>
          <a:prstGeom prst="rect">
            <a:avLst/>
          </a:prstGeom>
          <a:noFill/>
          <a:ln/>
        </p:spPr>
        <p:txBody>
          <a:bodyPr wrap="square" lIns="0" tIns="0" rIns="0" bIns="0" rtlCol="0" anchor="ctr"/>
          <a:lstStyle/>
          <a:p>
            <a:pPr indent="0" marL="0">
              <a:buNone/>
            </a:pPr>
            <a:r>
              <a:rPr lang="en-US" sz="1250" b="1" dirty="0">
                <a:solidFill>
                  <a:srgbClr val="17191B"/>
                </a:solidFill>
                <a:latin typeface="Arial" pitchFamily="34" charset="0"/>
                <a:ea typeface="Arial" pitchFamily="34" charset="-122"/>
                <a:cs typeface="Arial" pitchFamily="34" charset="-120"/>
              </a:rPr>
              <a:t>dim_powertrain aus Ft × Fm</a:t>
            </a:r>
            <a:endParaRPr lang="en-US" sz="1250" dirty="0"/>
          </a:p>
        </p:txBody>
      </p:sp>
      <p:sp>
        <p:nvSpPr>
          <p:cNvPr id="27" name="Text 24"/>
          <p:cNvSpPr/>
          <p:nvPr/>
        </p:nvSpPr>
        <p:spPr>
          <a:xfrm>
            <a:off x="6126480" y="5788152"/>
            <a:ext cx="5287975" cy="548640"/>
          </a:xfrm>
          <a:prstGeom prst="rect">
            <a:avLst/>
          </a:prstGeom>
          <a:noFill/>
          <a:ln/>
        </p:spPr>
        <p:txBody>
          <a:bodyPr wrap="square" lIns="0" tIns="0" rIns="0" bIns="0" rtlCol="0" anchor="ctr"/>
          <a:lstStyle/>
          <a:p>
            <a:pPr indent="0" marL="0">
              <a:buNone/>
            </a:pPr>
            <a:r>
              <a:rPr lang="en-US" sz="1100" dirty="0">
                <a:solidFill>
                  <a:srgbClr val="6E7377"/>
                </a:solidFill>
                <a:latin typeface="Arial" pitchFamily="34" charset="0"/>
                <a:ea typeface="Arial" pitchFamily="34" charset="-122"/>
                <a:cs typeface="Arial" pitchFamily="34" charset="-120"/>
              </a:rPr>
              <a:t>Die Kraftstoffart allein taugt nicht: 34,2 % der Flotte sind Hybride ohne Stecker und verstecken sich unter „petrol“.</a:t>
            </a:r>
            <a:endParaRPr lang="en-US" sz="1100" dirty="0"/>
          </a:p>
        </p:txBody>
      </p:sp>
      <p:sp>
        <p:nvSpPr>
          <p:cNvPr id="28" name="Text 25"/>
          <p:cNvSpPr/>
          <p:nvPr/>
        </p:nvSpPr>
        <p:spPr>
          <a:xfrm>
            <a:off x="777240" y="6327648"/>
            <a:ext cx="10637215" cy="274320"/>
          </a:xfrm>
          <a:prstGeom prst="rect">
            <a:avLst/>
          </a:prstGeom>
          <a:noFill/>
          <a:ln/>
        </p:spPr>
        <p:txBody>
          <a:bodyPr wrap="square" lIns="0" tIns="0" rIns="0" bIns="0" rtlCol="0" anchor="ctr"/>
          <a:lstStyle/>
          <a:p>
            <a:pPr indent="0" marL="0">
              <a:buNone/>
            </a:pPr>
            <a:r>
              <a:rPr lang="en-US" sz="950" spc="60" kern="0" dirty="0">
                <a:solidFill>
                  <a:srgbClr val="6E7377"/>
                </a:solidFill>
                <a:latin typeface="Arial" pitchFamily="34" charset="0"/>
                <a:ea typeface="Arial" pitchFamily="34" charset="-122"/>
                <a:cs typeface="Arial" pitchFamily="34" charset="-120"/>
              </a:rPr>
              <a:t>Vollständiges Modell aller fünf Schemata in 05_visualisierung — erzeugt mit pgAdmin</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7191B"/>
        </a:solidFill>
      </p:bgPr>
    </p:bg>
    <p:spTree>
      <p:nvGrpSpPr>
        <p:cNvPr id="1" name=""/>
        <p:cNvGrpSpPr/>
        <p:nvPr/>
      </p:nvGrpSpPr>
      <p:grpSpPr>
        <a:xfrm>
          <a:off x="0" y="0"/>
          <a:ext cx="0" cy="0"/>
          <a:chOff x="0" y="0"/>
          <a:chExt cx="0" cy="0"/>
        </a:xfrm>
      </p:grpSpPr>
      <p:sp>
        <p:nvSpPr>
          <p:cNvPr id="2" name="Text 0"/>
          <p:cNvSpPr/>
          <p:nvPr/>
        </p:nvSpPr>
        <p:spPr>
          <a:xfrm>
            <a:off x="777240" y="475488"/>
            <a:ext cx="10637215" cy="256032"/>
          </a:xfrm>
          <a:prstGeom prst="rect">
            <a:avLst/>
          </a:prstGeom>
          <a:noFill/>
          <a:ln/>
        </p:spPr>
        <p:txBody>
          <a:bodyPr wrap="square" lIns="0" tIns="0" rIns="0" bIns="0" rtlCol="0" anchor="ctr"/>
          <a:lstStyle/>
          <a:p>
            <a:pPr indent="0" marL="0">
              <a:buNone/>
            </a:pPr>
            <a:r>
              <a:rPr lang="en-US" sz="1100" b="1" spc="300" kern="0" dirty="0">
                <a:solidFill>
                  <a:srgbClr val="E0442B"/>
                </a:solidFill>
                <a:latin typeface="Arial" pitchFamily="34" charset="0"/>
                <a:ea typeface="Arial" pitchFamily="34" charset="-122"/>
                <a:cs typeface="Arial" pitchFamily="34" charset="-120"/>
              </a:rPr>
              <a:t>04</a:t>
            </a:r>
            <a:pPr indent="0" marL="0">
              <a:buNone/>
            </a:pPr>
            <a:r>
              <a:rPr lang="en-US" sz="1100" b="1" spc="300" kern="0" dirty="0">
                <a:solidFill>
                  <a:srgbClr val="C9C4B6"/>
                </a:solidFill>
                <a:latin typeface="Arial" pitchFamily="34" charset="0"/>
                <a:ea typeface="Arial" pitchFamily="34" charset="-122"/>
                <a:cs typeface="Arial" pitchFamily="34" charset="-120"/>
              </a:rPr>
              <a:t>   DER ENGPASS</a:t>
            </a:r>
            <a:endParaRPr lang="en-US" sz="1100" dirty="0"/>
          </a:p>
        </p:txBody>
      </p:sp>
      <p:sp>
        <p:nvSpPr>
          <p:cNvPr id="3" name="Text 1"/>
          <p:cNvSpPr/>
          <p:nvPr/>
        </p:nvSpPr>
        <p:spPr>
          <a:xfrm>
            <a:off x="777240" y="841248"/>
            <a:ext cx="10637215" cy="777240"/>
          </a:xfrm>
          <a:prstGeom prst="rect">
            <a:avLst/>
          </a:prstGeom>
          <a:noFill/>
          <a:ln/>
        </p:spPr>
        <p:txBody>
          <a:bodyPr wrap="square" lIns="0" tIns="0" rIns="0" bIns="0" rtlCol="0" anchor="ctr"/>
          <a:lstStyle/>
          <a:p>
            <a:pPr indent="0" marL="0">
              <a:buNone/>
            </a:pPr>
            <a:r>
              <a:rPr lang="en-US" sz="4000" b="1" spc="-120" kern="0" dirty="0">
                <a:solidFill>
                  <a:srgbClr val="F4F0E6"/>
                </a:solidFill>
                <a:latin typeface="Arial" pitchFamily="34" charset="0"/>
                <a:ea typeface="Arial" pitchFamily="34" charset="-122"/>
                <a:cs typeface="Arial" pitchFamily="34" charset="-120"/>
              </a:rPr>
              <a:t>Ein Operator, sechs Stunden.</a:t>
            </a:r>
            <a:endParaRPr lang="en-US" sz="4000" dirty="0"/>
          </a:p>
        </p:txBody>
      </p:sp>
      <p:sp>
        <p:nvSpPr>
          <p:cNvPr id="4" name="Text 2"/>
          <p:cNvSpPr/>
          <p:nvPr/>
        </p:nvSpPr>
        <p:spPr>
          <a:xfrm>
            <a:off x="777240" y="1627632"/>
            <a:ext cx="8297028" cy="457200"/>
          </a:xfrm>
          <a:prstGeom prst="rect">
            <a:avLst/>
          </a:prstGeom>
          <a:noFill/>
          <a:ln/>
        </p:spPr>
        <p:txBody>
          <a:bodyPr wrap="square" lIns="0" tIns="0" rIns="0" bIns="0" rtlCol="0" anchor="ctr"/>
          <a:lstStyle/>
          <a:p>
            <a:pPr indent="0" marL="0">
              <a:buNone/>
            </a:pPr>
            <a:r>
              <a:rPr lang="en-US" sz="1400" dirty="0">
                <a:solidFill>
                  <a:srgbClr val="C9C4B6"/>
                </a:solidFill>
                <a:latin typeface="Arial" pitchFamily="34" charset="0"/>
                <a:ea typeface="Arial" pitchFamily="34" charset="-122"/>
                <a:cs typeface="Arial" pitchFamily="34" charset="-120"/>
              </a:rPr>
              <a:t>Die erste Fassung des Sternschemas verband die Dimensionen mit einem Operator, der logisch richtig und praktisch unbrauchbar ist.</a:t>
            </a:r>
            <a:endParaRPr lang="en-US" sz="1400" dirty="0"/>
          </a:p>
        </p:txBody>
      </p:sp>
      <p:sp>
        <p:nvSpPr>
          <p:cNvPr id="5" name="Text 3"/>
          <p:cNvSpPr/>
          <p:nvPr/>
        </p:nvSpPr>
        <p:spPr>
          <a:xfrm>
            <a:off x="777240" y="2331720"/>
            <a:ext cx="5852160" cy="457200"/>
          </a:xfrm>
          <a:prstGeom prst="rect">
            <a:avLst/>
          </a:prstGeom>
          <a:noFill/>
          <a:ln/>
        </p:spPr>
        <p:txBody>
          <a:bodyPr wrap="square" lIns="0" tIns="0" rIns="0" bIns="0" rtlCol="0" anchor="ctr"/>
          <a:lstStyle/>
          <a:p>
            <a:pPr indent="0" marL="0">
              <a:buNone/>
            </a:pPr>
            <a:r>
              <a:rPr lang="en-US" sz="2500" b="1" dirty="0">
                <a:solidFill>
                  <a:srgbClr val="E0442B"/>
                </a:solidFill>
                <a:latin typeface="Courier New" pitchFamily="34" charset="0"/>
                <a:ea typeface="Courier New" pitchFamily="34" charset="-122"/>
                <a:cs typeface="Courier New" pitchFamily="34" charset="-120"/>
              </a:rPr>
              <a:t>IS NOT DISTINCT FROM</a:t>
            </a:r>
            <a:endParaRPr lang="en-US" sz="2500" dirty="0"/>
          </a:p>
        </p:txBody>
      </p:sp>
      <p:sp>
        <p:nvSpPr>
          <p:cNvPr id="6" name="Text 4"/>
          <p:cNvSpPr/>
          <p:nvPr/>
        </p:nvSpPr>
        <p:spPr>
          <a:xfrm>
            <a:off x="777240" y="2880360"/>
            <a:ext cx="5394960" cy="777240"/>
          </a:xfrm>
          <a:prstGeom prst="rect">
            <a:avLst/>
          </a:prstGeom>
          <a:noFill/>
          <a:ln/>
        </p:spPr>
        <p:txBody>
          <a:bodyPr wrap="square" lIns="0" tIns="0" rIns="0" bIns="0" rtlCol="0" anchor="ctr"/>
          <a:lstStyle/>
          <a:p>
            <a:pPr indent="0" marL="0">
              <a:buNone/>
            </a:pPr>
            <a:r>
              <a:rPr lang="en-US" sz="1400" dirty="0">
                <a:solidFill>
                  <a:srgbClr val="C9C4B6"/>
                </a:solidFill>
                <a:latin typeface="Arial" pitchFamily="34" charset="0"/>
                <a:ea typeface="Arial" pitchFamily="34" charset="-122"/>
                <a:cs typeface="Arial" pitchFamily="34" charset="-120"/>
              </a:rPr>
              <a:t>ist nicht hashbar. PostgreSQL kann keinen Hash Join bilden und fällt auf Nested Loops zurück — bei 37 Millionen Zeilen gegen fünf Dimensionen.</a:t>
            </a:r>
            <a:endParaRPr lang="en-US" sz="1400" dirty="0"/>
          </a:p>
        </p:txBody>
      </p:sp>
      <p:sp>
        <p:nvSpPr>
          <p:cNvPr id="7" name="Text 5"/>
          <p:cNvSpPr/>
          <p:nvPr/>
        </p:nvSpPr>
        <p:spPr>
          <a:xfrm>
            <a:off x="777240" y="3840480"/>
            <a:ext cx="5394960" cy="274320"/>
          </a:xfrm>
          <a:prstGeom prst="rect">
            <a:avLst/>
          </a:prstGeom>
          <a:noFill/>
          <a:ln/>
        </p:spPr>
        <p:txBody>
          <a:bodyPr wrap="square" lIns="0" tIns="0" rIns="0" bIns="0" rtlCol="0" anchor="ctr"/>
          <a:lstStyle/>
          <a:p>
            <a:pPr indent="0" marL="0">
              <a:buNone/>
            </a:pPr>
            <a:r>
              <a:rPr lang="en-US" sz="1250" b="1" spc="100" kern="0" dirty="0">
                <a:solidFill>
                  <a:srgbClr val="F4F0E6"/>
                </a:solidFill>
                <a:latin typeface="Arial" pitchFamily="34" charset="0"/>
                <a:ea typeface="Arial" pitchFamily="34" charset="-122"/>
                <a:cs typeface="Arial" pitchFamily="34" charset="-120"/>
              </a:rPr>
              <a:t>Die Lösung:</a:t>
            </a:r>
            <a:endParaRPr lang="en-US" sz="1250" dirty="0"/>
          </a:p>
        </p:txBody>
      </p:sp>
      <p:sp>
        <p:nvSpPr>
          <p:cNvPr id="8" name="Text 6"/>
          <p:cNvSpPr/>
          <p:nvPr/>
        </p:nvSpPr>
        <p:spPr>
          <a:xfrm>
            <a:off x="777240" y="4133088"/>
            <a:ext cx="5394960" cy="731520"/>
          </a:xfrm>
          <a:prstGeom prst="rect">
            <a:avLst/>
          </a:prstGeom>
          <a:noFill/>
          <a:ln/>
        </p:spPr>
        <p:txBody>
          <a:bodyPr wrap="square" lIns="0" tIns="0" rIns="0" bIns="0" rtlCol="0" anchor="ctr"/>
          <a:lstStyle/>
          <a:p>
            <a:pPr indent="0" marL="0">
              <a:buNone/>
            </a:pPr>
            <a:r>
              <a:rPr lang="en-US" sz="1400" dirty="0">
                <a:solidFill>
                  <a:srgbClr val="C9C4B6"/>
                </a:solidFill>
                <a:latin typeface="Arial" pitchFamily="34" charset="0"/>
                <a:ea typeface="Arial" pitchFamily="34" charset="-122"/>
                <a:cs typeface="Arial" pitchFamily="34" charset="-120"/>
              </a:rPr>
              <a:t>eine verkettete Schlüsselspalte je Dimension, NULL wird zu Leerstring. Der Join läuft über einfache Gleichheit — und ist damit hashbar.</a:t>
            </a:r>
            <a:endParaRPr lang="en-US" sz="1400" dirty="0"/>
          </a:p>
        </p:txBody>
      </p:sp>
      <p:sp>
        <p:nvSpPr>
          <p:cNvPr id="9" name="Text 7"/>
          <p:cNvSpPr/>
          <p:nvPr/>
        </p:nvSpPr>
        <p:spPr>
          <a:xfrm>
            <a:off x="6812280" y="2286000"/>
            <a:ext cx="2194560" cy="256032"/>
          </a:xfrm>
          <a:prstGeom prst="rect">
            <a:avLst/>
          </a:prstGeom>
          <a:noFill/>
          <a:ln/>
        </p:spPr>
        <p:txBody>
          <a:bodyPr wrap="square" lIns="0" tIns="0" rIns="0" bIns="0" rtlCol="0" anchor="ctr"/>
          <a:lstStyle/>
          <a:p>
            <a:pPr indent="0" marL="0">
              <a:buNone/>
            </a:pPr>
            <a:r>
              <a:rPr lang="en-US" sz="1050" b="1" spc="200" kern="0" dirty="0">
                <a:solidFill>
                  <a:srgbClr val="6E7377"/>
                </a:solidFill>
                <a:latin typeface="Arial" pitchFamily="34" charset="0"/>
                <a:ea typeface="Arial" pitchFamily="34" charset="-122"/>
                <a:cs typeface="Arial" pitchFamily="34" charset="-120"/>
              </a:rPr>
              <a:t>VORHER</a:t>
            </a:r>
            <a:endParaRPr lang="en-US" sz="1050" dirty="0"/>
          </a:p>
        </p:txBody>
      </p:sp>
      <p:sp>
        <p:nvSpPr>
          <p:cNvPr id="10" name="Text 8"/>
          <p:cNvSpPr/>
          <p:nvPr/>
        </p:nvSpPr>
        <p:spPr>
          <a:xfrm>
            <a:off x="6812280" y="2578608"/>
            <a:ext cx="3840480" cy="725214"/>
          </a:xfrm>
          <a:prstGeom prst="rect">
            <a:avLst/>
          </a:prstGeom>
          <a:noFill/>
          <a:ln/>
        </p:spPr>
        <p:txBody>
          <a:bodyPr wrap="square" lIns="0" tIns="0" rIns="0" bIns="0" rtlCol="0" anchor="ctr"/>
          <a:lstStyle/>
          <a:p>
            <a:pPr indent="0" marL="0">
              <a:buNone/>
            </a:pPr>
            <a:r>
              <a:rPr lang="en-US" sz="4600" b="1" spc="-200" kern="0" dirty="0">
                <a:solidFill>
                  <a:srgbClr val="6E7377"/>
                </a:solidFill>
                <a:latin typeface="Arial" pitchFamily="34" charset="0"/>
                <a:ea typeface="Arial" pitchFamily="34" charset="-122"/>
                <a:cs typeface="Arial" pitchFamily="34" charset="-120"/>
              </a:rPr>
              <a:t>15</a:t>
            </a:r>
            <a:pPr indent="0" marL="0">
              <a:buNone/>
            </a:pPr>
            <a:r>
              <a:rPr lang="en-US" sz="1656" b="1" dirty="0">
                <a:solidFill>
                  <a:srgbClr val="6E7377"/>
                </a:solidFill>
                <a:latin typeface="Arial" pitchFamily="34" charset="0"/>
                <a:ea typeface="Arial" pitchFamily="34" charset="-122"/>
                <a:cs typeface="Arial" pitchFamily="34" charset="-120"/>
              </a:rPr>
              <a:t> MB/min</a:t>
            </a:r>
            <a:endParaRPr lang="en-US" sz="4600" dirty="0"/>
          </a:p>
        </p:txBody>
      </p:sp>
      <p:sp>
        <p:nvSpPr>
          <p:cNvPr id="11" name="Text 9"/>
          <p:cNvSpPr/>
          <p:nvPr/>
        </p:nvSpPr>
        <p:spPr>
          <a:xfrm>
            <a:off x="6812280" y="3429000"/>
            <a:ext cx="3840480" cy="725214"/>
          </a:xfrm>
          <a:prstGeom prst="rect">
            <a:avLst/>
          </a:prstGeom>
          <a:noFill/>
          <a:ln/>
        </p:spPr>
        <p:txBody>
          <a:bodyPr wrap="square" lIns="0" tIns="0" rIns="0" bIns="0" rtlCol="0" anchor="ctr"/>
          <a:lstStyle/>
          <a:p>
            <a:pPr indent="0" marL="0">
              <a:buNone/>
            </a:pPr>
            <a:r>
              <a:rPr lang="en-US" sz="4600" b="1" spc="-200" kern="0" dirty="0">
                <a:solidFill>
                  <a:srgbClr val="6E7377"/>
                </a:solidFill>
                <a:latin typeface="Arial" pitchFamily="34" charset="0"/>
                <a:ea typeface="Arial" pitchFamily="34" charset="-122"/>
                <a:cs typeface="Arial" pitchFamily="34" charset="-120"/>
              </a:rPr>
              <a:t>6:00</a:t>
            </a:r>
            <a:pPr indent="0" marL="0">
              <a:buNone/>
            </a:pPr>
            <a:r>
              <a:rPr lang="en-US" sz="1656" b="1" dirty="0">
                <a:solidFill>
                  <a:srgbClr val="6E7377"/>
                </a:solidFill>
                <a:latin typeface="Arial" pitchFamily="34" charset="0"/>
                <a:ea typeface="Arial" pitchFamily="34" charset="-122"/>
                <a:cs typeface="Arial" pitchFamily="34" charset="-120"/>
              </a:rPr>
              <a:t> h+</a:t>
            </a:r>
            <a:endParaRPr lang="en-US" sz="4600" dirty="0"/>
          </a:p>
        </p:txBody>
      </p:sp>
      <p:sp>
        <p:nvSpPr>
          <p:cNvPr id="12" name="Text 10"/>
          <p:cNvSpPr/>
          <p:nvPr/>
        </p:nvSpPr>
        <p:spPr>
          <a:xfrm>
            <a:off x="6812280" y="4135926"/>
            <a:ext cx="3840480" cy="310896"/>
          </a:xfrm>
          <a:prstGeom prst="rect">
            <a:avLst/>
          </a:prstGeom>
          <a:noFill/>
          <a:ln/>
        </p:spPr>
        <p:txBody>
          <a:bodyPr wrap="square" lIns="0" tIns="0" rIns="0" bIns="0" rtlCol="0" anchor="ctr"/>
          <a:lstStyle/>
          <a:p>
            <a:pPr indent="0" marL="0">
              <a:buNone/>
            </a:pPr>
            <a:r>
              <a:rPr lang="en-US" sz="1100" spc="80" kern="0" dirty="0">
                <a:solidFill>
                  <a:srgbClr val="C9C4B6"/>
                </a:solidFill>
                <a:latin typeface="Arial" pitchFamily="34" charset="0"/>
                <a:ea typeface="Arial" pitchFamily="34" charset="-122"/>
                <a:cs typeface="Arial" pitchFamily="34" charset="-120"/>
              </a:rPr>
              <a:t>hochgerechnet</a:t>
            </a:r>
            <a:endParaRPr lang="en-US" sz="1100" dirty="0"/>
          </a:p>
        </p:txBody>
      </p:sp>
      <p:sp>
        <p:nvSpPr>
          <p:cNvPr id="13" name="Text 11"/>
          <p:cNvSpPr/>
          <p:nvPr/>
        </p:nvSpPr>
        <p:spPr>
          <a:xfrm>
            <a:off x="9464040" y="2286000"/>
            <a:ext cx="2194560" cy="256032"/>
          </a:xfrm>
          <a:prstGeom prst="rect">
            <a:avLst/>
          </a:prstGeom>
          <a:noFill/>
          <a:ln/>
        </p:spPr>
        <p:txBody>
          <a:bodyPr wrap="square" lIns="0" tIns="0" rIns="0" bIns="0" rtlCol="0" anchor="ctr"/>
          <a:lstStyle/>
          <a:p>
            <a:pPr indent="0" marL="0">
              <a:buNone/>
            </a:pPr>
            <a:r>
              <a:rPr lang="en-US" sz="1050" b="1" spc="200" kern="0" dirty="0">
                <a:solidFill>
                  <a:srgbClr val="E0442B"/>
                </a:solidFill>
                <a:latin typeface="Arial" pitchFamily="34" charset="0"/>
                <a:ea typeface="Arial" pitchFamily="34" charset="-122"/>
                <a:cs typeface="Arial" pitchFamily="34" charset="-120"/>
              </a:rPr>
              <a:t>NACHHER</a:t>
            </a:r>
            <a:endParaRPr lang="en-US" sz="1050" dirty="0"/>
          </a:p>
        </p:txBody>
      </p:sp>
      <p:sp>
        <p:nvSpPr>
          <p:cNvPr id="14" name="Text 12"/>
          <p:cNvSpPr/>
          <p:nvPr/>
        </p:nvSpPr>
        <p:spPr>
          <a:xfrm>
            <a:off x="9464040" y="2578608"/>
            <a:ext cx="3840480" cy="725214"/>
          </a:xfrm>
          <a:prstGeom prst="rect">
            <a:avLst/>
          </a:prstGeom>
          <a:noFill/>
          <a:ln/>
        </p:spPr>
        <p:txBody>
          <a:bodyPr wrap="square" lIns="0" tIns="0" rIns="0" bIns="0" rtlCol="0" anchor="ctr"/>
          <a:lstStyle/>
          <a:p>
            <a:pPr indent="0" marL="0">
              <a:buNone/>
            </a:pPr>
            <a:r>
              <a:rPr lang="en-US" sz="4600" b="1" spc="-200" kern="0" dirty="0">
                <a:solidFill>
                  <a:srgbClr val="E0442B"/>
                </a:solidFill>
                <a:latin typeface="Arial" pitchFamily="34" charset="0"/>
                <a:ea typeface="Arial" pitchFamily="34" charset="-122"/>
                <a:cs typeface="Arial" pitchFamily="34" charset="-120"/>
              </a:rPr>
              <a:t>1,3</a:t>
            </a:r>
            <a:pPr indent="0" marL="0">
              <a:buNone/>
            </a:pPr>
            <a:r>
              <a:rPr lang="en-US" sz="1656" b="1" dirty="0">
                <a:solidFill>
                  <a:srgbClr val="E0442B"/>
                </a:solidFill>
                <a:latin typeface="Arial" pitchFamily="34" charset="0"/>
                <a:ea typeface="Arial" pitchFamily="34" charset="-122"/>
                <a:cs typeface="Arial" pitchFamily="34" charset="-120"/>
              </a:rPr>
              <a:t> GB/min</a:t>
            </a:r>
            <a:endParaRPr lang="en-US" sz="4600" dirty="0"/>
          </a:p>
        </p:txBody>
      </p:sp>
      <p:sp>
        <p:nvSpPr>
          <p:cNvPr id="15" name="Text 13"/>
          <p:cNvSpPr/>
          <p:nvPr/>
        </p:nvSpPr>
        <p:spPr>
          <a:xfrm>
            <a:off x="9464040" y="3429000"/>
            <a:ext cx="3840480" cy="725214"/>
          </a:xfrm>
          <a:prstGeom prst="rect">
            <a:avLst/>
          </a:prstGeom>
          <a:noFill/>
          <a:ln/>
        </p:spPr>
        <p:txBody>
          <a:bodyPr wrap="square" lIns="0" tIns="0" rIns="0" bIns="0" rtlCol="0" anchor="ctr"/>
          <a:lstStyle/>
          <a:p>
            <a:pPr indent="0" marL="0">
              <a:buNone/>
            </a:pPr>
            <a:r>
              <a:rPr lang="en-US" sz="4600" b="1" spc="-200" kern="0" dirty="0">
                <a:solidFill>
                  <a:srgbClr val="E0442B"/>
                </a:solidFill>
                <a:latin typeface="Arial" pitchFamily="34" charset="0"/>
                <a:ea typeface="Arial" pitchFamily="34" charset="-122"/>
                <a:cs typeface="Arial" pitchFamily="34" charset="-120"/>
              </a:rPr>
              <a:t>10:06</a:t>
            </a:r>
            <a:pPr indent="0" marL="0">
              <a:buNone/>
            </a:pPr>
            <a:endParaRPr lang="en-US" sz="4600" dirty="0"/>
          </a:p>
        </p:txBody>
      </p:sp>
      <p:sp>
        <p:nvSpPr>
          <p:cNvPr id="16" name="Text 14"/>
          <p:cNvSpPr/>
          <p:nvPr/>
        </p:nvSpPr>
        <p:spPr>
          <a:xfrm>
            <a:off x="9464040" y="4135926"/>
            <a:ext cx="3840480" cy="310896"/>
          </a:xfrm>
          <a:prstGeom prst="rect">
            <a:avLst/>
          </a:prstGeom>
          <a:noFill/>
          <a:ln/>
        </p:spPr>
        <p:txBody>
          <a:bodyPr wrap="square" lIns="0" tIns="0" rIns="0" bIns="0" rtlCol="0" anchor="ctr"/>
          <a:lstStyle/>
          <a:p>
            <a:pPr indent="0" marL="0">
              <a:buNone/>
            </a:pPr>
            <a:r>
              <a:rPr lang="en-US" sz="1100" spc="80" kern="0" dirty="0">
                <a:solidFill>
                  <a:srgbClr val="C9C4B6"/>
                </a:solidFill>
                <a:latin typeface="Arial" pitchFamily="34" charset="0"/>
                <a:ea typeface="Arial" pitchFamily="34" charset="-122"/>
                <a:cs typeface="Arial" pitchFamily="34" charset="-120"/>
              </a:rPr>
              <a:t>tatsächlich gemessen</a:t>
            </a:r>
            <a:endParaRPr lang="en-US" sz="1100" dirty="0"/>
          </a:p>
        </p:txBody>
      </p:sp>
      <p:sp>
        <p:nvSpPr>
          <p:cNvPr id="17" name="Shape 15"/>
          <p:cNvSpPr/>
          <p:nvPr/>
        </p:nvSpPr>
        <p:spPr>
          <a:xfrm>
            <a:off x="6812280" y="4526280"/>
            <a:ext cx="4572000" cy="822960"/>
          </a:xfrm>
          <a:prstGeom prst="rect">
            <a:avLst/>
          </a:prstGeom>
          <a:solidFill>
            <a:srgbClr val="202325"/>
          </a:solidFill>
          <a:ln w="12700">
            <a:solidFill>
              <a:srgbClr val="333333"/>
            </a:solidFill>
            <a:prstDash val="solid"/>
          </a:ln>
        </p:spPr>
      </p:sp>
      <p:sp>
        <p:nvSpPr>
          <p:cNvPr id="18" name="Text 16"/>
          <p:cNvSpPr/>
          <p:nvPr/>
        </p:nvSpPr>
        <p:spPr>
          <a:xfrm>
            <a:off x="7068312" y="4754880"/>
            <a:ext cx="4114800" cy="365760"/>
          </a:xfrm>
          <a:prstGeom prst="rect">
            <a:avLst/>
          </a:prstGeom>
          <a:noFill/>
          <a:ln/>
        </p:spPr>
        <p:txBody>
          <a:bodyPr wrap="square" lIns="0" tIns="0" rIns="0" bIns="0" rtlCol="0" anchor="ctr"/>
          <a:lstStyle/>
          <a:p>
            <a:pPr indent="0" marL="0">
              <a:buNone/>
            </a:pPr>
            <a:r>
              <a:rPr lang="en-US" sz="1400" b="1" spc="50" kern="0" dirty="0">
                <a:solidFill>
                  <a:srgbClr val="F4F0E6"/>
                </a:solidFill>
                <a:latin typeface="Arial" pitchFamily="34" charset="0"/>
                <a:ea typeface="Arial" pitchFamily="34" charset="-122"/>
                <a:cs typeface="Arial" pitchFamily="34" charset="-120"/>
              </a:rPr>
              <a:t>FAKTOR 85 — ohne eine einzige Hardwareänderung</a:t>
            </a:r>
            <a:endParaRPr lang="en-US" sz="1400" dirty="0"/>
          </a:p>
        </p:txBody>
      </p:sp>
      <p:sp>
        <p:nvSpPr>
          <p:cNvPr id="19" name="Text 17"/>
          <p:cNvSpPr/>
          <p:nvPr/>
        </p:nvSpPr>
        <p:spPr>
          <a:xfrm>
            <a:off x="777240" y="6327648"/>
            <a:ext cx="10637215" cy="274320"/>
          </a:xfrm>
          <a:prstGeom prst="rect">
            <a:avLst/>
          </a:prstGeom>
          <a:noFill/>
          <a:ln/>
        </p:spPr>
        <p:txBody>
          <a:bodyPr wrap="square" lIns="0" tIns="0" rIns="0" bIns="0" rtlCol="0" anchor="ctr"/>
          <a:lstStyle/>
          <a:p>
            <a:pPr indent="0" marL="0">
              <a:buNone/>
            </a:pPr>
            <a:r>
              <a:rPr lang="en-US" sz="950" spc="60" kern="0" dirty="0">
                <a:solidFill>
                  <a:srgbClr val="6E7377"/>
                </a:solidFill>
                <a:latin typeface="Arial" pitchFamily="34" charset="0"/>
                <a:ea typeface="Arial" pitchFamily="34" charset="-122"/>
                <a:cs typeface="Arial" pitchFamily="34" charset="-120"/>
              </a:rPr>
              <a:t>Nachgewiesen mit EXPLAIN (ANALYZE, BUFFERS) — Wechsel von Nested Loop auf Hash Join</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0E6"/>
        </a:solidFill>
      </p:bgPr>
    </p:bg>
    <p:spTree>
      <p:nvGrpSpPr>
        <p:cNvPr id="1" name=""/>
        <p:cNvGrpSpPr/>
        <p:nvPr/>
      </p:nvGrpSpPr>
      <p:grpSpPr>
        <a:xfrm>
          <a:off x="0" y="0"/>
          <a:ext cx="0" cy="0"/>
          <a:chOff x="0" y="0"/>
          <a:chExt cx="0" cy="0"/>
        </a:xfrm>
      </p:grpSpPr>
      <p:sp>
        <p:nvSpPr>
          <p:cNvPr id="2" name="Text 0"/>
          <p:cNvSpPr/>
          <p:nvPr/>
        </p:nvSpPr>
        <p:spPr>
          <a:xfrm>
            <a:off x="777240" y="475488"/>
            <a:ext cx="10637215" cy="256032"/>
          </a:xfrm>
          <a:prstGeom prst="rect">
            <a:avLst/>
          </a:prstGeom>
          <a:noFill/>
          <a:ln/>
        </p:spPr>
        <p:txBody>
          <a:bodyPr wrap="square" lIns="0" tIns="0" rIns="0" bIns="0" rtlCol="0" anchor="ctr"/>
          <a:lstStyle/>
          <a:p>
            <a:pPr indent="0" marL="0">
              <a:buNone/>
            </a:pPr>
            <a:r>
              <a:rPr lang="en-US" sz="1100" b="1" spc="300" kern="0" dirty="0">
                <a:solidFill>
                  <a:srgbClr val="E0442B"/>
                </a:solidFill>
                <a:latin typeface="Arial" pitchFamily="34" charset="0"/>
                <a:ea typeface="Arial" pitchFamily="34" charset="-122"/>
                <a:cs typeface="Arial" pitchFamily="34" charset="-120"/>
              </a:rPr>
              <a:t>05</a:t>
            </a:r>
            <a:pPr indent="0" marL="0">
              <a:buNone/>
            </a:pPr>
            <a:r>
              <a:rPr lang="en-US" sz="1100" b="1" spc="300" kern="0" dirty="0">
                <a:solidFill>
                  <a:srgbClr val="6E7377"/>
                </a:solidFill>
                <a:latin typeface="Arial" pitchFamily="34" charset="0"/>
                <a:ea typeface="Arial" pitchFamily="34" charset="-122"/>
                <a:cs typeface="Arial" pitchFamily="34" charset="-120"/>
              </a:rPr>
              <a:t>   BEFUND 1</a:t>
            </a:r>
            <a:endParaRPr lang="en-US" sz="1100" dirty="0"/>
          </a:p>
        </p:txBody>
      </p:sp>
      <p:sp>
        <p:nvSpPr>
          <p:cNvPr id="3" name="Text 1"/>
          <p:cNvSpPr/>
          <p:nvPr/>
        </p:nvSpPr>
        <p:spPr>
          <a:xfrm>
            <a:off x="777240" y="841248"/>
            <a:ext cx="10637215" cy="777240"/>
          </a:xfrm>
          <a:prstGeom prst="rect">
            <a:avLst/>
          </a:prstGeom>
          <a:noFill/>
          <a:ln/>
        </p:spPr>
        <p:txBody>
          <a:bodyPr wrap="square" lIns="0" tIns="0" rIns="0" bIns="0" rtlCol="0" anchor="ctr"/>
          <a:lstStyle/>
          <a:p>
            <a:pPr indent="0" marL="0">
              <a:buNone/>
            </a:pPr>
            <a:r>
              <a:rPr lang="en-US" sz="3000" b="1" spc="-120" kern="0" dirty="0">
                <a:solidFill>
                  <a:srgbClr val="17191B"/>
                </a:solidFill>
                <a:latin typeface="Arial" pitchFamily="34" charset="0"/>
                <a:ea typeface="Arial" pitchFamily="34" charset="-122"/>
                <a:cs typeface="Arial" pitchFamily="34" charset="-120"/>
              </a:rPr>
              <a:t>Was das Papier verspricht. Was die Straße misst.</a:t>
            </a:r>
            <a:endParaRPr lang="en-US" sz="3000" dirty="0"/>
          </a:p>
        </p:txBody>
      </p:sp>
      <p:sp>
        <p:nvSpPr>
          <p:cNvPr id="4" name="Text 2"/>
          <p:cNvSpPr/>
          <p:nvPr/>
        </p:nvSpPr>
        <p:spPr>
          <a:xfrm>
            <a:off x="777240" y="1481328"/>
            <a:ext cx="8297028" cy="457200"/>
          </a:xfrm>
          <a:prstGeom prst="rect">
            <a:avLst/>
          </a:prstGeom>
          <a:noFill/>
          <a:ln/>
        </p:spPr>
        <p:txBody>
          <a:bodyPr wrap="square" lIns="0" tIns="0" rIns="0" bIns="0" rtlCol="0" anchor="ctr"/>
          <a:lstStyle/>
          <a:p>
            <a:pPr indent="0" marL="0">
              <a:buNone/>
            </a:pPr>
            <a:r>
              <a:rPr lang="en-US" sz="1400" dirty="0">
                <a:solidFill>
                  <a:srgbClr val="6E7377"/>
                </a:solidFill>
                <a:latin typeface="Arial" pitchFamily="34" charset="0"/>
                <a:ea typeface="Arial" pitchFamily="34" charset="-122"/>
                <a:cs typeface="Arial" pitchFamily="34" charset="-120"/>
              </a:rPr>
              <a:t>Deutschland · 1.608.112 Fahrzeuge · Median über alle Zulassungsjahrgänge · Liter je 100 km</a:t>
            </a:r>
            <a:endParaRPr lang="en-US" sz="1400" dirty="0"/>
          </a:p>
        </p:txBody>
      </p:sp>
      <p:sp>
        <p:nvSpPr>
          <p:cNvPr id="5" name="Shape 3"/>
          <p:cNvSpPr/>
          <p:nvPr/>
        </p:nvSpPr>
        <p:spPr>
          <a:xfrm>
            <a:off x="9189720" y="1965960"/>
            <a:ext cx="2224735" cy="3840480"/>
          </a:xfrm>
          <a:prstGeom prst="rect">
            <a:avLst/>
          </a:prstGeom>
          <a:solidFill>
            <a:srgbClr val="E6E0D2"/>
          </a:solidFill>
          <a:ln w="12700">
            <a:solidFill>
              <a:srgbClr val="333333"/>
            </a:solidFill>
            <a:prstDash val="solid"/>
          </a:ln>
        </p:spPr>
      </p:sp>
      <p:sp>
        <p:nvSpPr>
          <p:cNvPr id="6" name="Text 4"/>
          <p:cNvSpPr/>
          <p:nvPr/>
        </p:nvSpPr>
        <p:spPr>
          <a:xfrm>
            <a:off x="9464040" y="2212848"/>
            <a:ext cx="2286000" cy="310896"/>
          </a:xfrm>
          <a:prstGeom prst="rect">
            <a:avLst/>
          </a:prstGeom>
          <a:noFill/>
          <a:ln/>
        </p:spPr>
        <p:txBody>
          <a:bodyPr wrap="square" lIns="0" tIns="0" rIns="0" bIns="0" rtlCol="0" anchor="ctr"/>
          <a:lstStyle/>
          <a:p>
            <a:pPr indent="0" marL="0">
              <a:buNone/>
            </a:pPr>
            <a:r>
              <a:rPr lang="en-US" sz="1500" b="1" dirty="0">
                <a:solidFill>
                  <a:srgbClr val="17191B"/>
                </a:solidFill>
                <a:latin typeface="Arial" pitchFamily="34" charset="0"/>
                <a:ea typeface="Arial" pitchFamily="34" charset="-122"/>
                <a:cs typeface="Arial" pitchFamily="34" charset="-120"/>
              </a:rPr>
              <a:t>Die Ursache</a:t>
            </a:r>
            <a:endParaRPr lang="en-US" sz="1500" dirty="0"/>
          </a:p>
        </p:txBody>
      </p:sp>
      <p:sp>
        <p:nvSpPr>
          <p:cNvPr id="7" name="Text 5"/>
          <p:cNvSpPr/>
          <p:nvPr/>
        </p:nvSpPr>
        <p:spPr>
          <a:xfrm>
            <a:off x="9464040" y="2560320"/>
            <a:ext cx="2331720" cy="548640"/>
          </a:xfrm>
          <a:prstGeom prst="rect">
            <a:avLst/>
          </a:prstGeom>
          <a:noFill/>
          <a:ln/>
        </p:spPr>
        <p:txBody>
          <a:bodyPr wrap="square" lIns="0" tIns="0" rIns="0" bIns="0" rtlCol="0" anchor="ctr"/>
          <a:lstStyle/>
          <a:p>
            <a:pPr indent="0" marL="0">
              <a:buNone/>
            </a:pPr>
            <a:r>
              <a:rPr lang="en-US" sz="1150" dirty="0">
                <a:solidFill>
                  <a:srgbClr val="6E7377"/>
                </a:solidFill>
                <a:latin typeface="Arial" pitchFamily="34" charset="0"/>
                <a:ea typeface="Arial" pitchFamily="34" charset="-122"/>
                <a:cs typeface="Arial" pitchFamily="34" charset="-120"/>
              </a:rPr>
              <a:t>Die WLTP-Regel unterstellt, wie oft ein Plug-in-Hybrid geladen wird.</a:t>
            </a:r>
            <a:endParaRPr lang="en-US" sz="1150" dirty="0"/>
          </a:p>
        </p:txBody>
      </p:sp>
      <p:sp>
        <p:nvSpPr>
          <p:cNvPr id="8" name="Text 6"/>
          <p:cNvSpPr/>
          <p:nvPr/>
        </p:nvSpPr>
        <p:spPr>
          <a:xfrm>
            <a:off x="9464040" y="3200400"/>
            <a:ext cx="3840480" cy="630621"/>
          </a:xfrm>
          <a:prstGeom prst="rect">
            <a:avLst/>
          </a:prstGeom>
          <a:noFill/>
          <a:ln/>
        </p:spPr>
        <p:txBody>
          <a:bodyPr wrap="square" lIns="0" tIns="0" rIns="0" bIns="0" rtlCol="0" anchor="ctr"/>
          <a:lstStyle/>
          <a:p>
            <a:pPr indent="0" marL="0">
              <a:buNone/>
            </a:pPr>
            <a:r>
              <a:rPr lang="en-US" sz="4000" b="1" spc="-200" kern="0" dirty="0">
                <a:solidFill>
                  <a:srgbClr val="6E7377"/>
                </a:solidFill>
                <a:latin typeface="Arial" pitchFamily="34" charset="0"/>
                <a:ea typeface="Arial" pitchFamily="34" charset="-122"/>
                <a:cs typeface="Arial" pitchFamily="34" charset="-120"/>
              </a:rPr>
              <a:t>84</a:t>
            </a:r>
            <a:pPr indent="0" marL="0">
              <a:buNone/>
            </a:pPr>
            <a:r>
              <a:rPr lang="en-US" sz="1440" b="1" dirty="0">
                <a:solidFill>
                  <a:srgbClr val="6E7377"/>
                </a:solidFill>
                <a:latin typeface="Arial" pitchFamily="34" charset="0"/>
                <a:ea typeface="Arial" pitchFamily="34" charset="-122"/>
                <a:cs typeface="Arial" pitchFamily="34" charset="-120"/>
              </a:rPr>
              <a:t> %</a:t>
            </a:r>
            <a:endParaRPr lang="en-US" sz="4000" dirty="0"/>
          </a:p>
        </p:txBody>
      </p:sp>
      <p:sp>
        <p:nvSpPr>
          <p:cNvPr id="9" name="Text 7"/>
          <p:cNvSpPr/>
          <p:nvPr/>
        </p:nvSpPr>
        <p:spPr>
          <a:xfrm>
            <a:off x="9464040" y="3812733"/>
            <a:ext cx="3840480" cy="310896"/>
          </a:xfrm>
          <a:prstGeom prst="rect">
            <a:avLst/>
          </a:prstGeom>
          <a:noFill/>
          <a:ln/>
        </p:spPr>
        <p:txBody>
          <a:bodyPr wrap="square" lIns="0" tIns="0" rIns="0" bIns="0" rtlCol="0" anchor="ctr"/>
          <a:lstStyle/>
          <a:p>
            <a:pPr indent="0" marL="0">
              <a:buNone/>
            </a:pPr>
            <a:r>
              <a:rPr lang="en-US" sz="1100" spc="80" kern="0" dirty="0">
                <a:solidFill>
                  <a:srgbClr val="6E7377"/>
                </a:solidFill>
                <a:latin typeface="Arial" pitchFamily="34" charset="0"/>
                <a:ea typeface="Arial" pitchFamily="34" charset="-122"/>
                <a:cs typeface="Arial" pitchFamily="34" charset="-120"/>
              </a:rPr>
              <a:t>unterstellt</a:t>
            </a:r>
            <a:endParaRPr lang="en-US" sz="1100" dirty="0"/>
          </a:p>
        </p:txBody>
      </p:sp>
      <p:sp>
        <p:nvSpPr>
          <p:cNvPr id="10" name="Text 8"/>
          <p:cNvSpPr/>
          <p:nvPr/>
        </p:nvSpPr>
        <p:spPr>
          <a:xfrm>
            <a:off x="9464040" y="4041648"/>
            <a:ext cx="3840480" cy="630621"/>
          </a:xfrm>
          <a:prstGeom prst="rect">
            <a:avLst/>
          </a:prstGeom>
          <a:noFill/>
          <a:ln/>
        </p:spPr>
        <p:txBody>
          <a:bodyPr wrap="square" lIns="0" tIns="0" rIns="0" bIns="0" rtlCol="0" anchor="ctr"/>
          <a:lstStyle/>
          <a:p>
            <a:pPr indent="0" marL="0">
              <a:buNone/>
            </a:pPr>
            <a:r>
              <a:rPr lang="en-US" sz="4000" b="1" spc="-200" kern="0" dirty="0">
                <a:solidFill>
                  <a:srgbClr val="E0442B"/>
                </a:solidFill>
                <a:latin typeface="Arial" pitchFamily="34" charset="0"/>
                <a:ea typeface="Arial" pitchFamily="34" charset="-122"/>
                <a:cs typeface="Arial" pitchFamily="34" charset="-120"/>
              </a:rPr>
              <a:t>26</a:t>
            </a:r>
            <a:pPr indent="0" marL="0">
              <a:buNone/>
            </a:pPr>
            <a:r>
              <a:rPr lang="en-US" sz="1440" b="1" dirty="0">
                <a:solidFill>
                  <a:srgbClr val="E0442B"/>
                </a:solidFill>
                <a:latin typeface="Arial" pitchFamily="34" charset="0"/>
                <a:ea typeface="Arial" pitchFamily="34" charset="-122"/>
                <a:cs typeface="Arial" pitchFamily="34" charset="-120"/>
              </a:rPr>
              <a:t> %</a:t>
            </a:r>
            <a:endParaRPr lang="en-US" sz="4000" dirty="0"/>
          </a:p>
        </p:txBody>
      </p:sp>
      <p:sp>
        <p:nvSpPr>
          <p:cNvPr id="11" name="Text 9"/>
          <p:cNvSpPr/>
          <p:nvPr/>
        </p:nvSpPr>
        <p:spPr>
          <a:xfrm>
            <a:off x="9464040" y="4653981"/>
            <a:ext cx="3840480" cy="310896"/>
          </a:xfrm>
          <a:prstGeom prst="rect">
            <a:avLst/>
          </a:prstGeom>
          <a:noFill/>
          <a:ln/>
        </p:spPr>
        <p:txBody>
          <a:bodyPr wrap="square" lIns="0" tIns="0" rIns="0" bIns="0" rtlCol="0" anchor="ctr"/>
          <a:lstStyle/>
          <a:p>
            <a:pPr indent="0" marL="0">
              <a:buNone/>
            </a:pPr>
            <a:r>
              <a:rPr lang="en-US" sz="1100" spc="80" kern="0" dirty="0">
                <a:solidFill>
                  <a:srgbClr val="6E7377"/>
                </a:solidFill>
                <a:latin typeface="Arial" pitchFamily="34" charset="0"/>
                <a:ea typeface="Arial" pitchFamily="34" charset="-122"/>
                <a:cs typeface="Arial" pitchFamily="34" charset="-120"/>
              </a:rPr>
              <a:t>gemessen</a:t>
            </a:r>
            <a:endParaRPr lang="en-US" sz="1100" dirty="0"/>
          </a:p>
        </p:txBody>
      </p:sp>
      <p:sp>
        <p:nvSpPr>
          <p:cNvPr id="12" name="Text 10"/>
          <p:cNvSpPr/>
          <p:nvPr/>
        </p:nvSpPr>
        <p:spPr>
          <a:xfrm>
            <a:off x="9464040" y="4937760"/>
            <a:ext cx="2331720" cy="640080"/>
          </a:xfrm>
          <a:prstGeom prst="rect">
            <a:avLst/>
          </a:prstGeom>
          <a:noFill/>
          <a:ln/>
        </p:spPr>
        <p:txBody>
          <a:bodyPr wrap="square" lIns="0" tIns="0" rIns="0" bIns="0" rtlCol="0" anchor="ctr"/>
          <a:lstStyle/>
          <a:p>
            <a:pPr indent="0" marL="0">
              <a:buNone/>
            </a:pPr>
            <a:r>
              <a:rPr lang="en-US" sz="1100" i="1" dirty="0">
                <a:solidFill>
                  <a:srgbClr val="17191B"/>
                </a:solidFill>
                <a:latin typeface="Century Schoolbook" pitchFamily="34" charset="0"/>
                <a:ea typeface="Century Schoolbook" pitchFamily="34" charset="-122"/>
                <a:cs typeface="Century Schoolbook" pitchFamily="34" charset="-120"/>
              </a:rPr>
              <a:t>Kein einziges der 27 Länder kommt in die Nähe von 84 %.</a:t>
            </a:r>
            <a:endParaRPr lang="en-US" sz="1100" dirty="0"/>
          </a:p>
        </p:txBody>
      </p:sp>
      <p:sp>
        <p:nvSpPr>
          <p:cNvPr id="13" name="Text 11"/>
          <p:cNvSpPr/>
          <p:nvPr/>
        </p:nvSpPr>
        <p:spPr>
          <a:xfrm>
            <a:off x="777240" y="2066544"/>
            <a:ext cx="1965960" cy="292608"/>
          </a:xfrm>
          <a:prstGeom prst="rect">
            <a:avLst/>
          </a:prstGeom>
          <a:noFill/>
          <a:ln/>
        </p:spPr>
        <p:txBody>
          <a:bodyPr wrap="square" lIns="0" tIns="0" rIns="0" bIns="0" rtlCol="0" anchor="ctr"/>
          <a:lstStyle/>
          <a:p>
            <a:pPr indent="0" marL="0">
              <a:buNone/>
            </a:pPr>
            <a:r>
              <a:rPr lang="en-US" sz="1300" b="1" dirty="0">
                <a:solidFill>
                  <a:srgbClr val="17191B"/>
                </a:solidFill>
                <a:latin typeface="Arial" pitchFamily="34" charset="0"/>
                <a:ea typeface="Arial" pitchFamily="34" charset="-122"/>
                <a:cs typeface="Arial" pitchFamily="34" charset="-120"/>
              </a:rPr>
              <a:t>Benzin</a:t>
            </a:r>
            <a:endParaRPr lang="en-US" sz="1300" dirty="0"/>
          </a:p>
        </p:txBody>
      </p:sp>
      <p:sp>
        <p:nvSpPr>
          <p:cNvPr id="14" name="Text 12"/>
          <p:cNvSpPr/>
          <p:nvPr/>
        </p:nvSpPr>
        <p:spPr>
          <a:xfrm>
            <a:off x="777240" y="2377440"/>
            <a:ext cx="1965960" cy="310896"/>
          </a:xfrm>
          <a:prstGeom prst="rect">
            <a:avLst/>
          </a:prstGeom>
          <a:noFill/>
          <a:ln/>
        </p:spPr>
        <p:txBody>
          <a:bodyPr wrap="square" lIns="0" tIns="0" rIns="0" bIns="0" rtlCol="0" anchor="ctr"/>
          <a:lstStyle/>
          <a:p>
            <a:pPr indent="0" marL="0">
              <a:buNone/>
            </a:pPr>
            <a:r>
              <a:rPr lang="en-US" sz="1700" b="1" spc="-50" kern="0" dirty="0">
                <a:solidFill>
                  <a:srgbClr val="17191B"/>
                </a:solidFill>
                <a:latin typeface="Arial" pitchFamily="34" charset="0"/>
                <a:ea typeface="Arial" pitchFamily="34" charset="-122"/>
                <a:cs typeface="Arial" pitchFamily="34" charset="-120"/>
              </a:rPr>
              <a:t>+16 %</a:t>
            </a:r>
            <a:endParaRPr lang="en-US" sz="1700" dirty="0"/>
          </a:p>
        </p:txBody>
      </p:sp>
      <p:sp>
        <p:nvSpPr>
          <p:cNvPr id="15" name="Shape 13"/>
          <p:cNvSpPr/>
          <p:nvPr/>
        </p:nvSpPr>
        <p:spPr>
          <a:xfrm>
            <a:off x="2834640" y="2121408"/>
            <a:ext cx="4315968" cy="237744"/>
          </a:xfrm>
          <a:prstGeom prst="rect">
            <a:avLst/>
          </a:prstGeom>
          <a:solidFill>
            <a:srgbClr val="F4F0E6"/>
          </a:solidFill>
          <a:ln w="15875">
            <a:solidFill>
              <a:srgbClr val="6E7377"/>
            </a:solidFill>
            <a:prstDash val="solid"/>
          </a:ln>
        </p:spPr>
      </p:sp>
      <p:sp>
        <p:nvSpPr>
          <p:cNvPr id="16" name="Shape 14"/>
          <p:cNvSpPr/>
          <p:nvPr/>
        </p:nvSpPr>
        <p:spPr>
          <a:xfrm>
            <a:off x="2834640" y="2423160"/>
            <a:ext cx="5017313" cy="237744"/>
          </a:xfrm>
          <a:prstGeom prst="rect">
            <a:avLst/>
          </a:prstGeom>
          <a:solidFill>
            <a:srgbClr val="17191B"/>
          </a:solidFill>
          <a:ln w="12700">
            <a:solidFill>
              <a:srgbClr val="333333"/>
            </a:solidFill>
            <a:prstDash val="solid"/>
          </a:ln>
        </p:spPr>
      </p:sp>
      <p:sp>
        <p:nvSpPr>
          <p:cNvPr id="17" name="Text 15"/>
          <p:cNvSpPr/>
          <p:nvPr/>
        </p:nvSpPr>
        <p:spPr>
          <a:xfrm>
            <a:off x="7242048" y="2103120"/>
            <a:ext cx="914400" cy="274320"/>
          </a:xfrm>
          <a:prstGeom prst="rect">
            <a:avLst/>
          </a:prstGeom>
          <a:noFill/>
          <a:ln/>
        </p:spPr>
        <p:txBody>
          <a:bodyPr wrap="square" lIns="0" tIns="0" rIns="0" bIns="0" rtlCol="0" anchor="ctr"/>
          <a:lstStyle/>
          <a:p>
            <a:pPr indent="0" marL="0">
              <a:buNone/>
            </a:pPr>
            <a:r>
              <a:rPr lang="en-US" sz="1200" dirty="0">
                <a:solidFill>
                  <a:srgbClr val="6E7377"/>
                </a:solidFill>
                <a:latin typeface="Arial" pitchFamily="34" charset="0"/>
                <a:ea typeface="Arial" pitchFamily="34" charset="-122"/>
                <a:cs typeface="Arial" pitchFamily="34" charset="-120"/>
              </a:rPr>
              <a:t>6,40</a:t>
            </a:r>
            <a:endParaRPr lang="en-US" sz="1200" dirty="0"/>
          </a:p>
        </p:txBody>
      </p:sp>
      <p:sp>
        <p:nvSpPr>
          <p:cNvPr id="18" name="Text 16"/>
          <p:cNvSpPr/>
          <p:nvPr/>
        </p:nvSpPr>
        <p:spPr>
          <a:xfrm>
            <a:off x="7943393" y="2404872"/>
            <a:ext cx="914400" cy="274320"/>
          </a:xfrm>
          <a:prstGeom prst="rect">
            <a:avLst/>
          </a:prstGeom>
          <a:noFill/>
          <a:ln/>
        </p:spPr>
        <p:txBody>
          <a:bodyPr wrap="square" lIns="0" tIns="0" rIns="0" bIns="0" rtlCol="0" anchor="ctr"/>
          <a:lstStyle/>
          <a:p>
            <a:pPr indent="0" marL="0">
              <a:buNone/>
            </a:pPr>
            <a:r>
              <a:rPr lang="en-US" sz="1200" b="1" dirty="0">
                <a:solidFill>
                  <a:srgbClr val="17191B"/>
                </a:solidFill>
                <a:latin typeface="Arial" pitchFamily="34" charset="0"/>
                <a:ea typeface="Arial" pitchFamily="34" charset="-122"/>
                <a:cs typeface="Arial" pitchFamily="34" charset="-120"/>
              </a:rPr>
              <a:t>7,44</a:t>
            </a:r>
            <a:endParaRPr lang="en-US" sz="1200" dirty="0"/>
          </a:p>
        </p:txBody>
      </p:sp>
      <p:sp>
        <p:nvSpPr>
          <p:cNvPr id="19" name="Text 17"/>
          <p:cNvSpPr/>
          <p:nvPr/>
        </p:nvSpPr>
        <p:spPr>
          <a:xfrm>
            <a:off x="777240" y="2999232"/>
            <a:ext cx="1965960" cy="292608"/>
          </a:xfrm>
          <a:prstGeom prst="rect">
            <a:avLst/>
          </a:prstGeom>
          <a:noFill/>
          <a:ln/>
        </p:spPr>
        <p:txBody>
          <a:bodyPr wrap="square" lIns="0" tIns="0" rIns="0" bIns="0" rtlCol="0" anchor="ctr"/>
          <a:lstStyle/>
          <a:p>
            <a:pPr indent="0" marL="0">
              <a:buNone/>
            </a:pPr>
            <a:r>
              <a:rPr lang="en-US" sz="1300" b="1" dirty="0">
                <a:solidFill>
                  <a:srgbClr val="17191B"/>
                </a:solidFill>
                <a:latin typeface="Arial" pitchFamily="34" charset="0"/>
                <a:ea typeface="Arial" pitchFamily="34" charset="-122"/>
                <a:cs typeface="Arial" pitchFamily="34" charset="-120"/>
              </a:rPr>
              <a:t>Diesel</a:t>
            </a:r>
            <a:endParaRPr lang="en-US" sz="1300" dirty="0"/>
          </a:p>
        </p:txBody>
      </p:sp>
      <p:sp>
        <p:nvSpPr>
          <p:cNvPr id="20" name="Text 18"/>
          <p:cNvSpPr/>
          <p:nvPr/>
        </p:nvSpPr>
        <p:spPr>
          <a:xfrm>
            <a:off x="777240" y="3310128"/>
            <a:ext cx="1965960" cy="310896"/>
          </a:xfrm>
          <a:prstGeom prst="rect">
            <a:avLst/>
          </a:prstGeom>
          <a:noFill/>
          <a:ln/>
        </p:spPr>
        <p:txBody>
          <a:bodyPr wrap="square" lIns="0" tIns="0" rIns="0" bIns="0" rtlCol="0" anchor="ctr"/>
          <a:lstStyle/>
          <a:p>
            <a:pPr indent="0" marL="0">
              <a:buNone/>
            </a:pPr>
            <a:r>
              <a:rPr lang="en-US" sz="1700" b="1" spc="-50" kern="0" dirty="0">
                <a:solidFill>
                  <a:srgbClr val="17191B"/>
                </a:solidFill>
                <a:latin typeface="Arial" pitchFamily="34" charset="0"/>
                <a:ea typeface="Arial" pitchFamily="34" charset="-122"/>
                <a:cs typeface="Arial" pitchFamily="34" charset="-120"/>
              </a:rPr>
              <a:t>+17 %</a:t>
            </a:r>
            <a:endParaRPr lang="en-US" sz="1700" dirty="0"/>
          </a:p>
        </p:txBody>
      </p:sp>
      <p:sp>
        <p:nvSpPr>
          <p:cNvPr id="21" name="Shape 19"/>
          <p:cNvSpPr/>
          <p:nvPr/>
        </p:nvSpPr>
        <p:spPr>
          <a:xfrm>
            <a:off x="2834640" y="3054096"/>
            <a:ext cx="3776472" cy="237744"/>
          </a:xfrm>
          <a:prstGeom prst="rect">
            <a:avLst/>
          </a:prstGeom>
          <a:solidFill>
            <a:srgbClr val="F4F0E6"/>
          </a:solidFill>
          <a:ln w="15875">
            <a:solidFill>
              <a:srgbClr val="6E7377"/>
            </a:solidFill>
            <a:prstDash val="solid"/>
          </a:ln>
        </p:spPr>
      </p:sp>
      <p:sp>
        <p:nvSpPr>
          <p:cNvPr id="22" name="Shape 20"/>
          <p:cNvSpPr/>
          <p:nvPr/>
        </p:nvSpPr>
        <p:spPr>
          <a:xfrm>
            <a:off x="2834640" y="3355848"/>
            <a:ext cx="4444098" cy="237744"/>
          </a:xfrm>
          <a:prstGeom prst="rect">
            <a:avLst/>
          </a:prstGeom>
          <a:solidFill>
            <a:srgbClr val="17191B"/>
          </a:solidFill>
          <a:ln w="12700">
            <a:solidFill>
              <a:srgbClr val="333333"/>
            </a:solidFill>
            <a:prstDash val="solid"/>
          </a:ln>
        </p:spPr>
      </p:sp>
      <p:sp>
        <p:nvSpPr>
          <p:cNvPr id="23" name="Text 21"/>
          <p:cNvSpPr/>
          <p:nvPr/>
        </p:nvSpPr>
        <p:spPr>
          <a:xfrm>
            <a:off x="6702552" y="3035808"/>
            <a:ext cx="914400" cy="274320"/>
          </a:xfrm>
          <a:prstGeom prst="rect">
            <a:avLst/>
          </a:prstGeom>
          <a:noFill/>
          <a:ln/>
        </p:spPr>
        <p:txBody>
          <a:bodyPr wrap="square" lIns="0" tIns="0" rIns="0" bIns="0" rtlCol="0" anchor="ctr"/>
          <a:lstStyle/>
          <a:p>
            <a:pPr indent="0" marL="0">
              <a:buNone/>
            </a:pPr>
            <a:r>
              <a:rPr lang="en-US" sz="1200" dirty="0">
                <a:solidFill>
                  <a:srgbClr val="6E7377"/>
                </a:solidFill>
                <a:latin typeface="Arial" pitchFamily="34" charset="0"/>
                <a:ea typeface="Arial" pitchFamily="34" charset="-122"/>
                <a:cs typeface="Arial" pitchFamily="34" charset="-120"/>
              </a:rPr>
              <a:t>5,60</a:t>
            </a:r>
            <a:endParaRPr lang="en-US" sz="1200" dirty="0"/>
          </a:p>
        </p:txBody>
      </p:sp>
      <p:sp>
        <p:nvSpPr>
          <p:cNvPr id="24" name="Text 22"/>
          <p:cNvSpPr/>
          <p:nvPr/>
        </p:nvSpPr>
        <p:spPr>
          <a:xfrm>
            <a:off x="7370178" y="3337560"/>
            <a:ext cx="914400" cy="274320"/>
          </a:xfrm>
          <a:prstGeom prst="rect">
            <a:avLst/>
          </a:prstGeom>
          <a:noFill/>
          <a:ln/>
        </p:spPr>
        <p:txBody>
          <a:bodyPr wrap="square" lIns="0" tIns="0" rIns="0" bIns="0" rtlCol="0" anchor="ctr"/>
          <a:lstStyle/>
          <a:p>
            <a:pPr indent="0" marL="0">
              <a:buNone/>
            </a:pPr>
            <a:r>
              <a:rPr lang="en-US" sz="1200" b="1" dirty="0">
                <a:solidFill>
                  <a:srgbClr val="17191B"/>
                </a:solidFill>
                <a:latin typeface="Arial" pitchFamily="34" charset="0"/>
                <a:ea typeface="Arial" pitchFamily="34" charset="-122"/>
                <a:cs typeface="Arial" pitchFamily="34" charset="-120"/>
              </a:rPr>
              <a:t>6,59</a:t>
            </a:r>
            <a:endParaRPr lang="en-US" sz="1200" dirty="0"/>
          </a:p>
        </p:txBody>
      </p:sp>
      <p:sp>
        <p:nvSpPr>
          <p:cNvPr id="25" name="Text 23"/>
          <p:cNvSpPr/>
          <p:nvPr/>
        </p:nvSpPr>
        <p:spPr>
          <a:xfrm>
            <a:off x="777240" y="3931920"/>
            <a:ext cx="1965960" cy="292608"/>
          </a:xfrm>
          <a:prstGeom prst="rect">
            <a:avLst/>
          </a:prstGeom>
          <a:noFill/>
          <a:ln/>
        </p:spPr>
        <p:txBody>
          <a:bodyPr wrap="square" lIns="0" tIns="0" rIns="0" bIns="0" rtlCol="0" anchor="ctr"/>
          <a:lstStyle/>
          <a:p>
            <a:pPr indent="0" marL="0">
              <a:buNone/>
            </a:pPr>
            <a:r>
              <a:rPr lang="en-US" sz="1300" b="1" dirty="0">
                <a:solidFill>
                  <a:srgbClr val="17191B"/>
                </a:solidFill>
                <a:latin typeface="Arial" pitchFamily="34" charset="0"/>
                <a:ea typeface="Arial" pitchFamily="34" charset="-122"/>
                <a:cs typeface="Arial" pitchFamily="34" charset="-120"/>
              </a:rPr>
              <a:t>Hybrid</a:t>
            </a:r>
            <a:endParaRPr lang="en-US" sz="1300" dirty="0"/>
          </a:p>
        </p:txBody>
      </p:sp>
      <p:sp>
        <p:nvSpPr>
          <p:cNvPr id="26" name="Text 24"/>
          <p:cNvSpPr/>
          <p:nvPr/>
        </p:nvSpPr>
        <p:spPr>
          <a:xfrm>
            <a:off x="777240" y="4242816"/>
            <a:ext cx="1965960" cy="310896"/>
          </a:xfrm>
          <a:prstGeom prst="rect">
            <a:avLst/>
          </a:prstGeom>
          <a:noFill/>
          <a:ln/>
        </p:spPr>
        <p:txBody>
          <a:bodyPr wrap="square" lIns="0" tIns="0" rIns="0" bIns="0" rtlCol="0" anchor="ctr"/>
          <a:lstStyle/>
          <a:p>
            <a:pPr indent="0" marL="0">
              <a:buNone/>
            </a:pPr>
            <a:r>
              <a:rPr lang="en-US" sz="1700" b="1" spc="-50" kern="0" dirty="0">
                <a:solidFill>
                  <a:srgbClr val="17191B"/>
                </a:solidFill>
                <a:latin typeface="Arial" pitchFamily="34" charset="0"/>
                <a:ea typeface="Arial" pitchFamily="34" charset="-122"/>
                <a:cs typeface="Arial" pitchFamily="34" charset="-120"/>
              </a:rPr>
              <a:t>+19 %</a:t>
            </a:r>
            <a:endParaRPr lang="en-US" sz="1700" dirty="0"/>
          </a:p>
        </p:txBody>
      </p:sp>
      <p:sp>
        <p:nvSpPr>
          <p:cNvPr id="27" name="Shape 25"/>
          <p:cNvSpPr/>
          <p:nvPr/>
        </p:nvSpPr>
        <p:spPr>
          <a:xfrm>
            <a:off x="2834640" y="3986784"/>
            <a:ext cx="3978783" cy="237744"/>
          </a:xfrm>
          <a:prstGeom prst="rect">
            <a:avLst/>
          </a:prstGeom>
          <a:solidFill>
            <a:srgbClr val="F4F0E6"/>
          </a:solidFill>
          <a:ln w="15875">
            <a:solidFill>
              <a:srgbClr val="6E7377"/>
            </a:solidFill>
            <a:prstDash val="solid"/>
          </a:ln>
        </p:spPr>
      </p:sp>
      <p:sp>
        <p:nvSpPr>
          <p:cNvPr id="28" name="Shape 26"/>
          <p:cNvSpPr/>
          <p:nvPr/>
        </p:nvSpPr>
        <p:spPr>
          <a:xfrm>
            <a:off x="2834640" y="4288536"/>
            <a:ext cx="4767796" cy="237744"/>
          </a:xfrm>
          <a:prstGeom prst="rect">
            <a:avLst/>
          </a:prstGeom>
          <a:solidFill>
            <a:srgbClr val="17191B"/>
          </a:solidFill>
          <a:ln w="12700">
            <a:solidFill>
              <a:srgbClr val="333333"/>
            </a:solidFill>
            <a:prstDash val="solid"/>
          </a:ln>
        </p:spPr>
      </p:sp>
      <p:sp>
        <p:nvSpPr>
          <p:cNvPr id="29" name="Text 27"/>
          <p:cNvSpPr/>
          <p:nvPr/>
        </p:nvSpPr>
        <p:spPr>
          <a:xfrm>
            <a:off x="6904863" y="3968496"/>
            <a:ext cx="914400" cy="274320"/>
          </a:xfrm>
          <a:prstGeom prst="rect">
            <a:avLst/>
          </a:prstGeom>
          <a:noFill/>
          <a:ln/>
        </p:spPr>
        <p:txBody>
          <a:bodyPr wrap="square" lIns="0" tIns="0" rIns="0" bIns="0" rtlCol="0" anchor="ctr"/>
          <a:lstStyle/>
          <a:p>
            <a:pPr indent="0" marL="0">
              <a:buNone/>
            </a:pPr>
            <a:r>
              <a:rPr lang="en-US" sz="1200" dirty="0">
                <a:solidFill>
                  <a:srgbClr val="6E7377"/>
                </a:solidFill>
                <a:latin typeface="Arial" pitchFamily="34" charset="0"/>
                <a:ea typeface="Arial" pitchFamily="34" charset="-122"/>
                <a:cs typeface="Arial" pitchFamily="34" charset="-120"/>
              </a:rPr>
              <a:t>5,90</a:t>
            </a:r>
            <a:endParaRPr lang="en-US" sz="1200" dirty="0"/>
          </a:p>
        </p:txBody>
      </p:sp>
      <p:sp>
        <p:nvSpPr>
          <p:cNvPr id="30" name="Text 28"/>
          <p:cNvSpPr/>
          <p:nvPr/>
        </p:nvSpPr>
        <p:spPr>
          <a:xfrm>
            <a:off x="7693876" y="4270248"/>
            <a:ext cx="914400" cy="274320"/>
          </a:xfrm>
          <a:prstGeom prst="rect">
            <a:avLst/>
          </a:prstGeom>
          <a:noFill/>
          <a:ln/>
        </p:spPr>
        <p:txBody>
          <a:bodyPr wrap="square" lIns="0" tIns="0" rIns="0" bIns="0" rtlCol="0" anchor="ctr"/>
          <a:lstStyle/>
          <a:p>
            <a:pPr indent="0" marL="0">
              <a:buNone/>
            </a:pPr>
            <a:r>
              <a:rPr lang="en-US" sz="1200" b="1" dirty="0">
                <a:solidFill>
                  <a:srgbClr val="17191B"/>
                </a:solidFill>
                <a:latin typeface="Arial" pitchFamily="34" charset="0"/>
                <a:ea typeface="Arial" pitchFamily="34" charset="-122"/>
                <a:cs typeface="Arial" pitchFamily="34" charset="-120"/>
              </a:rPr>
              <a:t>7,07</a:t>
            </a:r>
            <a:endParaRPr lang="en-US" sz="1200" dirty="0"/>
          </a:p>
        </p:txBody>
      </p:sp>
      <p:sp>
        <p:nvSpPr>
          <p:cNvPr id="31" name="Text 29"/>
          <p:cNvSpPr/>
          <p:nvPr/>
        </p:nvSpPr>
        <p:spPr>
          <a:xfrm>
            <a:off x="777240" y="4864608"/>
            <a:ext cx="1965960" cy="292608"/>
          </a:xfrm>
          <a:prstGeom prst="rect">
            <a:avLst/>
          </a:prstGeom>
          <a:noFill/>
          <a:ln/>
        </p:spPr>
        <p:txBody>
          <a:bodyPr wrap="square" lIns="0" tIns="0" rIns="0" bIns="0" rtlCol="0" anchor="ctr"/>
          <a:lstStyle/>
          <a:p>
            <a:pPr indent="0" marL="0">
              <a:buNone/>
            </a:pPr>
            <a:r>
              <a:rPr lang="en-US" sz="1300" b="1" dirty="0">
                <a:solidFill>
                  <a:srgbClr val="17191B"/>
                </a:solidFill>
                <a:latin typeface="Arial" pitchFamily="34" charset="0"/>
                <a:ea typeface="Arial" pitchFamily="34" charset="-122"/>
                <a:cs typeface="Arial" pitchFamily="34" charset="-120"/>
              </a:rPr>
              <a:t>Plug-in-Hybrid</a:t>
            </a:r>
            <a:endParaRPr lang="en-US" sz="1300" dirty="0"/>
          </a:p>
        </p:txBody>
      </p:sp>
      <p:sp>
        <p:nvSpPr>
          <p:cNvPr id="32" name="Text 30"/>
          <p:cNvSpPr/>
          <p:nvPr/>
        </p:nvSpPr>
        <p:spPr>
          <a:xfrm>
            <a:off x="777240" y="5175504"/>
            <a:ext cx="1965960" cy="310896"/>
          </a:xfrm>
          <a:prstGeom prst="rect">
            <a:avLst/>
          </a:prstGeom>
          <a:noFill/>
          <a:ln/>
        </p:spPr>
        <p:txBody>
          <a:bodyPr wrap="square" lIns="0" tIns="0" rIns="0" bIns="0" rtlCol="0" anchor="ctr"/>
          <a:lstStyle/>
          <a:p>
            <a:pPr indent="0" marL="0">
              <a:buNone/>
            </a:pPr>
            <a:r>
              <a:rPr lang="en-US" sz="1700" b="1" spc="-50" kern="0" dirty="0">
                <a:solidFill>
                  <a:srgbClr val="E0442B"/>
                </a:solidFill>
                <a:latin typeface="Arial" pitchFamily="34" charset="0"/>
                <a:ea typeface="Arial" pitchFamily="34" charset="-122"/>
                <a:cs typeface="Arial" pitchFamily="34" charset="-120"/>
              </a:rPr>
              <a:t>+321 %</a:t>
            </a:r>
            <a:endParaRPr lang="en-US" sz="1700" dirty="0"/>
          </a:p>
        </p:txBody>
      </p:sp>
      <p:sp>
        <p:nvSpPr>
          <p:cNvPr id="33" name="Shape 31"/>
          <p:cNvSpPr/>
          <p:nvPr/>
        </p:nvSpPr>
        <p:spPr>
          <a:xfrm>
            <a:off x="2834640" y="4919472"/>
            <a:ext cx="944118" cy="237744"/>
          </a:xfrm>
          <a:prstGeom prst="rect">
            <a:avLst/>
          </a:prstGeom>
          <a:solidFill>
            <a:srgbClr val="F4F0E6"/>
          </a:solidFill>
          <a:ln w="15875">
            <a:solidFill>
              <a:srgbClr val="6E7377"/>
            </a:solidFill>
            <a:prstDash val="solid"/>
          </a:ln>
        </p:spPr>
      </p:sp>
      <p:sp>
        <p:nvSpPr>
          <p:cNvPr id="34" name="Shape 32"/>
          <p:cNvSpPr/>
          <p:nvPr/>
        </p:nvSpPr>
        <p:spPr>
          <a:xfrm>
            <a:off x="2834640" y="5221224"/>
            <a:ext cx="4086682" cy="237744"/>
          </a:xfrm>
          <a:prstGeom prst="rect">
            <a:avLst/>
          </a:prstGeom>
          <a:solidFill>
            <a:srgbClr val="E0442B"/>
          </a:solidFill>
          <a:ln w="12700">
            <a:solidFill>
              <a:srgbClr val="333333"/>
            </a:solidFill>
            <a:prstDash val="solid"/>
          </a:ln>
        </p:spPr>
      </p:sp>
      <p:sp>
        <p:nvSpPr>
          <p:cNvPr id="35" name="Text 33"/>
          <p:cNvSpPr/>
          <p:nvPr/>
        </p:nvSpPr>
        <p:spPr>
          <a:xfrm>
            <a:off x="3870198" y="4901184"/>
            <a:ext cx="914400" cy="274320"/>
          </a:xfrm>
          <a:prstGeom prst="rect">
            <a:avLst/>
          </a:prstGeom>
          <a:noFill/>
          <a:ln/>
        </p:spPr>
        <p:txBody>
          <a:bodyPr wrap="square" lIns="0" tIns="0" rIns="0" bIns="0" rtlCol="0" anchor="ctr"/>
          <a:lstStyle/>
          <a:p>
            <a:pPr indent="0" marL="0">
              <a:buNone/>
            </a:pPr>
            <a:r>
              <a:rPr lang="en-US" sz="1200" dirty="0">
                <a:solidFill>
                  <a:srgbClr val="6E7377"/>
                </a:solidFill>
                <a:latin typeface="Arial" pitchFamily="34" charset="0"/>
                <a:ea typeface="Arial" pitchFamily="34" charset="-122"/>
                <a:cs typeface="Arial" pitchFamily="34" charset="-120"/>
              </a:rPr>
              <a:t>1,40</a:t>
            </a:r>
            <a:endParaRPr lang="en-US" sz="1200" dirty="0"/>
          </a:p>
        </p:txBody>
      </p:sp>
      <p:sp>
        <p:nvSpPr>
          <p:cNvPr id="36" name="Text 34"/>
          <p:cNvSpPr/>
          <p:nvPr/>
        </p:nvSpPr>
        <p:spPr>
          <a:xfrm>
            <a:off x="7012762" y="5202936"/>
            <a:ext cx="914400" cy="274320"/>
          </a:xfrm>
          <a:prstGeom prst="rect">
            <a:avLst/>
          </a:prstGeom>
          <a:noFill/>
          <a:ln/>
        </p:spPr>
        <p:txBody>
          <a:bodyPr wrap="square" lIns="0" tIns="0" rIns="0" bIns="0" rtlCol="0" anchor="ctr"/>
          <a:lstStyle/>
          <a:p>
            <a:pPr indent="0" marL="0">
              <a:buNone/>
            </a:pPr>
            <a:r>
              <a:rPr lang="en-US" sz="1200" b="1" dirty="0">
                <a:solidFill>
                  <a:srgbClr val="E0442B"/>
                </a:solidFill>
                <a:latin typeface="Arial" pitchFamily="34" charset="0"/>
                <a:ea typeface="Arial" pitchFamily="34" charset="-122"/>
                <a:cs typeface="Arial" pitchFamily="34" charset="-120"/>
              </a:rPr>
              <a:t>6,06</a:t>
            </a:r>
            <a:endParaRPr lang="en-US" sz="1200" dirty="0"/>
          </a:p>
        </p:txBody>
      </p:sp>
      <p:sp>
        <p:nvSpPr>
          <p:cNvPr id="37" name="Text 35"/>
          <p:cNvSpPr/>
          <p:nvPr/>
        </p:nvSpPr>
        <p:spPr>
          <a:xfrm>
            <a:off x="2834640" y="5815584"/>
            <a:ext cx="4572000" cy="256032"/>
          </a:xfrm>
          <a:prstGeom prst="rect">
            <a:avLst/>
          </a:prstGeom>
          <a:noFill/>
          <a:ln/>
        </p:spPr>
        <p:txBody>
          <a:bodyPr wrap="square" lIns="0" tIns="0" rIns="0" bIns="0" rtlCol="0" anchor="ctr"/>
          <a:lstStyle/>
          <a:p>
            <a:pPr indent="0" marL="0">
              <a:buNone/>
            </a:pPr>
            <a:r>
              <a:rPr lang="en-US" sz="1000" spc="80" kern="0" dirty="0">
                <a:solidFill>
                  <a:srgbClr val="6E7377"/>
                </a:solidFill>
                <a:latin typeface="Arial" pitchFamily="34" charset="0"/>
                <a:ea typeface="Arial" pitchFamily="34" charset="-122"/>
                <a:cs typeface="Arial" pitchFamily="34" charset="-120"/>
              </a:rPr>
              <a:t>Laborwert (Kontur)   ·   gemessen (Fläche)</a:t>
            </a:r>
            <a:endParaRPr lang="en-US" sz="1000" dirty="0"/>
          </a:p>
        </p:txBody>
      </p:sp>
      <p:sp>
        <p:nvSpPr>
          <p:cNvPr id="38" name="Text 36"/>
          <p:cNvSpPr/>
          <p:nvPr/>
        </p:nvSpPr>
        <p:spPr>
          <a:xfrm>
            <a:off x="777240" y="6327648"/>
            <a:ext cx="10637215" cy="274320"/>
          </a:xfrm>
          <a:prstGeom prst="rect">
            <a:avLst/>
          </a:prstGeom>
          <a:noFill/>
          <a:ln/>
        </p:spPr>
        <p:txBody>
          <a:bodyPr wrap="square" lIns="0" tIns="0" rIns="0" bIns="0" rtlCol="0" anchor="ctr"/>
          <a:lstStyle/>
          <a:p>
            <a:pPr indent="0" marL="0">
              <a:buNone/>
            </a:pPr>
            <a:r>
              <a:rPr lang="en-US" sz="950" spc="60" kern="0" dirty="0">
                <a:solidFill>
                  <a:srgbClr val="6E7377"/>
                </a:solidFill>
                <a:latin typeface="Arial" pitchFamily="34" charset="0"/>
                <a:ea typeface="Arial" pitchFamily="34" charset="-122"/>
                <a:cs typeface="Arial" pitchFamily="34" charset="-120"/>
              </a:rPr>
              <a:t>PERCENTILE_CONT(0.5) — Median statt Mittelwert, weil die Verteilung rechtsschief ist · P90 beim PHEV: +666,5 %</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0E6"/>
        </a:solidFill>
      </p:bgPr>
    </p:bg>
    <p:spTree>
      <p:nvGrpSpPr>
        <p:cNvPr id="1" name=""/>
        <p:cNvGrpSpPr/>
        <p:nvPr/>
      </p:nvGrpSpPr>
      <p:grpSpPr>
        <a:xfrm>
          <a:off x="0" y="0"/>
          <a:ext cx="0" cy="0"/>
          <a:chOff x="0" y="0"/>
          <a:chExt cx="0" cy="0"/>
        </a:xfrm>
      </p:grpSpPr>
      <p:sp>
        <p:nvSpPr>
          <p:cNvPr id="2" name="Text 0"/>
          <p:cNvSpPr/>
          <p:nvPr/>
        </p:nvSpPr>
        <p:spPr>
          <a:xfrm>
            <a:off x="777240" y="475488"/>
            <a:ext cx="10637215" cy="256032"/>
          </a:xfrm>
          <a:prstGeom prst="rect">
            <a:avLst/>
          </a:prstGeom>
          <a:noFill/>
          <a:ln/>
        </p:spPr>
        <p:txBody>
          <a:bodyPr wrap="square" lIns="0" tIns="0" rIns="0" bIns="0" rtlCol="0" anchor="ctr"/>
          <a:lstStyle/>
          <a:p>
            <a:pPr indent="0" marL="0">
              <a:buNone/>
            </a:pPr>
            <a:r>
              <a:rPr lang="en-US" sz="1100" b="1" spc="300" kern="0" dirty="0">
                <a:solidFill>
                  <a:srgbClr val="E0442B"/>
                </a:solidFill>
                <a:latin typeface="Arial" pitchFamily="34" charset="0"/>
                <a:ea typeface="Arial" pitchFamily="34" charset="-122"/>
                <a:cs typeface="Arial" pitchFamily="34" charset="-120"/>
              </a:rPr>
              <a:t>06</a:t>
            </a:r>
            <a:pPr indent="0" marL="0">
              <a:buNone/>
            </a:pPr>
            <a:r>
              <a:rPr lang="en-US" sz="1100" b="1" spc="300" kern="0" dirty="0">
                <a:solidFill>
                  <a:srgbClr val="6E7377"/>
                </a:solidFill>
                <a:latin typeface="Arial" pitchFamily="34" charset="0"/>
                <a:ea typeface="Arial" pitchFamily="34" charset="-122"/>
                <a:cs typeface="Arial" pitchFamily="34" charset="-120"/>
              </a:rPr>
              <a:t>   HERSTELLER</a:t>
            </a:r>
            <a:endParaRPr lang="en-US" sz="1100" dirty="0"/>
          </a:p>
        </p:txBody>
      </p:sp>
      <p:sp>
        <p:nvSpPr>
          <p:cNvPr id="3" name="Text 1"/>
          <p:cNvSpPr/>
          <p:nvPr/>
        </p:nvSpPr>
        <p:spPr>
          <a:xfrm>
            <a:off x="777240" y="841248"/>
            <a:ext cx="10637215" cy="777240"/>
          </a:xfrm>
          <a:prstGeom prst="rect">
            <a:avLst/>
          </a:prstGeom>
          <a:noFill/>
          <a:ln/>
        </p:spPr>
        <p:txBody>
          <a:bodyPr wrap="square" lIns="0" tIns="0" rIns="0" bIns="0" rtlCol="0" anchor="ctr"/>
          <a:lstStyle/>
          <a:p>
            <a:pPr indent="0" marL="0">
              <a:buNone/>
            </a:pPr>
            <a:r>
              <a:rPr lang="en-US" sz="3400" b="1" spc="-120" kern="0" dirty="0">
                <a:solidFill>
                  <a:srgbClr val="17191B"/>
                </a:solidFill>
                <a:latin typeface="Arial" pitchFamily="34" charset="0"/>
                <a:ea typeface="Arial" pitchFamily="34" charset="-122"/>
                <a:cs typeface="Arial" pitchFamily="34" charset="-120"/>
              </a:rPr>
              <a:t>Wer hält sein Versprechen?</a:t>
            </a:r>
            <a:endParaRPr lang="en-US" sz="3400" dirty="0"/>
          </a:p>
        </p:txBody>
      </p:sp>
      <p:sp>
        <p:nvSpPr>
          <p:cNvPr id="4" name="Text 2"/>
          <p:cNvSpPr/>
          <p:nvPr/>
        </p:nvSpPr>
        <p:spPr>
          <a:xfrm>
            <a:off x="777240" y="1554480"/>
            <a:ext cx="8297028" cy="457200"/>
          </a:xfrm>
          <a:prstGeom prst="rect">
            <a:avLst/>
          </a:prstGeom>
          <a:noFill/>
          <a:ln/>
        </p:spPr>
        <p:txBody>
          <a:bodyPr wrap="square" lIns="0" tIns="0" rIns="0" bIns="0" rtlCol="0" anchor="ctr"/>
          <a:lstStyle/>
          <a:p>
            <a:pPr indent="0" marL="0">
              <a:buNone/>
            </a:pPr>
            <a:r>
              <a:rPr lang="en-US" sz="1400" dirty="0">
                <a:solidFill>
                  <a:srgbClr val="6E7377"/>
                </a:solidFill>
                <a:latin typeface="Arial" pitchFamily="34" charset="0"/>
                <a:ea typeface="Arial" pitchFamily="34" charset="-122"/>
                <a:cs typeface="Arial" pitchFamily="34" charset="-120"/>
              </a:rPr>
              <a:t>Nur reine Verbrenner — sonst misst die Rangliste den Antriebsmix statt der Motorentechnik.</a:t>
            </a:r>
            <a:endParaRPr lang="en-US" sz="1400" dirty="0"/>
          </a:p>
        </p:txBody>
      </p:sp>
      <p:sp>
        <p:nvSpPr>
          <p:cNvPr id="5" name="Text 3"/>
          <p:cNvSpPr/>
          <p:nvPr/>
        </p:nvSpPr>
        <p:spPr>
          <a:xfrm>
            <a:off x="777240" y="2066544"/>
            <a:ext cx="1965960" cy="292608"/>
          </a:xfrm>
          <a:prstGeom prst="rect">
            <a:avLst/>
          </a:prstGeom>
          <a:noFill/>
          <a:ln/>
        </p:spPr>
        <p:txBody>
          <a:bodyPr wrap="square" lIns="0" tIns="0" rIns="0" bIns="0" rtlCol="0" anchor="ctr"/>
          <a:lstStyle/>
          <a:p>
            <a:pPr indent="0" marL="0">
              <a:buNone/>
            </a:pPr>
            <a:r>
              <a:rPr lang="en-US" sz="1300" b="1" dirty="0">
                <a:solidFill>
                  <a:srgbClr val="17191B"/>
                </a:solidFill>
                <a:latin typeface="Arial" pitchFamily="34" charset="0"/>
                <a:ea typeface="Arial" pitchFamily="34" charset="-122"/>
                <a:cs typeface="Arial" pitchFamily="34" charset="-120"/>
              </a:rPr>
              <a:t>Mazda</a:t>
            </a:r>
            <a:endParaRPr lang="en-US" sz="1300" dirty="0"/>
          </a:p>
        </p:txBody>
      </p:sp>
      <p:sp>
        <p:nvSpPr>
          <p:cNvPr id="6" name="Text 4"/>
          <p:cNvSpPr/>
          <p:nvPr/>
        </p:nvSpPr>
        <p:spPr>
          <a:xfrm>
            <a:off x="777240" y="2377440"/>
            <a:ext cx="1965960" cy="310896"/>
          </a:xfrm>
          <a:prstGeom prst="rect">
            <a:avLst/>
          </a:prstGeom>
          <a:noFill/>
          <a:ln/>
        </p:spPr>
        <p:txBody>
          <a:bodyPr wrap="square" lIns="0" tIns="0" rIns="0" bIns="0" rtlCol="0" anchor="ctr"/>
          <a:lstStyle/>
          <a:p>
            <a:pPr indent="0" marL="0">
              <a:buNone/>
            </a:pPr>
            <a:r>
              <a:rPr lang="en-US" sz="1700" b="1" spc="-50" kern="0" dirty="0">
                <a:solidFill>
                  <a:srgbClr val="2E8B62"/>
                </a:solidFill>
                <a:latin typeface="Arial" pitchFamily="34" charset="0"/>
                <a:ea typeface="Arial" pitchFamily="34" charset="-122"/>
                <a:cs typeface="Arial" pitchFamily="34" charset="-120"/>
              </a:rPr>
              <a:t>+11,4 %</a:t>
            </a:r>
            <a:endParaRPr lang="en-US" sz="1700" dirty="0"/>
          </a:p>
        </p:txBody>
      </p:sp>
      <p:sp>
        <p:nvSpPr>
          <p:cNvPr id="7" name="Shape 5"/>
          <p:cNvSpPr/>
          <p:nvPr/>
        </p:nvSpPr>
        <p:spPr>
          <a:xfrm>
            <a:off x="2834640" y="2121408"/>
            <a:ext cx="1982942" cy="237744"/>
          </a:xfrm>
          <a:prstGeom prst="rect">
            <a:avLst/>
          </a:prstGeom>
          <a:solidFill>
            <a:srgbClr val="F4F0E6"/>
          </a:solidFill>
          <a:ln w="15875">
            <a:solidFill>
              <a:srgbClr val="6E7377"/>
            </a:solidFill>
            <a:prstDash val="solid"/>
          </a:ln>
        </p:spPr>
      </p:sp>
      <p:sp>
        <p:nvSpPr>
          <p:cNvPr id="8" name="Shape 6"/>
          <p:cNvSpPr/>
          <p:nvPr/>
        </p:nvSpPr>
        <p:spPr>
          <a:xfrm>
            <a:off x="2834640" y="2423160"/>
            <a:ext cx="2192731" cy="237744"/>
          </a:xfrm>
          <a:prstGeom prst="rect">
            <a:avLst/>
          </a:prstGeom>
          <a:solidFill>
            <a:srgbClr val="2E8B62"/>
          </a:solidFill>
          <a:ln w="12700">
            <a:solidFill>
              <a:srgbClr val="333333"/>
            </a:solidFill>
            <a:prstDash val="solid"/>
          </a:ln>
        </p:spPr>
      </p:sp>
      <p:sp>
        <p:nvSpPr>
          <p:cNvPr id="9" name="Text 7"/>
          <p:cNvSpPr/>
          <p:nvPr/>
        </p:nvSpPr>
        <p:spPr>
          <a:xfrm>
            <a:off x="4909022" y="2103120"/>
            <a:ext cx="914400" cy="274320"/>
          </a:xfrm>
          <a:prstGeom prst="rect">
            <a:avLst/>
          </a:prstGeom>
          <a:noFill/>
          <a:ln/>
        </p:spPr>
        <p:txBody>
          <a:bodyPr wrap="square" lIns="0" tIns="0" rIns="0" bIns="0" rtlCol="0" anchor="ctr"/>
          <a:lstStyle/>
          <a:p>
            <a:pPr indent="0" marL="0">
              <a:buNone/>
            </a:pPr>
            <a:r>
              <a:rPr lang="en-US" sz="1200" dirty="0">
                <a:solidFill>
                  <a:srgbClr val="6E7377"/>
                </a:solidFill>
                <a:latin typeface="Arial" pitchFamily="34" charset="0"/>
                <a:ea typeface="Arial" pitchFamily="34" charset="-122"/>
                <a:cs typeface="Arial" pitchFamily="34" charset="-120"/>
              </a:rPr>
              <a:t>6,90</a:t>
            </a:r>
            <a:endParaRPr lang="en-US" sz="1200" dirty="0"/>
          </a:p>
        </p:txBody>
      </p:sp>
      <p:sp>
        <p:nvSpPr>
          <p:cNvPr id="10" name="Text 8"/>
          <p:cNvSpPr/>
          <p:nvPr/>
        </p:nvSpPr>
        <p:spPr>
          <a:xfrm>
            <a:off x="5118811" y="2404872"/>
            <a:ext cx="914400" cy="274320"/>
          </a:xfrm>
          <a:prstGeom prst="rect">
            <a:avLst/>
          </a:prstGeom>
          <a:noFill/>
          <a:ln/>
        </p:spPr>
        <p:txBody>
          <a:bodyPr wrap="square" lIns="0" tIns="0" rIns="0" bIns="0" rtlCol="0" anchor="ctr"/>
          <a:lstStyle/>
          <a:p>
            <a:pPr indent="0" marL="0">
              <a:buNone/>
            </a:pPr>
            <a:r>
              <a:rPr lang="en-US" sz="1200" b="1" dirty="0">
                <a:solidFill>
                  <a:srgbClr val="2E8B62"/>
                </a:solidFill>
                <a:latin typeface="Arial" pitchFamily="34" charset="0"/>
                <a:ea typeface="Arial" pitchFamily="34" charset="-122"/>
                <a:cs typeface="Arial" pitchFamily="34" charset="-120"/>
              </a:rPr>
              <a:t>7,63</a:t>
            </a:r>
            <a:endParaRPr lang="en-US" sz="1200" dirty="0"/>
          </a:p>
        </p:txBody>
      </p:sp>
      <p:sp>
        <p:nvSpPr>
          <p:cNvPr id="11" name="Text 9"/>
          <p:cNvSpPr/>
          <p:nvPr/>
        </p:nvSpPr>
        <p:spPr>
          <a:xfrm>
            <a:off x="777240" y="2706624"/>
            <a:ext cx="1965960" cy="292608"/>
          </a:xfrm>
          <a:prstGeom prst="rect">
            <a:avLst/>
          </a:prstGeom>
          <a:noFill/>
          <a:ln/>
        </p:spPr>
        <p:txBody>
          <a:bodyPr wrap="square" lIns="0" tIns="0" rIns="0" bIns="0" rtlCol="0" anchor="ctr"/>
          <a:lstStyle/>
          <a:p>
            <a:pPr indent="0" marL="0">
              <a:buNone/>
            </a:pPr>
            <a:r>
              <a:rPr lang="en-US" sz="1300" b="1" dirty="0">
                <a:solidFill>
                  <a:srgbClr val="17191B"/>
                </a:solidFill>
                <a:latin typeface="Arial" pitchFamily="34" charset="0"/>
                <a:ea typeface="Arial" pitchFamily="34" charset="-122"/>
                <a:cs typeface="Arial" pitchFamily="34" charset="-120"/>
              </a:rPr>
              <a:t>Porsche</a:t>
            </a:r>
            <a:endParaRPr lang="en-US" sz="1300" dirty="0"/>
          </a:p>
        </p:txBody>
      </p:sp>
      <p:sp>
        <p:nvSpPr>
          <p:cNvPr id="12" name="Text 10"/>
          <p:cNvSpPr/>
          <p:nvPr/>
        </p:nvSpPr>
        <p:spPr>
          <a:xfrm>
            <a:off x="777240" y="3017520"/>
            <a:ext cx="1965960" cy="310896"/>
          </a:xfrm>
          <a:prstGeom prst="rect">
            <a:avLst/>
          </a:prstGeom>
          <a:noFill/>
          <a:ln/>
        </p:spPr>
        <p:txBody>
          <a:bodyPr wrap="square" lIns="0" tIns="0" rIns="0" bIns="0" rtlCol="0" anchor="ctr"/>
          <a:lstStyle/>
          <a:p>
            <a:pPr indent="0" marL="0">
              <a:buNone/>
            </a:pPr>
            <a:r>
              <a:rPr lang="en-US" sz="1700" b="1" spc="-50" kern="0" dirty="0">
                <a:solidFill>
                  <a:srgbClr val="2E8B62"/>
                </a:solidFill>
                <a:latin typeface="Arial" pitchFamily="34" charset="0"/>
                <a:ea typeface="Arial" pitchFamily="34" charset="-122"/>
                <a:cs typeface="Arial" pitchFamily="34" charset="-120"/>
              </a:rPr>
              <a:t>+11,5 %</a:t>
            </a:r>
            <a:endParaRPr lang="en-US" sz="1700" dirty="0"/>
          </a:p>
        </p:txBody>
      </p:sp>
      <p:sp>
        <p:nvSpPr>
          <p:cNvPr id="13" name="Shape 11"/>
          <p:cNvSpPr/>
          <p:nvPr/>
        </p:nvSpPr>
        <p:spPr>
          <a:xfrm>
            <a:off x="2834640" y="2761488"/>
            <a:ext cx="3161211" cy="237744"/>
          </a:xfrm>
          <a:prstGeom prst="rect">
            <a:avLst/>
          </a:prstGeom>
          <a:solidFill>
            <a:srgbClr val="F4F0E6"/>
          </a:solidFill>
          <a:ln w="15875">
            <a:solidFill>
              <a:srgbClr val="6E7377"/>
            </a:solidFill>
            <a:prstDash val="solid"/>
          </a:ln>
        </p:spPr>
      </p:sp>
      <p:sp>
        <p:nvSpPr>
          <p:cNvPr id="14" name="Shape 12"/>
          <p:cNvSpPr/>
          <p:nvPr/>
        </p:nvSpPr>
        <p:spPr>
          <a:xfrm>
            <a:off x="2834640" y="3063240"/>
            <a:ext cx="3537683" cy="237744"/>
          </a:xfrm>
          <a:prstGeom prst="rect">
            <a:avLst/>
          </a:prstGeom>
          <a:solidFill>
            <a:srgbClr val="2E8B62"/>
          </a:solidFill>
          <a:ln w="12700">
            <a:solidFill>
              <a:srgbClr val="333333"/>
            </a:solidFill>
            <a:prstDash val="solid"/>
          </a:ln>
        </p:spPr>
      </p:sp>
      <p:sp>
        <p:nvSpPr>
          <p:cNvPr id="15" name="Text 13"/>
          <p:cNvSpPr/>
          <p:nvPr/>
        </p:nvSpPr>
        <p:spPr>
          <a:xfrm>
            <a:off x="6087291" y="2743200"/>
            <a:ext cx="914400" cy="274320"/>
          </a:xfrm>
          <a:prstGeom prst="rect">
            <a:avLst/>
          </a:prstGeom>
          <a:noFill/>
          <a:ln/>
        </p:spPr>
        <p:txBody>
          <a:bodyPr wrap="square" lIns="0" tIns="0" rIns="0" bIns="0" rtlCol="0" anchor="ctr"/>
          <a:lstStyle/>
          <a:p>
            <a:pPr indent="0" marL="0">
              <a:buNone/>
            </a:pPr>
            <a:r>
              <a:rPr lang="en-US" sz="1200" dirty="0">
                <a:solidFill>
                  <a:srgbClr val="6E7377"/>
                </a:solidFill>
                <a:latin typeface="Arial" pitchFamily="34" charset="0"/>
                <a:ea typeface="Arial" pitchFamily="34" charset="-122"/>
                <a:cs typeface="Arial" pitchFamily="34" charset="-120"/>
              </a:rPr>
              <a:t>11,00</a:t>
            </a:r>
            <a:endParaRPr lang="en-US" sz="1200" dirty="0"/>
          </a:p>
        </p:txBody>
      </p:sp>
      <p:sp>
        <p:nvSpPr>
          <p:cNvPr id="16" name="Text 14"/>
          <p:cNvSpPr/>
          <p:nvPr/>
        </p:nvSpPr>
        <p:spPr>
          <a:xfrm>
            <a:off x="6463763" y="3044952"/>
            <a:ext cx="914400" cy="274320"/>
          </a:xfrm>
          <a:prstGeom prst="rect">
            <a:avLst/>
          </a:prstGeom>
          <a:noFill/>
          <a:ln/>
        </p:spPr>
        <p:txBody>
          <a:bodyPr wrap="square" lIns="0" tIns="0" rIns="0" bIns="0" rtlCol="0" anchor="ctr"/>
          <a:lstStyle/>
          <a:p>
            <a:pPr indent="0" marL="0">
              <a:buNone/>
            </a:pPr>
            <a:r>
              <a:rPr lang="en-US" sz="1200" b="1" dirty="0">
                <a:solidFill>
                  <a:srgbClr val="2E8B62"/>
                </a:solidFill>
                <a:latin typeface="Arial" pitchFamily="34" charset="0"/>
                <a:ea typeface="Arial" pitchFamily="34" charset="-122"/>
                <a:cs typeface="Arial" pitchFamily="34" charset="-120"/>
              </a:rPr>
              <a:t>12,31</a:t>
            </a:r>
            <a:endParaRPr lang="en-US" sz="1200" dirty="0"/>
          </a:p>
        </p:txBody>
      </p:sp>
      <p:sp>
        <p:nvSpPr>
          <p:cNvPr id="17" name="Text 15"/>
          <p:cNvSpPr/>
          <p:nvPr/>
        </p:nvSpPr>
        <p:spPr>
          <a:xfrm>
            <a:off x="777240" y="3346704"/>
            <a:ext cx="1965960" cy="292608"/>
          </a:xfrm>
          <a:prstGeom prst="rect">
            <a:avLst/>
          </a:prstGeom>
          <a:noFill/>
          <a:ln/>
        </p:spPr>
        <p:txBody>
          <a:bodyPr wrap="square" lIns="0" tIns="0" rIns="0" bIns="0" rtlCol="0" anchor="ctr"/>
          <a:lstStyle/>
          <a:p>
            <a:pPr indent="0" marL="0">
              <a:buNone/>
            </a:pPr>
            <a:r>
              <a:rPr lang="en-US" sz="1300" b="1" dirty="0">
                <a:solidFill>
                  <a:srgbClr val="17191B"/>
                </a:solidFill>
                <a:latin typeface="Arial" pitchFamily="34" charset="0"/>
                <a:ea typeface="Arial" pitchFamily="34" charset="-122"/>
                <a:cs typeface="Arial" pitchFamily="34" charset="-120"/>
              </a:rPr>
              <a:t>Volkswagen</a:t>
            </a:r>
            <a:endParaRPr lang="en-US" sz="1300" dirty="0"/>
          </a:p>
        </p:txBody>
      </p:sp>
      <p:sp>
        <p:nvSpPr>
          <p:cNvPr id="18" name="Text 16"/>
          <p:cNvSpPr/>
          <p:nvPr/>
        </p:nvSpPr>
        <p:spPr>
          <a:xfrm>
            <a:off x="777240" y="3657600"/>
            <a:ext cx="1965960" cy="310896"/>
          </a:xfrm>
          <a:prstGeom prst="rect">
            <a:avLst/>
          </a:prstGeom>
          <a:noFill/>
          <a:ln/>
        </p:spPr>
        <p:txBody>
          <a:bodyPr wrap="square" lIns="0" tIns="0" rIns="0" bIns="0" rtlCol="0" anchor="ctr"/>
          <a:lstStyle/>
          <a:p>
            <a:pPr indent="0" marL="0">
              <a:buNone/>
            </a:pPr>
            <a:r>
              <a:rPr lang="en-US" sz="1700" b="1" spc="-50" kern="0" dirty="0">
                <a:solidFill>
                  <a:srgbClr val="17191B"/>
                </a:solidFill>
                <a:latin typeface="Arial" pitchFamily="34" charset="0"/>
                <a:ea typeface="Arial" pitchFamily="34" charset="-122"/>
                <a:cs typeface="Arial" pitchFamily="34" charset="-120"/>
              </a:rPr>
              <a:t>+14,3 %</a:t>
            </a:r>
            <a:endParaRPr lang="en-US" sz="1700" dirty="0"/>
          </a:p>
        </p:txBody>
      </p:sp>
      <p:sp>
        <p:nvSpPr>
          <p:cNvPr id="19" name="Shape 17"/>
          <p:cNvSpPr/>
          <p:nvPr/>
        </p:nvSpPr>
        <p:spPr>
          <a:xfrm>
            <a:off x="2834640" y="3401568"/>
            <a:ext cx="1724297" cy="237744"/>
          </a:xfrm>
          <a:prstGeom prst="rect">
            <a:avLst/>
          </a:prstGeom>
          <a:solidFill>
            <a:srgbClr val="F4F0E6"/>
          </a:solidFill>
          <a:ln w="15875">
            <a:solidFill>
              <a:srgbClr val="6E7377"/>
            </a:solidFill>
            <a:prstDash val="solid"/>
          </a:ln>
        </p:spPr>
      </p:sp>
      <p:sp>
        <p:nvSpPr>
          <p:cNvPr id="20" name="Shape 18"/>
          <p:cNvSpPr/>
          <p:nvPr/>
        </p:nvSpPr>
        <p:spPr>
          <a:xfrm>
            <a:off x="2834640" y="3703320"/>
            <a:ext cx="1957077" cy="237744"/>
          </a:xfrm>
          <a:prstGeom prst="rect">
            <a:avLst/>
          </a:prstGeom>
          <a:solidFill>
            <a:srgbClr val="17191B"/>
          </a:solidFill>
          <a:ln w="12700">
            <a:solidFill>
              <a:srgbClr val="333333"/>
            </a:solidFill>
            <a:prstDash val="solid"/>
          </a:ln>
        </p:spPr>
      </p:sp>
      <p:sp>
        <p:nvSpPr>
          <p:cNvPr id="21" name="Text 19"/>
          <p:cNvSpPr/>
          <p:nvPr/>
        </p:nvSpPr>
        <p:spPr>
          <a:xfrm>
            <a:off x="4650377" y="3383280"/>
            <a:ext cx="914400" cy="274320"/>
          </a:xfrm>
          <a:prstGeom prst="rect">
            <a:avLst/>
          </a:prstGeom>
          <a:noFill/>
          <a:ln/>
        </p:spPr>
        <p:txBody>
          <a:bodyPr wrap="square" lIns="0" tIns="0" rIns="0" bIns="0" rtlCol="0" anchor="ctr"/>
          <a:lstStyle/>
          <a:p>
            <a:pPr indent="0" marL="0">
              <a:buNone/>
            </a:pPr>
            <a:r>
              <a:rPr lang="en-US" sz="1200" dirty="0">
                <a:solidFill>
                  <a:srgbClr val="6E7377"/>
                </a:solidFill>
                <a:latin typeface="Arial" pitchFamily="34" charset="0"/>
                <a:ea typeface="Arial" pitchFamily="34" charset="-122"/>
                <a:cs typeface="Arial" pitchFamily="34" charset="-120"/>
              </a:rPr>
              <a:t>6,00</a:t>
            </a:r>
            <a:endParaRPr lang="en-US" sz="1200" dirty="0"/>
          </a:p>
        </p:txBody>
      </p:sp>
      <p:sp>
        <p:nvSpPr>
          <p:cNvPr id="22" name="Text 20"/>
          <p:cNvSpPr/>
          <p:nvPr/>
        </p:nvSpPr>
        <p:spPr>
          <a:xfrm>
            <a:off x="4883157" y="3685032"/>
            <a:ext cx="914400" cy="274320"/>
          </a:xfrm>
          <a:prstGeom prst="rect">
            <a:avLst/>
          </a:prstGeom>
          <a:noFill/>
          <a:ln/>
        </p:spPr>
        <p:txBody>
          <a:bodyPr wrap="square" lIns="0" tIns="0" rIns="0" bIns="0" rtlCol="0" anchor="ctr"/>
          <a:lstStyle/>
          <a:p>
            <a:pPr indent="0" marL="0">
              <a:buNone/>
            </a:pPr>
            <a:r>
              <a:rPr lang="en-US" sz="1200" b="1" dirty="0">
                <a:solidFill>
                  <a:srgbClr val="17191B"/>
                </a:solidFill>
                <a:latin typeface="Arial" pitchFamily="34" charset="0"/>
                <a:ea typeface="Arial" pitchFamily="34" charset="-122"/>
                <a:cs typeface="Arial" pitchFamily="34" charset="-120"/>
              </a:rPr>
              <a:t>6,81</a:t>
            </a:r>
            <a:endParaRPr lang="en-US" sz="1200" dirty="0"/>
          </a:p>
        </p:txBody>
      </p:sp>
      <p:sp>
        <p:nvSpPr>
          <p:cNvPr id="23" name="Text 21"/>
          <p:cNvSpPr/>
          <p:nvPr/>
        </p:nvSpPr>
        <p:spPr>
          <a:xfrm>
            <a:off x="777240" y="3986784"/>
            <a:ext cx="1965960" cy="292608"/>
          </a:xfrm>
          <a:prstGeom prst="rect">
            <a:avLst/>
          </a:prstGeom>
          <a:noFill/>
          <a:ln/>
        </p:spPr>
        <p:txBody>
          <a:bodyPr wrap="square" lIns="0" tIns="0" rIns="0" bIns="0" rtlCol="0" anchor="ctr"/>
          <a:lstStyle/>
          <a:p>
            <a:pPr indent="0" marL="0">
              <a:buNone/>
            </a:pPr>
            <a:r>
              <a:rPr lang="en-US" sz="1300" b="1" dirty="0">
                <a:solidFill>
                  <a:srgbClr val="17191B"/>
                </a:solidFill>
                <a:latin typeface="Arial" pitchFamily="34" charset="0"/>
                <a:ea typeface="Arial" pitchFamily="34" charset="-122"/>
                <a:cs typeface="Arial" pitchFamily="34" charset="-120"/>
              </a:rPr>
              <a:t>Dacia</a:t>
            </a:r>
            <a:endParaRPr lang="en-US" sz="1300" dirty="0"/>
          </a:p>
        </p:txBody>
      </p:sp>
      <p:sp>
        <p:nvSpPr>
          <p:cNvPr id="24" name="Text 22"/>
          <p:cNvSpPr/>
          <p:nvPr/>
        </p:nvSpPr>
        <p:spPr>
          <a:xfrm>
            <a:off x="777240" y="4297680"/>
            <a:ext cx="1965960" cy="310896"/>
          </a:xfrm>
          <a:prstGeom prst="rect">
            <a:avLst/>
          </a:prstGeom>
          <a:noFill/>
          <a:ln/>
        </p:spPr>
        <p:txBody>
          <a:bodyPr wrap="square" lIns="0" tIns="0" rIns="0" bIns="0" rtlCol="0" anchor="ctr"/>
          <a:lstStyle/>
          <a:p>
            <a:pPr indent="0" marL="0">
              <a:buNone/>
            </a:pPr>
            <a:r>
              <a:rPr lang="en-US" sz="1700" b="1" spc="-50" kern="0" dirty="0">
                <a:solidFill>
                  <a:srgbClr val="E0442B"/>
                </a:solidFill>
                <a:latin typeface="Arial" pitchFamily="34" charset="0"/>
                <a:ea typeface="Arial" pitchFamily="34" charset="-122"/>
                <a:cs typeface="Arial" pitchFamily="34" charset="-120"/>
              </a:rPr>
              <a:t>+22,2 %</a:t>
            </a:r>
            <a:endParaRPr lang="en-US" sz="1700" dirty="0"/>
          </a:p>
        </p:txBody>
      </p:sp>
      <p:sp>
        <p:nvSpPr>
          <p:cNvPr id="25" name="Shape 23"/>
          <p:cNvSpPr/>
          <p:nvPr/>
        </p:nvSpPr>
        <p:spPr>
          <a:xfrm>
            <a:off x="2834640" y="4041648"/>
            <a:ext cx="1609344" cy="237744"/>
          </a:xfrm>
          <a:prstGeom prst="rect">
            <a:avLst/>
          </a:prstGeom>
          <a:solidFill>
            <a:srgbClr val="F4F0E6"/>
          </a:solidFill>
          <a:ln w="15875">
            <a:solidFill>
              <a:srgbClr val="6E7377"/>
            </a:solidFill>
            <a:prstDash val="solid"/>
          </a:ln>
        </p:spPr>
      </p:sp>
      <p:sp>
        <p:nvSpPr>
          <p:cNvPr id="26" name="Shape 24"/>
          <p:cNvSpPr/>
          <p:nvPr/>
        </p:nvSpPr>
        <p:spPr>
          <a:xfrm>
            <a:off x="2834640" y="4343400"/>
            <a:ext cx="1991563" cy="237744"/>
          </a:xfrm>
          <a:prstGeom prst="rect">
            <a:avLst/>
          </a:prstGeom>
          <a:solidFill>
            <a:srgbClr val="E0442B"/>
          </a:solidFill>
          <a:ln w="12700">
            <a:solidFill>
              <a:srgbClr val="333333"/>
            </a:solidFill>
            <a:prstDash val="solid"/>
          </a:ln>
        </p:spPr>
      </p:sp>
      <p:sp>
        <p:nvSpPr>
          <p:cNvPr id="27" name="Text 25"/>
          <p:cNvSpPr/>
          <p:nvPr/>
        </p:nvSpPr>
        <p:spPr>
          <a:xfrm>
            <a:off x="4535424" y="4023360"/>
            <a:ext cx="914400" cy="274320"/>
          </a:xfrm>
          <a:prstGeom prst="rect">
            <a:avLst/>
          </a:prstGeom>
          <a:noFill/>
          <a:ln/>
        </p:spPr>
        <p:txBody>
          <a:bodyPr wrap="square" lIns="0" tIns="0" rIns="0" bIns="0" rtlCol="0" anchor="ctr"/>
          <a:lstStyle/>
          <a:p>
            <a:pPr indent="0" marL="0">
              <a:buNone/>
            </a:pPr>
            <a:r>
              <a:rPr lang="en-US" sz="1200" dirty="0">
                <a:solidFill>
                  <a:srgbClr val="6E7377"/>
                </a:solidFill>
                <a:latin typeface="Arial" pitchFamily="34" charset="0"/>
                <a:ea typeface="Arial" pitchFamily="34" charset="-122"/>
                <a:cs typeface="Arial" pitchFamily="34" charset="-120"/>
              </a:rPr>
              <a:t>5,60</a:t>
            </a:r>
            <a:endParaRPr lang="en-US" sz="1200" dirty="0"/>
          </a:p>
        </p:txBody>
      </p:sp>
      <p:sp>
        <p:nvSpPr>
          <p:cNvPr id="28" name="Text 26"/>
          <p:cNvSpPr/>
          <p:nvPr/>
        </p:nvSpPr>
        <p:spPr>
          <a:xfrm>
            <a:off x="4917643" y="4325112"/>
            <a:ext cx="914400" cy="274320"/>
          </a:xfrm>
          <a:prstGeom prst="rect">
            <a:avLst/>
          </a:prstGeom>
          <a:noFill/>
          <a:ln/>
        </p:spPr>
        <p:txBody>
          <a:bodyPr wrap="square" lIns="0" tIns="0" rIns="0" bIns="0" rtlCol="0" anchor="ctr"/>
          <a:lstStyle/>
          <a:p>
            <a:pPr indent="0" marL="0">
              <a:buNone/>
            </a:pPr>
            <a:r>
              <a:rPr lang="en-US" sz="1200" b="1" dirty="0">
                <a:solidFill>
                  <a:srgbClr val="E0442B"/>
                </a:solidFill>
                <a:latin typeface="Arial" pitchFamily="34" charset="0"/>
                <a:ea typeface="Arial" pitchFamily="34" charset="-122"/>
                <a:cs typeface="Arial" pitchFamily="34" charset="-120"/>
              </a:rPr>
              <a:t>6,93</a:t>
            </a:r>
            <a:endParaRPr lang="en-US" sz="1200" dirty="0"/>
          </a:p>
        </p:txBody>
      </p:sp>
      <p:sp>
        <p:nvSpPr>
          <p:cNvPr id="29" name="Text 27"/>
          <p:cNvSpPr/>
          <p:nvPr/>
        </p:nvSpPr>
        <p:spPr>
          <a:xfrm>
            <a:off x="777240" y="4626864"/>
            <a:ext cx="1965960" cy="292608"/>
          </a:xfrm>
          <a:prstGeom prst="rect">
            <a:avLst/>
          </a:prstGeom>
          <a:noFill/>
          <a:ln/>
        </p:spPr>
        <p:txBody>
          <a:bodyPr wrap="square" lIns="0" tIns="0" rIns="0" bIns="0" rtlCol="0" anchor="ctr"/>
          <a:lstStyle/>
          <a:p>
            <a:pPr indent="0" marL="0">
              <a:buNone/>
            </a:pPr>
            <a:r>
              <a:rPr lang="en-US" sz="1300" b="1" dirty="0">
                <a:solidFill>
                  <a:srgbClr val="17191B"/>
                </a:solidFill>
                <a:latin typeface="Arial" pitchFamily="34" charset="0"/>
                <a:ea typeface="Arial" pitchFamily="34" charset="-122"/>
                <a:cs typeface="Arial" pitchFamily="34" charset="-120"/>
              </a:rPr>
              <a:t>Renault</a:t>
            </a:r>
            <a:endParaRPr lang="en-US" sz="1300" dirty="0"/>
          </a:p>
        </p:txBody>
      </p:sp>
      <p:sp>
        <p:nvSpPr>
          <p:cNvPr id="30" name="Text 28"/>
          <p:cNvSpPr/>
          <p:nvPr/>
        </p:nvSpPr>
        <p:spPr>
          <a:xfrm>
            <a:off x="777240" y="4937760"/>
            <a:ext cx="1965960" cy="310896"/>
          </a:xfrm>
          <a:prstGeom prst="rect">
            <a:avLst/>
          </a:prstGeom>
          <a:noFill/>
          <a:ln/>
        </p:spPr>
        <p:txBody>
          <a:bodyPr wrap="square" lIns="0" tIns="0" rIns="0" bIns="0" rtlCol="0" anchor="ctr"/>
          <a:lstStyle/>
          <a:p>
            <a:pPr indent="0" marL="0">
              <a:buNone/>
            </a:pPr>
            <a:r>
              <a:rPr lang="en-US" sz="1700" b="1" spc="-50" kern="0" dirty="0">
                <a:solidFill>
                  <a:srgbClr val="E0442B"/>
                </a:solidFill>
                <a:latin typeface="Arial" pitchFamily="34" charset="0"/>
                <a:ea typeface="Arial" pitchFamily="34" charset="-122"/>
                <a:cs typeface="Arial" pitchFamily="34" charset="-120"/>
              </a:rPr>
              <a:t>+22,5 %</a:t>
            </a:r>
            <a:endParaRPr lang="en-US" sz="1700" dirty="0"/>
          </a:p>
        </p:txBody>
      </p:sp>
      <p:sp>
        <p:nvSpPr>
          <p:cNvPr id="31" name="Shape 29"/>
          <p:cNvSpPr/>
          <p:nvPr/>
        </p:nvSpPr>
        <p:spPr>
          <a:xfrm>
            <a:off x="2834640" y="4681728"/>
            <a:ext cx="1666821" cy="237744"/>
          </a:xfrm>
          <a:prstGeom prst="rect">
            <a:avLst/>
          </a:prstGeom>
          <a:solidFill>
            <a:srgbClr val="F4F0E6"/>
          </a:solidFill>
          <a:ln w="15875">
            <a:solidFill>
              <a:srgbClr val="6E7377"/>
            </a:solidFill>
            <a:prstDash val="solid"/>
          </a:ln>
        </p:spPr>
      </p:sp>
      <p:sp>
        <p:nvSpPr>
          <p:cNvPr id="32" name="Shape 30"/>
          <p:cNvSpPr/>
          <p:nvPr/>
        </p:nvSpPr>
        <p:spPr>
          <a:xfrm>
            <a:off x="2834640" y="4983480"/>
            <a:ext cx="2049040" cy="237744"/>
          </a:xfrm>
          <a:prstGeom prst="rect">
            <a:avLst/>
          </a:prstGeom>
          <a:solidFill>
            <a:srgbClr val="E0442B"/>
          </a:solidFill>
          <a:ln w="12700">
            <a:solidFill>
              <a:srgbClr val="333333"/>
            </a:solidFill>
            <a:prstDash val="solid"/>
          </a:ln>
        </p:spPr>
      </p:sp>
      <p:sp>
        <p:nvSpPr>
          <p:cNvPr id="33" name="Text 31"/>
          <p:cNvSpPr/>
          <p:nvPr/>
        </p:nvSpPr>
        <p:spPr>
          <a:xfrm>
            <a:off x="4592901" y="4663440"/>
            <a:ext cx="914400" cy="274320"/>
          </a:xfrm>
          <a:prstGeom prst="rect">
            <a:avLst/>
          </a:prstGeom>
          <a:noFill/>
          <a:ln/>
        </p:spPr>
        <p:txBody>
          <a:bodyPr wrap="square" lIns="0" tIns="0" rIns="0" bIns="0" rtlCol="0" anchor="ctr"/>
          <a:lstStyle/>
          <a:p>
            <a:pPr indent="0" marL="0">
              <a:buNone/>
            </a:pPr>
            <a:r>
              <a:rPr lang="en-US" sz="1200" dirty="0">
                <a:solidFill>
                  <a:srgbClr val="6E7377"/>
                </a:solidFill>
                <a:latin typeface="Arial" pitchFamily="34" charset="0"/>
                <a:ea typeface="Arial" pitchFamily="34" charset="-122"/>
                <a:cs typeface="Arial" pitchFamily="34" charset="-120"/>
              </a:rPr>
              <a:t>5,80</a:t>
            </a:r>
            <a:endParaRPr lang="en-US" sz="1200" dirty="0"/>
          </a:p>
        </p:txBody>
      </p:sp>
      <p:sp>
        <p:nvSpPr>
          <p:cNvPr id="34" name="Text 32"/>
          <p:cNvSpPr/>
          <p:nvPr/>
        </p:nvSpPr>
        <p:spPr>
          <a:xfrm>
            <a:off x="4975120" y="4965192"/>
            <a:ext cx="914400" cy="274320"/>
          </a:xfrm>
          <a:prstGeom prst="rect">
            <a:avLst/>
          </a:prstGeom>
          <a:noFill/>
          <a:ln/>
        </p:spPr>
        <p:txBody>
          <a:bodyPr wrap="square" lIns="0" tIns="0" rIns="0" bIns="0" rtlCol="0" anchor="ctr"/>
          <a:lstStyle/>
          <a:p>
            <a:pPr indent="0" marL="0">
              <a:buNone/>
            </a:pPr>
            <a:r>
              <a:rPr lang="en-US" sz="1200" b="1" dirty="0">
                <a:solidFill>
                  <a:srgbClr val="E0442B"/>
                </a:solidFill>
                <a:latin typeface="Arial" pitchFamily="34" charset="0"/>
                <a:ea typeface="Arial" pitchFamily="34" charset="-122"/>
                <a:cs typeface="Arial" pitchFamily="34" charset="-120"/>
              </a:rPr>
              <a:t>7,13</a:t>
            </a:r>
            <a:endParaRPr lang="en-US" sz="1200" dirty="0"/>
          </a:p>
        </p:txBody>
      </p:sp>
      <p:sp>
        <p:nvSpPr>
          <p:cNvPr id="35" name="Text 33"/>
          <p:cNvSpPr/>
          <p:nvPr/>
        </p:nvSpPr>
        <p:spPr>
          <a:xfrm>
            <a:off x="777240" y="5266944"/>
            <a:ext cx="1965960" cy="292608"/>
          </a:xfrm>
          <a:prstGeom prst="rect">
            <a:avLst/>
          </a:prstGeom>
          <a:noFill/>
          <a:ln/>
        </p:spPr>
        <p:txBody>
          <a:bodyPr wrap="square" lIns="0" tIns="0" rIns="0" bIns="0" rtlCol="0" anchor="ctr"/>
          <a:lstStyle/>
          <a:p>
            <a:pPr indent="0" marL="0">
              <a:buNone/>
            </a:pPr>
            <a:r>
              <a:rPr lang="en-US" sz="1300" b="1" dirty="0">
                <a:solidFill>
                  <a:srgbClr val="17191B"/>
                </a:solidFill>
                <a:latin typeface="Arial" pitchFamily="34" charset="0"/>
                <a:ea typeface="Arial" pitchFamily="34" charset="-122"/>
                <a:cs typeface="Arial" pitchFamily="34" charset="-120"/>
              </a:rPr>
              <a:t>BMW M</a:t>
            </a:r>
            <a:endParaRPr lang="en-US" sz="1300" dirty="0"/>
          </a:p>
        </p:txBody>
      </p:sp>
      <p:sp>
        <p:nvSpPr>
          <p:cNvPr id="36" name="Text 34"/>
          <p:cNvSpPr/>
          <p:nvPr/>
        </p:nvSpPr>
        <p:spPr>
          <a:xfrm>
            <a:off x="777240" y="5577840"/>
            <a:ext cx="1965960" cy="310896"/>
          </a:xfrm>
          <a:prstGeom prst="rect">
            <a:avLst/>
          </a:prstGeom>
          <a:noFill/>
          <a:ln/>
        </p:spPr>
        <p:txBody>
          <a:bodyPr wrap="square" lIns="0" tIns="0" rIns="0" bIns="0" rtlCol="0" anchor="ctr"/>
          <a:lstStyle/>
          <a:p>
            <a:pPr indent="0" marL="0">
              <a:buNone/>
            </a:pPr>
            <a:r>
              <a:rPr lang="en-US" sz="1700" b="1" spc="-50" kern="0" dirty="0">
                <a:solidFill>
                  <a:srgbClr val="E0442B"/>
                </a:solidFill>
                <a:latin typeface="Arial" pitchFamily="34" charset="0"/>
                <a:ea typeface="Arial" pitchFamily="34" charset="-122"/>
                <a:cs typeface="Arial" pitchFamily="34" charset="-120"/>
              </a:rPr>
              <a:t>+24,5 %</a:t>
            </a:r>
            <a:endParaRPr lang="en-US" sz="1700" dirty="0"/>
          </a:p>
        </p:txBody>
      </p:sp>
      <p:sp>
        <p:nvSpPr>
          <p:cNvPr id="37" name="Shape 35"/>
          <p:cNvSpPr/>
          <p:nvPr/>
        </p:nvSpPr>
        <p:spPr>
          <a:xfrm>
            <a:off x="2834640" y="5321808"/>
            <a:ext cx="3074997" cy="237744"/>
          </a:xfrm>
          <a:prstGeom prst="rect">
            <a:avLst/>
          </a:prstGeom>
          <a:solidFill>
            <a:srgbClr val="F4F0E6"/>
          </a:solidFill>
          <a:ln w="15875">
            <a:solidFill>
              <a:srgbClr val="6E7377"/>
            </a:solidFill>
            <a:prstDash val="solid"/>
          </a:ln>
        </p:spPr>
      </p:sp>
      <p:sp>
        <p:nvSpPr>
          <p:cNvPr id="38" name="Shape 36"/>
          <p:cNvSpPr/>
          <p:nvPr/>
        </p:nvSpPr>
        <p:spPr>
          <a:xfrm>
            <a:off x="2834640" y="5623560"/>
            <a:ext cx="3868173" cy="237744"/>
          </a:xfrm>
          <a:prstGeom prst="rect">
            <a:avLst/>
          </a:prstGeom>
          <a:solidFill>
            <a:srgbClr val="E0442B"/>
          </a:solidFill>
          <a:ln w="12700">
            <a:solidFill>
              <a:srgbClr val="333333"/>
            </a:solidFill>
            <a:prstDash val="solid"/>
          </a:ln>
        </p:spPr>
      </p:sp>
      <p:sp>
        <p:nvSpPr>
          <p:cNvPr id="39" name="Text 37"/>
          <p:cNvSpPr/>
          <p:nvPr/>
        </p:nvSpPr>
        <p:spPr>
          <a:xfrm>
            <a:off x="6001077" y="5303520"/>
            <a:ext cx="914400" cy="274320"/>
          </a:xfrm>
          <a:prstGeom prst="rect">
            <a:avLst/>
          </a:prstGeom>
          <a:noFill/>
          <a:ln/>
        </p:spPr>
        <p:txBody>
          <a:bodyPr wrap="square" lIns="0" tIns="0" rIns="0" bIns="0" rtlCol="0" anchor="ctr"/>
          <a:lstStyle/>
          <a:p>
            <a:pPr indent="0" marL="0">
              <a:buNone/>
            </a:pPr>
            <a:r>
              <a:rPr lang="en-US" sz="1200" dirty="0">
                <a:solidFill>
                  <a:srgbClr val="6E7377"/>
                </a:solidFill>
                <a:latin typeface="Arial" pitchFamily="34" charset="0"/>
                <a:ea typeface="Arial" pitchFamily="34" charset="-122"/>
                <a:cs typeface="Arial" pitchFamily="34" charset="-120"/>
              </a:rPr>
              <a:t>10,70</a:t>
            </a:r>
            <a:endParaRPr lang="en-US" sz="1200" dirty="0"/>
          </a:p>
        </p:txBody>
      </p:sp>
      <p:sp>
        <p:nvSpPr>
          <p:cNvPr id="40" name="Text 38"/>
          <p:cNvSpPr/>
          <p:nvPr/>
        </p:nvSpPr>
        <p:spPr>
          <a:xfrm>
            <a:off x="6794253" y="5605272"/>
            <a:ext cx="914400" cy="274320"/>
          </a:xfrm>
          <a:prstGeom prst="rect">
            <a:avLst/>
          </a:prstGeom>
          <a:noFill/>
          <a:ln/>
        </p:spPr>
        <p:txBody>
          <a:bodyPr wrap="square" lIns="0" tIns="0" rIns="0" bIns="0" rtlCol="0" anchor="ctr"/>
          <a:lstStyle/>
          <a:p>
            <a:pPr indent="0" marL="0">
              <a:buNone/>
            </a:pPr>
            <a:r>
              <a:rPr lang="en-US" sz="1200" b="1" dirty="0">
                <a:solidFill>
                  <a:srgbClr val="E0442B"/>
                </a:solidFill>
                <a:latin typeface="Arial" pitchFamily="34" charset="0"/>
                <a:ea typeface="Arial" pitchFamily="34" charset="-122"/>
                <a:cs typeface="Arial" pitchFamily="34" charset="-120"/>
              </a:rPr>
              <a:t>13,46</a:t>
            </a:r>
            <a:endParaRPr lang="en-US" sz="1200" dirty="0"/>
          </a:p>
        </p:txBody>
      </p:sp>
      <p:sp>
        <p:nvSpPr>
          <p:cNvPr id="41" name="Shape 39"/>
          <p:cNvSpPr/>
          <p:nvPr/>
        </p:nvSpPr>
        <p:spPr>
          <a:xfrm>
            <a:off x="7955280" y="1965960"/>
            <a:ext cx="3459175" cy="2148840"/>
          </a:xfrm>
          <a:prstGeom prst="rect">
            <a:avLst/>
          </a:prstGeom>
          <a:solidFill>
            <a:srgbClr val="E6E0D2"/>
          </a:solidFill>
          <a:ln w="12700">
            <a:solidFill>
              <a:srgbClr val="333333"/>
            </a:solidFill>
            <a:prstDash val="solid"/>
          </a:ln>
        </p:spPr>
      </p:sp>
      <p:sp>
        <p:nvSpPr>
          <p:cNvPr id="42" name="Text 40"/>
          <p:cNvSpPr/>
          <p:nvPr/>
        </p:nvSpPr>
        <p:spPr>
          <a:xfrm>
            <a:off x="8229600" y="2194560"/>
            <a:ext cx="3001975" cy="548640"/>
          </a:xfrm>
          <a:prstGeom prst="rect">
            <a:avLst/>
          </a:prstGeom>
          <a:noFill/>
          <a:ln/>
        </p:spPr>
        <p:txBody>
          <a:bodyPr wrap="square" lIns="0" tIns="0" rIns="0" bIns="0" rtlCol="0" anchor="ctr"/>
          <a:lstStyle/>
          <a:p>
            <a:pPr indent="0" marL="0">
              <a:buNone/>
            </a:pPr>
            <a:r>
              <a:rPr lang="en-US" sz="1700" b="1" spc="-40" kern="0" dirty="0">
                <a:solidFill>
                  <a:srgbClr val="17191B"/>
                </a:solidFill>
                <a:latin typeface="Arial" pitchFamily="34" charset="0"/>
                <a:ea typeface="Arial" pitchFamily="34" charset="-122"/>
                <a:cs typeface="Arial" pitchFamily="34" charset="-120"/>
              </a:rPr>
              <a:t>Klein und sparsam heißt große Lücke</a:t>
            </a:r>
            <a:endParaRPr lang="en-US" sz="1700" dirty="0"/>
          </a:p>
        </p:txBody>
      </p:sp>
      <p:sp>
        <p:nvSpPr>
          <p:cNvPr id="43" name="Text 41"/>
          <p:cNvSpPr/>
          <p:nvPr/>
        </p:nvSpPr>
        <p:spPr>
          <a:xfrm>
            <a:off x="8229600" y="2761488"/>
            <a:ext cx="3001975" cy="1188720"/>
          </a:xfrm>
          <a:prstGeom prst="rect">
            <a:avLst/>
          </a:prstGeom>
          <a:noFill/>
          <a:ln/>
        </p:spPr>
        <p:txBody>
          <a:bodyPr wrap="square" lIns="0" tIns="0" rIns="0" bIns="0" rtlCol="0" anchor="ctr"/>
          <a:lstStyle/>
          <a:p>
            <a:pPr indent="0" marL="0">
              <a:buNone/>
            </a:pPr>
            <a:r>
              <a:rPr lang="en-US" sz="1200" dirty="0">
                <a:solidFill>
                  <a:srgbClr val="6E7377"/>
                </a:solidFill>
                <a:latin typeface="Arial" pitchFamily="34" charset="0"/>
                <a:ea typeface="Arial" pitchFamily="34" charset="-122"/>
                <a:cs typeface="Arial" pitchFamily="34" charset="-120"/>
              </a:rPr>
              <a:t>Porsche auf Platz 2 mit 294 kW. Dacia und Renault ganz hinten mit 67 kW. Ein kleiner Turbomotor arbeitet im sanften Laborzyklus nahe seinem Bestpunkt — und verlässt ihn im Alltag sofort.</a:t>
            </a:r>
            <a:endParaRPr lang="en-US" sz="1200" dirty="0"/>
          </a:p>
        </p:txBody>
      </p:sp>
      <p:sp>
        <p:nvSpPr>
          <p:cNvPr id="44" name="Text 42"/>
          <p:cNvSpPr/>
          <p:nvPr/>
        </p:nvSpPr>
        <p:spPr>
          <a:xfrm>
            <a:off x="8229600" y="4297680"/>
            <a:ext cx="3001975" cy="320040"/>
          </a:xfrm>
          <a:prstGeom prst="rect">
            <a:avLst/>
          </a:prstGeom>
          <a:noFill/>
          <a:ln/>
        </p:spPr>
        <p:txBody>
          <a:bodyPr wrap="square" lIns="0" tIns="0" rIns="0" bIns="0" rtlCol="0" anchor="ctr"/>
          <a:lstStyle/>
          <a:p>
            <a:pPr indent="0" marL="0">
              <a:buNone/>
            </a:pPr>
            <a:r>
              <a:rPr lang="en-US" sz="1400" b="1" dirty="0">
                <a:solidFill>
                  <a:srgbClr val="17191B"/>
                </a:solidFill>
                <a:latin typeface="Arial" pitchFamily="34" charset="0"/>
                <a:ea typeface="Arial" pitchFamily="34" charset="-122"/>
                <a:cs typeface="Arial" pitchFamily="34" charset="-120"/>
              </a:rPr>
              <a:t>Die Lücke ist relativ, nicht absolut.</a:t>
            </a:r>
            <a:endParaRPr lang="en-US" sz="1400" dirty="0"/>
          </a:p>
        </p:txBody>
      </p:sp>
      <p:sp>
        <p:nvSpPr>
          <p:cNvPr id="45" name="Text 43"/>
          <p:cNvSpPr/>
          <p:nvPr/>
        </p:nvSpPr>
        <p:spPr>
          <a:xfrm>
            <a:off x="8229600" y="4645152"/>
            <a:ext cx="3001975" cy="822960"/>
          </a:xfrm>
          <a:prstGeom prst="rect">
            <a:avLst/>
          </a:prstGeom>
          <a:noFill/>
          <a:ln/>
        </p:spPr>
        <p:txBody>
          <a:bodyPr wrap="square" lIns="0" tIns="0" rIns="0" bIns="0" rtlCol="0" anchor="ctr"/>
          <a:lstStyle/>
          <a:p>
            <a:pPr indent="0" marL="0">
              <a:buNone/>
            </a:pPr>
            <a:r>
              <a:rPr lang="en-US" sz="1200" i="1" dirty="0">
                <a:solidFill>
                  <a:srgbClr val="17191B"/>
                </a:solidFill>
                <a:latin typeface="Century Schoolbook" pitchFamily="34" charset="0"/>
                <a:ea typeface="Century Schoolbook" pitchFamily="34" charset="-122"/>
                <a:cs typeface="Century Schoolbook" pitchFamily="34" charset="-120"/>
              </a:rPr>
              <a:t>Renault verbraucht real 7,13 l, Porsche 12,31 l. Der Renault bleibt das sparsamere Auto — er hält sein Versprechen nur schlechter ein.</a:t>
            </a:r>
            <a:endParaRPr lang="en-US" sz="1200" dirty="0"/>
          </a:p>
        </p:txBody>
      </p:sp>
      <p:sp>
        <p:nvSpPr>
          <p:cNvPr id="46" name="Text 44"/>
          <p:cNvSpPr/>
          <p:nvPr/>
        </p:nvSpPr>
        <p:spPr>
          <a:xfrm>
            <a:off x="8229600" y="5504688"/>
            <a:ext cx="3001975" cy="640080"/>
          </a:xfrm>
          <a:prstGeom prst="rect">
            <a:avLst/>
          </a:prstGeom>
          <a:noFill/>
          <a:ln/>
        </p:spPr>
        <p:txBody>
          <a:bodyPr wrap="square" lIns="0" tIns="0" rIns="0" bIns="0" rtlCol="0" anchor="ctr"/>
          <a:lstStyle/>
          <a:p>
            <a:pPr indent="0" marL="0">
              <a:buNone/>
            </a:pPr>
            <a:r>
              <a:rPr lang="en-US" sz="1100" dirty="0">
                <a:solidFill>
                  <a:srgbClr val="6E7377"/>
                </a:solidFill>
                <a:latin typeface="Arial" pitchFamily="34" charset="0"/>
                <a:ea typeface="Arial" pitchFamily="34" charset="-122"/>
                <a:cs typeface="Arial" pitchFamily="34" charset="-120"/>
              </a:rPr>
              <a:t>Über die ganze Flotte gerechnet läge Mazda bei 22,7 % — im Mittelfeld. Die Korrelation zwischen Plug-in-Anteil und Verzerrung beträgt 0,890.</a:t>
            </a:r>
            <a:endParaRPr lang="en-US" sz="1100" dirty="0"/>
          </a:p>
        </p:txBody>
      </p:sp>
      <p:sp>
        <p:nvSpPr>
          <p:cNvPr id="47" name="Text 45"/>
          <p:cNvSpPr/>
          <p:nvPr/>
        </p:nvSpPr>
        <p:spPr>
          <a:xfrm>
            <a:off x="777240" y="6327648"/>
            <a:ext cx="10637215" cy="274320"/>
          </a:xfrm>
          <a:prstGeom prst="rect">
            <a:avLst/>
          </a:prstGeom>
          <a:noFill/>
          <a:ln/>
        </p:spPr>
        <p:txBody>
          <a:bodyPr wrap="square" lIns="0" tIns="0" rIns="0" bIns="0" rtlCol="0" anchor="ctr"/>
          <a:lstStyle/>
          <a:p>
            <a:pPr indent="0" marL="0">
              <a:buNone/>
            </a:pPr>
            <a:r>
              <a:rPr lang="en-US" sz="950" spc="60" kern="0" dirty="0">
                <a:solidFill>
                  <a:srgbClr val="6E7377"/>
                </a:solidFill>
                <a:latin typeface="Arial" pitchFamily="34" charset="0"/>
                <a:ea typeface="Arial" pitchFamily="34" charset="-122"/>
                <a:cs typeface="Arial" pitchFamily="34" charset="-120"/>
              </a:rPr>
              <a:t>A7a · 25 Hersteller mit mindestens 3.000 Fahrzeugen · Spannweite 13,1 Prozentpunkte · Mittel 17,0 %</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7191B"/>
        </a:solidFill>
      </p:bgPr>
    </p:bg>
    <p:spTree>
      <p:nvGrpSpPr>
        <p:cNvPr id="1" name=""/>
        <p:cNvGrpSpPr/>
        <p:nvPr/>
      </p:nvGrpSpPr>
      <p:grpSpPr>
        <a:xfrm>
          <a:off x="0" y="0"/>
          <a:ext cx="0" cy="0"/>
          <a:chOff x="0" y="0"/>
          <a:chExt cx="0" cy="0"/>
        </a:xfrm>
      </p:grpSpPr>
      <p:sp>
        <p:nvSpPr>
          <p:cNvPr id="2" name="Text 0"/>
          <p:cNvSpPr/>
          <p:nvPr/>
        </p:nvSpPr>
        <p:spPr>
          <a:xfrm>
            <a:off x="777240" y="475488"/>
            <a:ext cx="10637215" cy="256032"/>
          </a:xfrm>
          <a:prstGeom prst="rect">
            <a:avLst/>
          </a:prstGeom>
          <a:noFill/>
          <a:ln/>
        </p:spPr>
        <p:txBody>
          <a:bodyPr wrap="square" lIns="0" tIns="0" rIns="0" bIns="0" rtlCol="0" anchor="ctr"/>
          <a:lstStyle/>
          <a:p>
            <a:pPr indent="0" marL="0">
              <a:buNone/>
            </a:pPr>
            <a:r>
              <a:rPr lang="en-US" sz="1100" b="1" spc="300" kern="0" dirty="0">
                <a:solidFill>
                  <a:srgbClr val="E0442B"/>
                </a:solidFill>
                <a:latin typeface="Arial" pitchFamily="34" charset="0"/>
                <a:ea typeface="Arial" pitchFamily="34" charset="-122"/>
                <a:cs typeface="Arial" pitchFamily="34" charset="-120"/>
              </a:rPr>
              <a:t>06</a:t>
            </a:r>
            <a:pPr indent="0" marL="0">
              <a:buNone/>
            </a:pPr>
            <a:r>
              <a:rPr lang="en-US" sz="1100" b="1" spc="300" kern="0" dirty="0">
                <a:solidFill>
                  <a:srgbClr val="C9C4B6"/>
                </a:solidFill>
                <a:latin typeface="Arial" pitchFamily="34" charset="0"/>
                <a:ea typeface="Arial" pitchFamily="34" charset="-122"/>
                <a:cs typeface="Arial" pitchFamily="34" charset="-120"/>
              </a:rPr>
              <a:t>   BEFUND 2</a:t>
            </a:r>
            <a:endParaRPr lang="en-US" sz="1100" dirty="0"/>
          </a:p>
        </p:txBody>
      </p:sp>
      <p:sp>
        <p:nvSpPr>
          <p:cNvPr id="3" name="Text 1"/>
          <p:cNvSpPr/>
          <p:nvPr/>
        </p:nvSpPr>
        <p:spPr>
          <a:xfrm>
            <a:off x="777240" y="841248"/>
            <a:ext cx="10637215" cy="777240"/>
          </a:xfrm>
          <a:prstGeom prst="rect">
            <a:avLst/>
          </a:prstGeom>
          <a:noFill/>
          <a:ln/>
        </p:spPr>
        <p:txBody>
          <a:bodyPr wrap="square" lIns="0" tIns="0" rIns="0" bIns="0" rtlCol="0" anchor="ctr"/>
          <a:lstStyle/>
          <a:p>
            <a:pPr indent="0" marL="0">
              <a:buNone/>
            </a:pPr>
            <a:r>
              <a:rPr lang="en-US" sz="4000" b="1" spc="-120" kern="0" dirty="0">
                <a:solidFill>
                  <a:srgbClr val="F4F0E6"/>
                </a:solidFill>
                <a:latin typeface="Arial" pitchFamily="34" charset="0"/>
                <a:ea typeface="Arial" pitchFamily="34" charset="-122"/>
                <a:cs typeface="Arial" pitchFamily="34" charset="-120"/>
              </a:rPr>
              <a:t>Der faire Vergleich — mit dem Strom, den wir wirklich haben.</a:t>
            </a:r>
            <a:endParaRPr lang="en-US" sz="4000" dirty="0"/>
          </a:p>
        </p:txBody>
      </p:sp>
      <p:sp>
        <p:nvSpPr>
          <p:cNvPr id="4" name="Text 2"/>
          <p:cNvSpPr/>
          <p:nvPr/>
        </p:nvSpPr>
        <p:spPr>
          <a:xfrm>
            <a:off x="777240" y="1627632"/>
            <a:ext cx="8297028" cy="457200"/>
          </a:xfrm>
          <a:prstGeom prst="rect">
            <a:avLst/>
          </a:prstGeom>
          <a:noFill/>
          <a:ln/>
        </p:spPr>
        <p:txBody>
          <a:bodyPr wrap="square" lIns="0" tIns="0" rIns="0" bIns="0" rtlCol="0" anchor="ctr"/>
          <a:lstStyle/>
          <a:p>
            <a:pPr indent="0" marL="0">
              <a:buNone/>
            </a:pPr>
            <a:r>
              <a:rPr lang="en-US" sz="1400" dirty="0">
                <a:solidFill>
                  <a:srgbClr val="C9C4B6"/>
                </a:solidFill>
                <a:latin typeface="Arial" pitchFamily="34" charset="0"/>
                <a:ea typeface="Arial" pitchFamily="34" charset="-122"/>
                <a:cs typeface="Arial" pitchFamily="34" charset="-120"/>
              </a:rPr>
              <a:t>Auspuff plus Netzstrom, bewertet mit dem realen deutschen Mix: 355,6 g/kWh im Fünfjahresmittel, fallend.</a:t>
            </a:r>
            <a:endParaRPr lang="en-US" sz="1400" dirty="0"/>
          </a:p>
        </p:txBody>
      </p:sp>
      <p:graphicFrame>
        <p:nvGraphicFramePr>
          <p:cNvPr id="5" name="Chart 0" descr=""/>
          <p:cNvGraphicFramePr/>
          <p:nvPr/>
        </p:nvGraphicFramePr>
        <p:xfrm>
          <a:off x="640080" y="2240280"/>
          <a:ext cx="7498080" cy="36576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8412480" y="2286000"/>
            <a:ext cx="3001975" cy="365760"/>
          </a:xfrm>
          <a:prstGeom prst="rect">
            <a:avLst/>
          </a:prstGeom>
          <a:noFill/>
          <a:ln/>
        </p:spPr>
        <p:txBody>
          <a:bodyPr wrap="square" lIns="0" tIns="0" rIns="0" bIns="0" rtlCol="0" anchor="ctr"/>
          <a:lstStyle/>
          <a:p>
            <a:pPr indent="0" marL="0">
              <a:buNone/>
            </a:pPr>
            <a:r>
              <a:rPr lang="en-US" sz="1900" b="1" spc="-40" kern="0" dirty="0">
                <a:solidFill>
                  <a:srgbClr val="E0442B"/>
                </a:solidFill>
                <a:latin typeface="Arial" pitchFamily="34" charset="0"/>
                <a:ea typeface="Arial" pitchFamily="34" charset="-122"/>
                <a:cs typeface="Arial" pitchFamily="34" charset="-120"/>
              </a:rPr>
              <a:t>Meine These war falsch.</a:t>
            </a:r>
            <a:endParaRPr lang="en-US" sz="1900" dirty="0"/>
          </a:p>
        </p:txBody>
      </p:sp>
      <p:sp>
        <p:nvSpPr>
          <p:cNvPr id="7" name="Text 4"/>
          <p:cNvSpPr/>
          <p:nvPr/>
        </p:nvSpPr>
        <p:spPr>
          <a:xfrm>
            <a:off x="8412480" y="2697480"/>
            <a:ext cx="3001975" cy="914400"/>
          </a:xfrm>
          <a:prstGeom prst="rect">
            <a:avLst/>
          </a:prstGeom>
          <a:noFill/>
          <a:ln/>
        </p:spPr>
        <p:txBody>
          <a:bodyPr wrap="square" lIns="0" tIns="0" rIns="0" bIns="0" rtlCol="0" anchor="ctr"/>
          <a:lstStyle/>
          <a:p>
            <a:pPr indent="0" marL="0">
              <a:buNone/>
            </a:pPr>
            <a:r>
              <a:rPr lang="en-US" sz="1200" dirty="0">
                <a:solidFill>
                  <a:srgbClr val="C9C4B6"/>
                </a:solidFill>
                <a:latin typeface="Arial" pitchFamily="34" charset="0"/>
                <a:ea typeface="Arial" pitchFamily="34" charset="-122"/>
                <a:cs typeface="Arial" pitchFamily="34" charset="-120"/>
              </a:rPr>
              <a:t>Der Plug-in-Hybrid bleibt auch mit Netzstrom vorn: 160,8 gegen 169,4 g/km. Die Kippgrenze liegt bei 500 g/kWh — der deutsche Mix bei 355,6 und fallend.</a:t>
            </a:r>
            <a:endParaRPr lang="en-US" sz="1200" dirty="0"/>
          </a:p>
        </p:txBody>
      </p:sp>
      <p:sp>
        <p:nvSpPr>
          <p:cNvPr id="8" name="Shape 5"/>
          <p:cNvSpPr/>
          <p:nvPr/>
        </p:nvSpPr>
        <p:spPr>
          <a:xfrm>
            <a:off x="8412480" y="3703320"/>
            <a:ext cx="3001975" cy="18288"/>
          </a:xfrm>
          <a:prstGeom prst="rect">
            <a:avLst/>
          </a:prstGeom>
          <a:solidFill>
            <a:srgbClr val="2C2F31"/>
          </a:solidFill>
          <a:ln w="12700">
            <a:solidFill>
              <a:srgbClr val="333333"/>
            </a:solidFill>
            <a:prstDash val="solid"/>
          </a:ln>
        </p:spPr>
      </p:sp>
      <p:sp>
        <p:nvSpPr>
          <p:cNvPr id="9" name="Text 6"/>
          <p:cNvSpPr/>
          <p:nvPr/>
        </p:nvSpPr>
        <p:spPr>
          <a:xfrm>
            <a:off x="8412480" y="3840480"/>
            <a:ext cx="3001975" cy="640080"/>
          </a:xfrm>
          <a:prstGeom prst="rect">
            <a:avLst/>
          </a:prstGeom>
          <a:noFill/>
          <a:ln/>
        </p:spPr>
        <p:txBody>
          <a:bodyPr wrap="square" lIns="0" tIns="0" rIns="0" bIns="0" rtlCol="0" anchor="ctr"/>
          <a:lstStyle/>
          <a:p>
            <a:pPr indent="0" marL="0">
              <a:buNone/>
            </a:pPr>
            <a:r>
              <a:rPr lang="en-US" sz="1200" dirty="0">
                <a:solidFill>
                  <a:srgbClr val="C9C4B6"/>
                </a:solidFill>
                <a:latin typeface="Arial" pitchFamily="34" charset="0"/>
                <a:ea typeface="Arial" pitchFamily="34" charset="-122"/>
                <a:cs typeface="Arial" pitchFamily="34" charset="-120"/>
              </a:rPr>
              <a:t>Sein zertifizierter Vorsprung schrumpft auf der Straße aber auf etwa ein Zehntel.</a:t>
            </a:r>
            <a:endParaRPr lang="en-US" sz="1200" dirty="0"/>
          </a:p>
        </p:txBody>
      </p:sp>
      <p:sp>
        <p:nvSpPr>
          <p:cNvPr id="10" name="Text 7"/>
          <p:cNvSpPr/>
          <p:nvPr/>
        </p:nvSpPr>
        <p:spPr>
          <a:xfrm>
            <a:off x="8412480" y="4572000"/>
            <a:ext cx="3001975" cy="822960"/>
          </a:xfrm>
          <a:prstGeom prst="rect">
            <a:avLst/>
          </a:prstGeom>
          <a:noFill/>
          <a:ln/>
        </p:spPr>
        <p:txBody>
          <a:bodyPr wrap="square" lIns="0" tIns="0" rIns="0" bIns="0" rtlCol="0" anchor="ctr"/>
          <a:lstStyle/>
          <a:p>
            <a:pPr indent="0" marL="0">
              <a:buNone/>
            </a:pPr>
            <a:r>
              <a:rPr lang="en-US" sz="1200" i="1" dirty="0">
                <a:solidFill>
                  <a:srgbClr val="F4F0E6"/>
                </a:solidFill>
                <a:latin typeface="Century Schoolbook" pitchFamily="34" charset="0"/>
                <a:ea typeface="Century Schoolbook" pitchFamily="34" charset="-122"/>
                <a:cs typeface="Century Schoolbook" pitchFamily="34" charset="-120"/>
              </a:rPr>
              <a:t>Und beim Batterieauto fehlt der linke Balken nicht — die Verordnung schreibt dort null vor. Real sind es 66,7.</a:t>
            </a:r>
            <a:endParaRPr lang="en-US" sz="1200" dirty="0"/>
          </a:p>
        </p:txBody>
      </p:sp>
      <p:sp>
        <p:nvSpPr>
          <p:cNvPr id="11" name="Text 8"/>
          <p:cNvSpPr/>
          <p:nvPr/>
        </p:nvSpPr>
        <p:spPr>
          <a:xfrm>
            <a:off x="777240" y="6327648"/>
            <a:ext cx="10637215" cy="274320"/>
          </a:xfrm>
          <a:prstGeom prst="rect">
            <a:avLst/>
          </a:prstGeom>
          <a:noFill/>
          <a:ln/>
        </p:spPr>
        <p:txBody>
          <a:bodyPr wrap="square" lIns="0" tIns="0" rIns="0" bIns="0" rtlCol="0" anchor="ctr"/>
          <a:lstStyle/>
          <a:p>
            <a:pPr indent="0" marL="0">
              <a:buNone/>
            </a:pPr>
            <a:r>
              <a:rPr lang="en-US" sz="950" spc="60" kern="0" dirty="0">
                <a:solidFill>
                  <a:srgbClr val="6E7377"/>
                </a:solidFill>
                <a:latin typeface="Arial" pitchFamily="34" charset="0"/>
                <a:ea typeface="Arial" pitchFamily="34" charset="-122"/>
                <a:cs typeface="Arial" pitchFamily="34" charset="-120"/>
              </a:rPr>
              <a:t>Strommix aus SMARD-Stundenwerten · Emissionsfaktoren als Parametertabelle, nicht als Konstante im Code</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0E6"/>
        </a:solidFill>
      </p:bgPr>
    </p:bg>
    <p:spTree>
      <p:nvGrpSpPr>
        <p:cNvPr id="1" name=""/>
        <p:cNvGrpSpPr/>
        <p:nvPr/>
      </p:nvGrpSpPr>
      <p:grpSpPr>
        <a:xfrm>
          <a:off x="0" y="0"/>
          <a:ext cx="0" cy="0"/>
          <a:chOff x="0" y="0"/>
          <a:chExt cx="0" cy="0"/>
        </a:xfrm>
      </p:grpSpPr>
      <p:sp>
        <p:nvSpPr>
          <p:cNvPr id="2" name="Text 0"/>
          <p:cNvSpPr/>
          <p:nvPr/>
        </p:nvSpPr>
        <p:spPr>
          <a:xfrm>
            <a:off x="777240" y="475488"/>
            <a:ext cx="10637215" cy="256032"/>
          </a:xfrm>
          <a:prstGeom prst="rect">
            <a:avLst/>
          </a:prstGeom>
          <a:noFill/>
          <a:ln/>
        </p:spPr>
        <p:txBody>
          <a:bodyPr wrap="square" lIns="0" tIns="0" rIns="0" bIns="0" rtlCol="0" anchor="ctr"/>
          <a:lstStyle/>
          <a:p>
            <a:pPr indent="0" marL="0">
              <a:buNone/>
            </a:pPr>
            <a:r>
              <a:rPr lang="en-US" sz="1100" b="1" spc="300" kern="0" dirty="0">
                <a:solidFill>
                  <a:srgbClr val="E0442B"/>
                </a:solidFill>
                <a:latin typeface="Arial" pitchFamily="34" charset="0"/>
                <a:ea typeface="Arial" pitchFamily="34" charset="-122"/>
                <a:cs typeface="Arial" pitchFamily="34" charset="-120"/>
              </a:rPr>
              <a:t>07</a:t>
            </a:r>
            <a:pPr indent="0" marL="0">
              <a:buNone/>
            </a:pPr>
            <a:r>
              <a:rPr lang="en-US" sz="1100" b="1" spc="300" kern="0" dirty="0">
                <a:solidFill>
                  <a:srgbClr val="6E7377"/>
                </a:solidFill>
                <a:latin typeface="Arial" pitchFamily="34" charset="0"/>
                <a:ea typeface="Arial" pitchFamily="34" charset="-122"/>
                <a:cs typeface="Arial" pitchFamily="34" charset="-120"/>
              </a:rPr>
              <a:t>   DIE AUSNAHME</a:t>
            </a:r>
            <a:endParaRPr lang="en-US" sz="1100" dirty="0"/>
          </a:p>
        </p:txBody>
      </p:sp>
      <p:sp>
        <p:nvSpPr>
          <p:cNvPr id="3" name="Text 1"/>
          <p:cNvSpPr/>
          <p:nvPr/>
        </p:nvSpPr>
        <p:spPr>
          <a:xfrm>
            <a:off x="777240" y="841248"/>
            <a:ext cx="10637215" cy="777240"/>
          </a:xfrm>
          <a:prstGeom prst="rect">
            <a:avLst/>
          </a:prstGeom>
          <a:noFill/>
          <a:ln/>
        </p:spPr>
        <p:txBody>
          <a:bodyPr wrap="square" lIns="0" tIns="0" rIns="0" bIns="0" rtlCol="0" anchor="ctr"/>
          <a:lstStyle/>
          <a:p>
            <a:pPr indent="0" marL="0">
              <a:buNone/>
            </a:pPr>
            <a:r>
              <a:rPr lang="en-US" sz="4000" b="1" spc="-120" kern="0" dirty="0">
                <a:solidFill>
                  <a:srgbClr val="17191B"/>
                </a:solidFill>
                <a:latin typeface="Arial" pitchFamily="34" charset="0"/>
                <a:ea typeface="Arial" pitchFamily="34" charset="-122"/>
                <a:cs typeface="Arial" pitchFamily="34" charset="-120"/>
              </a:rPr>
              <a:t>Zwischen einzelnen Autos kippt es sehr wohl.</a:t>
            </a:r>
            <a:endParaRPr lang="en-US" sz="4000" dirty="0"/>
          </a:p>
        </p:txBody>
      </p:sp>
      <p:sp>
        <p:nvSpPr>
          <p:cNvPr id="4" name="Text 2"/>
          <p:cNvSpPr/>
          <p:nvPr/>
        </p:nvSpPr>
        <p:spPr>
          <a:xfrm>
            <a:off x="777240" y="1627632"/>
            <a:ext cx="8297028" cy="457200"/>
          </a:xfrm>
          <a:prstGeom prst="rect">
            <a:avLst/>
          </a:prstGeom>
          <a:noFill/>
          <a:ln/>
        </p:spPr>
        <p:txBody>
          <a:bodyPr wrap="square" lIns="0" tIns="0" rIns="0" bIns="0" rtlCol="0" anchor="ctr"/>
          <a:lstStyle/>
          <a:p>
            <a:pPr indent="0" marL="0">
              <a:buNone/>
            </a:pPr>
            <a:r>
              <a:rPr lang="en-US" sz="1400" dirty="0">
                <a:solidFill>
                  <a:srgbClr val="6E7377"/>
                </a:solidFill>
                <a:latin typeface="Arial" pitchFamily="34" charset="0"/>
                <a:ea typeface="Arial" pitchFamily="34" charset="-122"/>
                <a:cs typeface="Arial" pitchFamily="34" charset="-120"/>
              </a:rPr>
              <a:t>Nicht zwischen Antriebsarten — zwischen konkreten Fahrzeugen.</a:t>
            </a:r>
            <a:endParaRPr lang="en-US" sz="1400" dirty="0"/>
          </a:p>
        </p:txBody>
      </p:sp>
      <p:sp>
        <p:nvSpPr>
          <p:cNvPr id="5" name="Shape 3"/>
          <p:cNvSpPr/>
          <p:nvPr/>
        </p:nvSpPr>
        <p:spPr>
          <a:xfrm>
            <a:off x="777240" y="2286000"/>
            <a:ext cx="5257800" cy="2331720"/>
          </a:xfrm>
          <a:prstGeom prst="rect">
            <a:avLst/>
          </a:prstGeom>
          <a:solidFill>
            <a:srgbClr val="E6E0D2"/>
          </a:solidFill>
          <a:ln w="12700">
            <a:solidFill>
              <a:srgbClr val="333333"/>
            </a:solidFill>
            <a:prstDash val="solid"/>
          </a:ln>
        </p:spPr>
      </p:sp>
      <p:sp>
        <p:nvSpPr>
          <p:cNvPr id="6" name="Text 4"/>
          <p:cNvSpPr/>
          <p:nvPr/>
        </p:nvSpPr>
        <p:spPr>
          <a:xfrm>
            <a:off x="1097280" y="2514600"/>
            <a:ext cx="4572000" cy="365760"/>
          </a:xfrm>
          <a:prstGeom prst="rect">
            <a:avLst/>
          </a:prstGeom>
          <a:noFill/>
          <a:ln/>
        </p:spPr>
        <p:txBody>
          <a:bodyPr wrap="square" lIns="0" tIns="0" rIns="0" bIns="0" rtlCol="0" anchor="ctr"/>
          <a:lstStyle/>
          <a:p>
            <a:pPr indent="0" marL="0">
              <a:buNone/>
            </a:pPr>
            <a:r>
              <a:rPr lang="en-US" sz="2100" b="1" spc="-50" kern="0" dirty="0">
                <a:solidFill>
                  <a:srgbClr val="17191B"/>
                </a:solidFill>
                <a:latin typeface="Arial" pitchFamily="34" charset="0"/>
                <a:ea typeface="Arial" pitchFamily="34" charset="-122"/>
                <a:cs typeface="Arial" pitchFamily="34" charset="-120"/>
              </a:rPr>
              <a:t>BMW 116d</a:t>
            </a:r>
            <a:endParaRPr lang="en-US" sz="2100" dirty="0"/>
          </a:p>
        </p:txBody>
      </p:sp>
      <p:sp>
        <p:nvSpPr>
          <p:cNvPr id="7" name="Text 5"/>
          <p:cNvSpPr/>
          <p:nvPr/>
        </p:nvSpPr>
        <p:spPr>
          <a:xfrm>
            <a:off x="1097280" y="2889504"/>
            <a:ext cx="4572000" cy="274320"/>
          </a:xfrm>
          <a:prstGeom prst="rect">
            <a:avLst/>
          </a:prstGeom>
          <a:noFill/>
          <a:ln/>
        </p:spPr>
        <p:txBody>
          <a:bodyPr wrap="square" lIns="0" tIns="0" rIns="0" bIns="0" rtlCol="0" anchor="ctr"/>
          <a:lstStyle/>
          <a:p>
            <a:pPr indent="0" marL="0">
              <a:buNone/>
            </a:pPr>
            <a:r>
              <a:rPr lang="en-US" sz="1100" spc="80" kern="0" dirty="0">
                <a:solidFill>
                  <a:srgbClr val="6E7377"/>
                </a:solidFill>
                <a:latin typeface="Arial" pitchFamily="34" charset="0"/>
                <a:ea typeface="Arial" pitchFamily="34" charset="-122"/>
                <a:cs typeface="Arial" pitchFamily="34" charset="-120"/>
              </a:rPr>
              <a:t>Diesel · Kompaktklasse</a:t>
            </a:r>
            <a:endParaRPr lang="en-US" sz="1100" dirty="0"/>
          </a:p>
        </p:txBody>
      </p:sp>
      <p:sp>
        <p:nvSpPr>
          <p:cNvPr id="8" name="Text 6"/>
          <p:cNvSpPr/>
          <p:nvPr/>
        </p:nvSpPr>
        <p:spPr>
          <a:xfrm>
            <a:off x="1097280" y="3346704"/>
            <a:ext cx="1463040" cy="237744"/>
          </a:xfrm>
          <a:prstGeom prst="rect">
            <a:avLst/>
          </a:prstGeom>
          <a:noFill/>
          <a:ln/>
        </p:spPr>
        <p:txBody>
          <a:bodyPr wrap="square" lIns="0" tIns="0" rIns="0" bIns="0" rtlCol="0" anchor="ctr"/>
          <a:lstStyle/>
          <a:p>
            <a:pPr indent="0" marL="0">
              <a:buNone/>
            </a:pPr>
            <a:r>
              <a:rPr lang="en-US" sz="950" b="1" spc="160" kern="0" dirty="0">
                <a:solidFill>
                  <a:srgbClr val="6E7377"/>
                </a:solidFill>
                <a:latin typeface="Arial" pitchFamily="34" charset="0"/>
                <a:ea typeface="Arial" pitchFamily="34" charset="-122"/>
                <a:cs typeface="Arial" pitchFamily="34" charset="-120"/>
              </a:rPr>
              <a:t>PAPIER</a:t>
            </a:r>
            <a:endParaRPr lang="en-US" sz="950" dirty="0"/>
          </a:p>
        </p:txBody>
      </p:sp>
      <p:sp>
        <p:nvSpPr>
          <p:cNvPr id="9" name="Text 7"/>
          <p:cNvSpPr/>
          <p:nvPr/>
        </p:nvSpPr>
        <p:spPr>
          <a:xfrm>
            <a:off x="1097280" y="3602736"/>
            <a:ext cx="2011680" cy="502920"/>
          </a:xfrm>
          <a:prstGeom prst="rect">
            <a:avLst/>
          </a:prstGeom>
          <a:noFill/>
          <a:ln/>
        </p:spPr>
        <p:txBody>
          <a:bodyPr wrap="square" lIns="0" tIns="0" rIns="0" bIns="0" rtlCol="0" anchor="ctr"/>
          <a:lstStyle/>
          <a:p>
            <a:pPr indent="0" marL="0">
              <a:buNone/>
            </a:pPr>
            <a:r>
              <a:rPr lang="en-US" sz="3200" b="1" spc="-100" kern="0" dirty="0">
                <a:solidFill>
                  <a:srgbClr val="6E7377"/>
                </a:solidFill>
                <a:latin typeface="Arial" pitchFamily="34" charset="0"/>
                <a:ea typeface="Arial" pitchFamily="34" charset="-122"/>
                <a:cs typeface="Arial" pitchFamily="34" charset="-120"/>
              </a:rPr>
              <a:t>4,60 l</a:t>
            </a:r>
            <a:endParaRPr lang="en-US" sz="3200" dirty="0"/>
          </a:p>
        </p:txBody>
      </p:sp>
      <p:sp>
        <p:nvSpPr>
          <p:cNvPr id="10" name="Text 8"/>
          <p:cNvSpPr/>
          <p:nvPr/>
        </p:nvSpPr>
        <p:spPr>
          <a:xfrm>
            <a:off x="3429000" y="3346704"/>
            <a:ext cx="1645920" cy="237744"/>
          </a:xfrm>
          <a:prstGeom prst="rect">
            <a:avLst/>
          </a:prstGeom>
          <a:noFill/>
          <a:ln/>
        </p:spPr>
        <p:txBody>
          <a:bodyPr wrap="square" lIns="0" tIns="0" rIns="0" bIns="0" rtlCol="0" anchor="ctr"/>
          <a:lstStyle/>
          <a:p>
            <a:pPr indent="0" marL="0">
              <a:buNone/>
            </a:pPr>
            <a:r>
              <a:rPr lang="en-US" sz="950" b="1" spc="160" kern="0" dirty="0">
                <a:solidFill>
                  <a:srgbClr val="17191B"/>
                </a:solidFill>
                <a:latin typeface="Arial" pitchFamily="34" charset="0"/>
                <a:ea typeface="Arial" pitchFamily="34" charset="-122"/>
                <a:cs typeface="Arial" pitchFamily="34" charset="-120"/>
              </a:rPr>
              <a:t>STRASSE</a:t>
            </a:r>
            <a:endParaRPr lang="en-US" sz="950" dirty="0"/>
          </a:p>
        </p:txBody>
      </p:sp>
      <p:sp>
        <p:nvSpPr>
          <p:cNvPr id="11" name="Text 9"/>
          <p:cNvSpPr/>
          <p:nvPr/>
        </p:nvSpPr>
        <p:spPr>
          <a:xfrm>
            <a:off x="3429000" y="3602736"/>
            <a:ext cx="2194560" cy="502920"/>
          </a:xfrm>
          <a:prstGeom prst="rect">
            <a:avLst/>
          </a:prstGeom>
          <a:noFill/>
          <a:ln/>
        </p:spPr>
        <p:txBody>
          <a:bodyPr wrap="square" lIns="0" tIns="0" rIns="0" bIns="0" rtlCol="0" anchor="ctr"/>
          <a:lstStyle/>
          <a:p>
            <a:pPr indent="0" marL="0">
              <a:buNone/>
            </a:pPr>
            <a:r>
              <a:rPr lang="en-US" sz="3200" b="1" spc="-100" kern="0" dirty="0">
                <a:solidFill>
                  <a:srgbClr val="17191B"/>
                </a:solidFill>
                <a:latin typeface="Arial" pitchFamily="34" charset="0"/>
                <a:ea typeface="Arial" pitchFamily="34" charset="-122"/>
                <a:cs typeface="Arial" pitchFamily="34" charset="-120"/>
              </a:rPr>
              <a:t>5,44 l</a:t>
            </a:r>
            <a:endParaRPr lang="en-US" sz="3200" dirty="0"/>
          </a:p>
        </p:txBody>
      </p:sp>
      <p:sp>
        <p:nvSpPr>
          <p:cNvPr id="12" name="Shape 10"/>
          <p:cNvSpPr/>
          <p:nvPr/>
        </p:nvSpPr>
        <p:spPr>
          <a:xfrm>
            <a:off x="6446520" y="2286000"/>
            <a:ext cx="5257800" cy="2331720"/>
          </a:xfrm>
          <a:prstGeom prst="rect">
            <a:avLst/>
          </a:prstGeom>
          <a:solidFill>
            <a:srgbClr val="E6E0D2"/>
          </a:solidFill>
          <a:ln w="12700">
            <a:solidFill>
              <a:srgbClr val="333333"/>
            </a:solidFill>
            <a:prstDash val="solid"/>
          </a:ln>
        </p:spPr>
      </p:sp>
      <p:sp>
        <p:nvSpPr>
          <p:cNvPr id="13" name="Text 11"/>
          <p:cNvSpPr/>
          <p:nvPr/>
        </p:nvSpPr>
        <p:spPr>
          <a:xfrm>
            <a:off x="6766560" y="2514600"/>
            <a:ext cx="4572000" cy="365760"/>
          </a:xfrm>
          <a:prstGeom prst="rect">
            <a:avLst/>
          </a:prstGeom>
          <a:noFill/>
          <a:ln/>
        </p:spPr>
        <p:txBody>
          <a:bodyPr wrap="square" lIns="0" tIns="0" rIns="0" bIns="0" rtlCol="0" anchor="ctr"/>
          <a:lstStyle/>
          <a:p>
            <a:pPr indent="0" marL="0">
              <a:buNone/>
            </a:pPr>
            <a:r>
              <a:rPr lang="en-US" sz="2100" b="1" spc="-50" kern="0" dirty="0">
                <a:solidFill>
                  <a:srgbClr val="17191B"/>
                </a:solidFill>
                <a:latin typeface="Arial" pitchFamily="34" charset="0"/>
                <a:ea typeface="Arial" pitchFamily="34" charset="-122"/>
                <a:cs typeface="Arial" pitchFamily="34" charset="-120"/>
              </a:rPr>
              <a:t>MG EHS Plug-in-Hybrid</a:t>
            </a:r>
            <a:endParaRPr lang="en-US" sz="2100" dirty="0"/>
          </a:p>
        </p:txBody>
      </p:sp>
      <p:sp>
        <p:nvSpPr>
          <p:cNvPr id="14" name="Text 12"/>
          <p:cNvSpPr/>
          <p:nvPr/>
        </p:nvSpPr>
        <p:spPr>
          <a:xfrm>
            <a:off x="6766560" y="2889504"/>
            <a:ext cx="4572000" cy="274320"/>
          </a:xfrm>
          <a:prstGeom prst="rect">
            <a:avLst/>
          </a:prstGeom>
          <a:noFill/>
          <a:ln/>
        </p:spPr>
        <p:txBody>
          <a:bodyPr wrap="square" lIns="0" tIns="0" rIns="0" bIns="0" rtlCol="0" anchor="ctr"/>
          <a:lstStyle/>
          <a:p>
            <a:pPr indent="0" marL="0">
              <a:buNone/>
            </a:pPr>
            <a:r>
              <a:rPr lang="en-US" sz="1100" spc="80" kern="0" dirty="0">
                <a:solidFill>
                  <a:srgbClr val="6E7377"/>
                </a:solidFill>
                <a:latin typeface="Arial" pitchFamily="34" charset="0"/>
                <a:ea typeface="Arial" pitchFamily="34" charset="-122"/>
                <a:cs typeface="Arial" pitchFamily="34" charset="-120"/>
              </a:rPr>
              <a:t>extern ladbar · SUV</a:t>
            </a:r>
            <a:endParaRPr lang="en-US" sz="1100" dirty="0"/>
          </a:p>
        </p:txBody>
      </p:sp>
      <p:sp>
        <p:nvSpPr>
          <p:cNvPr id="15" name="Text 13"/>
          <p:cNvSpPr/>
          <p:nvPr/>
        </p:nvSpPr>
        <p:spPr>
          <a:xfrm>
            <a:off x="6766560" y="3346704"/>
            <a:ext cx="1463040" cy="237744"/>
          </a:xfrm>
          <a:prstGeom prst="rect">
            <a:avLst/>
          </a:prstGeom>
          <a:noFill/>
          <a:ln/>
        </p:spPr>
        <p:txBody>
          <a:bodyPr wrap="square" lIns="0" tIns="0" rIns="0" bIns="0" rtlCol="0" anchor="ctr"/>
          <a:lstStyle/>
          <a:p>
            <a:pPr indent="0" marL="0">
              <a:buNone/>
            </a:pPr>
            <a:r>
              <a:rPr lang="en-US" sz="950" b="1" spc="160" kern="0" dirty="0">
                <a:solidFill>
                  <a:srgbClr val="6E7377"/>
                </a:solidFill>
                <a:latin typeface="Arial" pitchFamily="34" charset="0"/>
                <a:ea typeface="Arial" pitchFamily="34" charset="-122"/>
                <a:cs typeface="Arial" pitchFamily="34" charset="-120"/>
              </a:rPr>
              <a:t>PAPIER</a:t>
            </a:r>
            <a:endParaRPr lang="en-US" sz="950" dirty="0"/>
          </a:p>
        </p:txBody>
      </p:sp>
      <p:sp>
        <p:nvSpPr>
          <p:cNvPr id="16" name="Text 14"/>
          <p:cNvSpPr/>
          <p:nvPr/>
        </p:nvSpPr>
        <p:spPr>
          <a:xfrm>
            <a:off x="6766560" y="3602736"/>
            <a:ext cx="2011680" cy="502920"/>
          </a:xfrm>
          <a:prstGeom prst="rect">
            <a:avLst/>
          </a:prstGeom>
          <a:noFill/>
          <a:ln/>
        </p:spPr>
        <p:txBody>
          <a:bodyPr wrap="square" lIns="0" tIns="0" rIns="0" bIns="0" rtlCol="0" anchor="ctr"/>
          <a:lstStyle/>
          <a:p>
            <a:pPr indent="0" marL="0">
              <a:buNone/>
            </a:pPr>
            <a:r>
              <a:rPr lang="en-US" sz="3200" b="1" spc="-100" kern="0" dirty="0">
                <a:solidFill>
                  <a:srgbClr val="6E7377"/>
                </a:solidFill>
                <a:latin typeface="Arial" pitchFamily="34" charset="0"/>
                <a:ea typeface="Arial" pitchFamily="34" charset="-122"/>
                <a:cs typeface="Arial" pitchFamily="34" charset="-120"/>
              </a:rPr>
              <a:t>1,80 l</a:t>
            </a:r>
            <a:endParaRPr lang="en-US" sz="3200" dirty="0"/>
          </a:p>
        </p:txBody>
      </p:sp>
      <p:sp>
        <p:nvSpPr>
          <p:cNvPr id="17" name="Text 15"/>
          <p:cNvSpPr/>
          <p:nvPr/>
        </p:nvSpPr>
        <p:spPr>
          <a:xfrm>
            <a:off x="9098280" y="3346704"/>
            <a:ext cx="1645920" cy="237744"/>
          </a:xfrm>
          <a:prstGeom prst="rect">
            <a:avLst/>
          </a:prstGeom>
          <a:noFill/>
          <a:ln/>
        </p:spPr>
        <p:txBody>
          <a:bodyPr wrap="square" lIns="0" tIns="0" rIns="0" bIns="0" rtlCol="0" anchor="ctr"/>
          <a:lstStyle/>
          <a:p>
            <a:pPr indent="0" marL="0">
              <a:buNone/>
            </a:pPr>
            <a:r>
              <a:rPr lang="en-US" sz="950" b="1" spc="160" kern="0" dirty="0">
                <a:solidFill>
                  <a:srgbClr val="E0442B"/>
                </a:solidFill>
                <a:latin typeface="Arial" pitchFamily="34" charset="0"/>
                <a:ea typeface="Arial" pitchFamily="34" charset="-122"/>
                <a:cs typeface="Arial" pitchFamily="34" charset="-120"/>
              </a:rPr>
              <a:t>STRASSE</a:t>
            </a:r>
            <a:endParaRPr lang="en-US" sz="950" dirty="0"/>
          </a:p>
        </p:txBody>
      </p:sp>
      <p:sp>
        <p:nvSpPr>
          <p:cNvPr id="18" name="Text 16"/>
          <p:cNvSpPr/>
          <p:nvPr/>
        </p:nvSpPr>
        <p:spPr>
          <a:xfrm>
            <a:off x="9098280" y="3602736"/>
            <a:ext cx="2194560" cy="502920"/>
          </a:xfrm>
          <a:prstGeom prst="rect">
            <a:avLst/>
          </a:prstGeom>
          <a:noFill/>
          <a:ln/>
        </p:spPr>
        <p:txBody>
          <a:bodyPr wrap="square" lIns="0" tIns="0" rIns="0" bIns="0" rtlCol="0" anchor="ctr"/>
          <a:lstStyle/>
          <a:p>
            <a:pPr indent="0" marL="0">
              <a:buNone/>
            </a:pPr>
            <a:r>
              <a:rPr lang="en-US" sz="3200" b="1" spc="-100" kern="0" dirty="0">
                <a:solidFill>
                  <a:srgbClr val="E0442B"/>
                </a:solidFill>
                <a:latin typeface="Arial" pitchFamily="34" charset="0"/>
                <a:ea typeface="Arial" pitchFamily="34" charset="-122"/>
                <a:cs typeface="Arial" pitchFamily="34" charset="-120"/>
              </a:rPr>
              <a:t>8,58 l</a:t>
            </a:r>
            <a:endParaRPr lang="en-US" sz="3200" dirty="0"/>
          </a:p>
        </p:txBody>
      </p:sp>
      <p:sp>
        <p:nvSpPr>
          <p:cNvPr id="19" name="Text 17"/>
          <p:cNvSpPr/>
          <p:nvPr/>
        </p:nvSpPr>
        <p:spPr>
          <a:xfrm>
            <a:off x="777240" y="4892040"/>
            <a:ext cx="10637215" cy="411480"/>
          </a:xfrm>
          <a:prstGeom prst="rect">
            <a:avLst/>
          </a:prstGeom>
          <a:noFill/>
          <a:ln/>
        </p:spPr>
        <p:txBody>
          <a:bodyPr wrap="square" lIns="0" tIns="0" rIns="0" bIns="0" rtlCol="0" anchor="ctr"/>
          <a:lstStyle/>
          <a:p>
            <a:pPr algn="ctr" indent="0" marL="0">
              <a:buNone/>
            </a:pPr>
            <a:r>
              <a:rPr lang="en-US" sz="1700" b="1" spc="-30" kern="0" dirty="0">
                <a:solidFill>
                  <a:srgbClr val="17191B"/>
                </a:solidFill>
                <a:latin typeface="Arial" pitchFamily="34" charset="0"/>
                <a:ea typeface="Arial" pitchFamily="34" charset="-122"/>
                <a:cs typeface="Arial" pitchFamily="34" charset="-120"/>
              </a:rPr>
              <a:t>Der Diesel sollte laut Typprüfung 2,6-mal schlechter sein. Real verbraucht er 3,14 l weniger.</a:t>
            </a:r>
            <a:endParaRPr lang="en-US" sz="1700" dirty="0"/>
          </a:p>
        </p:txBody>
      </p:sp>
      <p:sp>
        <p:nvSpPr>
          <p:cNvPr id="20" name="Text 18"/>
          <p:cNvSpPr/>
          <p:nvPr/>
        </p:nvSpPr>
        <p:spPr>
          <a:xfrm>
            <a:off x="777240" y="5349240"/>
            <a:ext cx="10637215" cy="365760"/>
          </a:xfrm>
          <a:prstGeom prst="rect">
            <a:avLst/>
          </a:prstGeom>
          <a:noFill/>
          <a:ln/>
        </p:spPr>
        <p:txBody>
          <a:bodyPr wrap="square" lIns="0" tIns="0" rIns="0" bIns="0" rtlCol="0" anchor="ctr"/>
          <a:lstStyle/>
          <a:p>
            <a:pPr algn="ctr" indent="0" marL="0">
              <a:buNone/>
            </a:pPr>
            <a:r>
              <a:rPr lang="en-US" sz="1300" dirty="0">
                <a:solidFill>
                  <a:srgbClr val="6E7377"/>
                </a:solidFill>
                <a:latin typeface="Arial" pitchFamily="34" charset="0"/>
                <a:ea typeface="Arial" pitchFamily="34" charset="-122"/>
                <a:cs typeface="Arial" pitchFamily="34" charset="-120"/>
              </a:rPr>
              <a:t>In 1.665 von 7.960 Modellpaaren — 20,9 % — kehrt sich die Rangfolge auf der Straße um.</a:t>
            </a:r>
            <a:endParaRPr lang="en-US" sz="1300" dirty="0"/>
          </a:p>
        </p:txBody>
      </p:sp>
      <p:sp>
        <p:nvSpPr>
          <p:cNvPr id="21" name="Text 19"/>
          <p:cNvSpPr/>
          <p:nvPr/>
        </p:nvSpPr>
        <p:spPr>
          <a:xfrm>
            <a:off x="777240" y="6327648"/>
            <a:ext cx="10637215" cy="274320"/>
          </a:xfrm>
          <a:prstGeom prst="rect">
            <a:avLst/>
          </a:prstGeom>
          <a:noFill/>
          <a:ln/>
        </p:spPr>
        <p:txBody>
          <a:bodyPr wrap="square" lIns="0" tIns="0" rIns="0" bIns="0" rtlCol="0" anchor="ctr"/>
          <a:lstStyle/>
          <a:p>
            <a:pPr indent="0" marL="0">
              <a:buNone/>
            </a:pPr>
            <a:r>
              <a:rPr lang="en-US" sz="950" spc="60" kern="0" dirty="0">
                <a:solidFill>
                  <a:srgbClr val="6E7377"/>
                </a:solidFill>
                <a:latin typeface="Arial" pitchFamily="34" charset="0"/>
                <a:ea typeface="Arial" pitchFamily="34" charset="-122"/>
                <a:cs typeface="Arial" pitchFamily="34" charset="-120"/>
              </a:rPr>
              <a:t>A5c — RANK() OVER auf beiden Werten, Rangdifferenz je Modell, mindestens 500 Fahrzeuge</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0E6"/>
        </a:solidFill>
      </p:bgPr>
    </p:bg>
    <p:spTree>
      <p:nvGrpSpPr>
        <p:cNvPr id="1" name=""/>
        <p:cNvGrpSpPr/>
        <p:nvPr/>
      </p:nvGrpSpPr>
      <p:grpSpPr>
        <a:xfrm>
          <a:off x="0" y="0"/>
          <a:ext cx="0" cy="0"/>
          <a:chOff x="0" y="0"/>
          <a:chExt cx="0" cy="0"/>
        </a:xfrm>
      </p:grpSpPr>
      <p:sp>
        <p:nvSpPr>
          <p:cNvPr id="2" name="Text 0"/>
          <p:cNvSpPr/>
          <p:nvPr/>
        </p:nvSpPr>
        <p:spPr>
          <a:xfrm>
            <a:off x="777240" y="475488"/>
            <a:ext cx="10637215" cy="256032"/>
          </a:xfrm>
          <a:prstGeom prst="rect">
            <a:avLst/>
          </a:prstGeom>
          <a:noFill/>
          <a:ln/>
        </p:spPr>
        <p:txBody>
          <a:bodyPr wrap="square" lIns="0" tIns="0" rIns="0" bIns="0" rtlCol="0" anchor="ctr"/>
          <a:lstStyle/>
          <a:p>
            <a:pPr indent="0" marL="0">
              <a:buNone/>
            </a:pPr>
            <a:r>
              <a:rPr lang="en-US" sz="1100" b="1" spc="300" kern="0" dirty="0">
                <a:solidFill>
                  <a:srgbClr val="E0442B"/>
                </a:solidFill>
                <a:latin typeface="Arial" pitchFamily="34" charset="0"/>
                <a:ea typeface="Arial" pitchFamily="34" charset="-122"/>
                <a:cs typeface="Arial" pitchFamily="34" charset="-120"/>
              </a:rPr>
              <a:t>08</a:t>
            </a:r>
            <a:pPr indent="0" marL="0">
              <a:buNone/>
            </a:pPr>
            <a:r>
              <a:rPr lang="en-US" sz="1100" b="1" spc="300" kern="0" dirty="0">
                <a:solidFill>
                  <a:srgbClr val="6E7377"/>
                </a:solidFill>
                <a:latin typeface="Arial" pitchFamily="34" charset="0"/>
                <a:ea typeface="Arial" pitchFamily="34" charset="-122"/>
                <a:cs typeface="Arial" pitchFamily="34" charset="-120"/>
              </a:rPr>
              <a:t>   MODELL</a:t>
            </a:r>
            <a:endParaRPr lang="en-US" sz="1100" dirty="0"/>
          </a:p>
        </p:txBody>
      </p:sp>
      <p:sp>
        <p:nvSpPr>
          <p:cNvPr id="3" name="Text 1"/>
          <p:cNvSpPr/>
          <p:nvPr/>
        </p:nvSpPr>
        <p:spPr>
          <a:xfrm>
            <a:off x="777240" y="841248"/>
            <a:ext cx="10637215" cy="777240"/>
          </a:xfrm>
          <a:prstGeom prst="rect">
            <a:avLst/>
          </a:prstGeom>
          <a:noFill/>
          <a:ln/>
        </p:spPr>
        <p:txBody>
          <a:bodyPr wrap="square" lIns="0" tIns="0" rIns="0" bIns="0" rtlCol="0" anchor="ctr"/>
          <a:lstStyle/>
          <a:p>
            <a:pPr indent="0" marL="0">
              <a:buNone/>
            </a:pPr>
            <a:r>
              <a:rPr lang="en-US" sz="4000" b="1" spc="-120" kern="0" dirty="0">
                <a:solidFill>
                  <a:srgbClr val="17191B"/>
                </a:solidFill>
                <a:latin typeface="Arial" pitchFamily="34" charset="0"/>
                <a:ea typeface="Arial" pitchFamily="34" charset="-122"/>
                <a:cs typeface="Arial" pitchFamily="34" charset="-120"/>
              </a:rPr>
              <a:t>Was das Modell nicht erklären kann.</a:t>
            </a:r>
            <a:endParaRPr lang="en-US" sz="4000" dirty="0"/>
          </a:p>
        </p:txBody>
      </p:sp>
      <p:sp>
        <p:nvSpPr>
          <p:cNvPr id="4" name="Text 2"/>
          <p:cNvSpPr/>
          <p:nvPr/>
        </p:nvSpPr>
        <p:spPr>
          <a:xfrm>
            <a:off x="777240" y="1627632"/>
            <a:ext cx="8297028" cy="457200"/>
          </a:xfrm>
          <a:prstGeom prst="rect">
            <a:avLst/>
          </a:prstGeom>
          <a:noFill/>
          <a:ln/>
        </p:spPr>
        <p:txBody>
          <a:bodyPr wrap="square" lIns="0" tIns="0" rIns="0" bIns="0" rtlCol="0" anchor="ctr"/>
          <a:lstStyle/>
          <a:p>
            <a:pPr indent="0" marL="0">
              <a:buNone/>
            </a:pPr>
            <a:r>
              <a:rPr lang="en-US" sz="1400" dirty="0">
                <a:solidFill>
                  <a:srgbClr val="6E7377"/>
                </a:solidFill>
                <a:latin typeface="Arial" pitchFamily="34" charset="0"/>
                <a:ea typeface="Arial" pitchFamily="34" charset="-122"/>
                <a:cs typeface="Arial" pitchFamily="34" charset="-120"/>
              </a:rPr>
              <a:t>Lineare Regression in KNIME · 70/30-Aufteilung · fester Seed 1234 · Zielgröße: prozentuale Lücke</a:t>
            </a:r>
            <a:endParaRPr lang="en-US" sz="1400" dirty="0"/>
          </a:p>
        </p:txBody>
      </p:sp>
      <p:pic>
        <p:nvPicPr>
          <p:cNvPr id="5" name="Image 0" descr="/sessions/great-cool-volta/mnt/04_Big Data/Woche 4/Projekt_Papier_gegen_Strasse/05_visualisierung/02_scatter_papier_gegen_strasse.png">    </p:cNvPr>
          <p:cNvPicPr>
            <a:picLocks noChangeAspect="1"/>
          </p:cNvPicPr>
          <p:nvPr/>
        </p:nvPicPr>
        <p:blipFill>
          <a:blip r:embed="rId1"/>
          <a:stretch>
            <a:fillRect/>
          </a:stretch>
        </p:blipFill>
        <p:spPr>
          <a:xfrm>
            <a:off x="777240" y="2148840"/>
            <a:ext cx="6949440" cy="1691640"/>
          </a:xfrm>
          <a:prstGeom prst="rect">
            <a:avLst/>
          </a:prstGeom>
        </p:spPr>
      </p:pic>
      <p:sp>
        <p:nvSpPr>
          <p:cNvPr id="6" name="Text 3"/>
          <p:cNvSpPr/>
          <p:nvPr/>
        </p:nvSpPr>
        <p:spPr>
          <a:xfrm>
            <a:off x="777240" y="3886200"/>
            <a:ext cx="6949440" cy="457200"/>
          </a:xfrm>
          <a:prstGeom prst="rect">
            <a:avLst/>
          </a:prstGeom>
          <a:noFill/>
          <a:ln/>
        </p:spPr>
        <p:txBody>
          <a:bodyPr wrap="square" lIns="0" tIns="0" rIns="0" bIns="0" rtlCol="0" anchor="ctr"/>
          <a:lstStyle/>
          <a:p>
            <a:pPr indent="0" marL="0">
              <a:buNone/>
            </a:pPr>
            <a:r>
              <a:rPr lang="en-US" sz="1050" i="1" dirty="0">
                <a:solidFill>
                  <a:srgbClr val="6E7377"/>
                </a:solidFill>
                <a:latin typeface="Century Schoolbook" pitchFamily="34" charset="0"/>
                <a:ea typeface="Century Schoolbook" pitchFamily="34" charset="-122"/>
                <a:cs typeface="Century Schoolbook" pitchFamily="34" charset="-120"/>
              </a:rPr>
              <a:t>Laborwert (x) gegen gemessenen Verbrauch (y) je Modell — die Plug-in-Hybride liegen links, weit oberhalb der Winkelhalbierenden</a:t>
            </a:r>
            <a:endParaRPr lang="en-US" sz="1050" dirty="0"/>
          </a:p>
        </p:txBody>
      </p:sp>
      <p:sp>
        <p:nvSpPr>
          <p:cNvPr id="7" name="Text 4"/>
          <p:cNvSpPr/>
          <p:nvPr/>
        </p:nvSpPr>
        <p:spPr>
          <a:xfrm>
            <a:off x="777240" y="4526280"/>
            <a:ext cx="3840480" cy="630621"/>
          </a:xfrm>
          <a:prstGeom prst="rect">
            <a:avLst/>
          </a:prstGeom>
          <a:noFill/>
          <a:ln/>
        </p:spPr>
        <p:txBody>
          <a:bodyPr wrap="square" lIns="0" tIns="0" rIns="0" bIns="0" rtlCol="0" anchor="ctr"/>
          <a:lstStyle/>
          <a:p>
            <a:pPr indent="0" marL="0">
              <a:buNone/>
            </a:pPr>
            <a:r>
              <a:rPr lang="en-US" sz="4000" b="1" spc="-200" kern="0" dirty="0">
                <a:solidFill>
                  <a:srgbClr val="6E7377"/>
                </a:solidFill>
                <a:latin typeface="Arial" pitchFamily="34" charset="0"/>
                <a:ea typeface="Arial" pitchFamily="34" charset="-122"/>
                <a:cs typeface="Arial" pitchFamily="34" charset="-120"/>
              </a:rPr>
              <a:t>0,736</a:t>
            </a:r>
            <a:pPr indent="0" marL="0">
              <a:buNone/>
            </a:pPr>
            <a:endParaRPr lang="en-US" sz="4000" dirty="0"/>
          </a:p>
        </p:txBody>
      </p:sp>
      <p:sp>
        <p:nvSpPr>
          <p:cNvPr id="8" name="Text 5"/>
          <p:cNvSpPr/>
          <p:nvPr/>
        </p:nvSpPr>
        <p:spPr>
          <a:xfrm>
            <a:off x="777240" y="5138613"/>
            <a:ext cx="3840480" cy="310896"/>
          </a:xfrm>
          <a:prstGeom prst="rect">
            <a:avLst/>
          </a:prstGeom>
          <a:noFill/>
          <a:ln/>
        </p:spPr>
        <p:txBody>
          <a:bodyPr wrap="square" lIns="0" tIns="0" rIns="0" bIns="0" rtlCol="0" anchor="ctr"/>
          <a:lstStyle/>
          <a:p>
            <a:pPr indent="0" marL="0">
              <a:buNone/>
            </a:pPr>
            <a:r>
              <a:rPr lang="en-US" sz="1100" spc="80" kern="0" dirty="0">
                <a:solidFill>
                  <a:srgbClr val="6E7377"/>
                </a:solidFill>
                <a:latin typeface="Arial" pitchFamily="34" charset="0"/>
                <a:ea typeface="Arial" pitchFamily="34" charset="-122"/>
                <a:cs typeface="Arial" pitchFamily="34" charset="-120"/>
              </a:rPr>
              <a:t>R² über alle Antriebe</a:t>
            </a:r>
            <a:endParaRPr lang="en-US" sz="1100" dirty="0"/>
          </a:p>
        </p:txBody>
      </p:sp>
      <p:sp>
        <p:nvSpPr>
          <p:cNvPr id="9" name="Text 6"/>
          <p:cNvSpPr/>
          <p:nvPr/>
        </p:nvSpPr>
        <p:spPr>
          <a:xfrm>
            <a:off x="3520440" y="4526280"/>
            <a:ext cx="3840480" cy="630621"/>
          </a:xfrm>
          <a:prstGeom prst="rect">
            <a:avLst/>
          </a:prstGeom>
          <a:noFill/>
          <a:ln/>
        </p:spPr>
        <p:txBody>
          <a:bodyPr wrap="square" lIns="0" tIns="0" rIns="0" bIns="0" rtlCol="0" anchor="ctr"/>
          <a:lstStyle/>
          <a:p>
            <a:pPr indent="0" marL="0">
              <a:buNone/>
            </a:pPr>
            <a:r>
              <a:rPr lang="en-US" sz="4000" b="1" spc="-200" kern="0" dirty="0">
                <a:solidFill>
                  <a:srgbClr val="E0442B"/>
                </a:solidFill>
                <a:latin typeface="Arial" pitchFamily="34" charset="0"/>
                <a:ea typeface="Arial" pitchFamily="34" charset="-122"/>
                <a:cs typeface="Arial" pitchFamily="34" charset="-120"/>
              </a:rPr>
              <a:t>0,581</a:t>
            </a:r>
            <a:pPr indent="0" marL="0">
              <a:buNone/>
            </a:pPr>
            <a:endParaRPr lang="en-US" sz="4000" dirty="0"/>
          </a:p>
        </p:txBody>
      </p:sp>
      <p:sp>
        <p:nvSpPr>
          <p:cNvPr id="10" name="Text 7"/>
          <p:cNvSpPr/>
          <p:nvPr/>
        </p:nvSpPr>
        <p:spPr>
          <a:xfrm>
            <a:off x="3520440" y="5138613"/>
            <a:ext cx="3840480" cy="310896"/>
          </a:xfrm>
          <a:prstGeom prst="rect">
            <a:avLst/>
          </a:prstGeom>
          <a:noFill/>
          <a:ln/>
        </p:spPr>
        <p:txBody>
          <a:bodyPr wrap="square" lIns="0" tIns="0" rIns="0" bIns="0" rtlCol="0" anchor="ctr"/>
          <a:lstStyle/>
          <a:p>
            <a:pPr indent="0" marL="0">
              <a:buNone/>
            </a:pPr>
            <a:r>
              <a:rPr lang="en-US" sz="1100" spc="80" kern="0" dirty="0">
                <a:solidFill>
                  <a:srgbClr val="6E7377"/>
                </a:solidFill>
                <a:latin typeface="Arial" pitchFamily="34" charset="0"/>
                <a:ea typeface="Arial" pitchFamily="34" charset="-122"/>
                <a:cs typeface="Arial" pitchFamily="34" charset="-120"/>
              </a:rPr>
              <a:t>R² innerhalb der Plug-in-Hybride</a:t>
            </a:r>
            <a:endParaRPr lang="en-US" sz="1100" dirty="0"/>
          </a:p>
        </p:txBody>
      </p:sp>
      <p:sp>
        <p:nvSpPr>
          <p:cNvPr id="11" name="Shape 8"/>
          <p:cNvSpPr/>
          <p:nvPr/>
        </p:nvSpPr>
        <p:spPr>
          <a:xfrm>
            <a:off x="7909560" y="2148840"/>
            <a:ext cx="3504895" cy="3657600"/>
          </a:xfrm>
          <a:prstGeom prst="rect">
            <a:avLst/>
          </a:prstGeom>
          <a:solidFill>
            <a:srgbClr val="E6E0D2"/>
          </a:solidFill>
          <a:ln w="12700">
            <a:solidFill>
              <a:srgbClr val="333333"/>
            </a:solidFill>
            <a:prstDash val="solid"/>
          </a:ln>
        </p:spPr>
      </p:sp>
      <p:sp>
        <p:nvSpPr>
          <p:cNvPr id="12" name="Text 9"/>
          <p:cNvSpPr/>
          <p:nvPr/>
        </p:nvSpPr>
        <p:spPr>
          <a:xfrm>
            <a:off x="8183880" y="2514600"/>
            <a:ext cx="3230575" cy="777240"/>
          </a:xfrm>
          <a:prstGeom prst="rect">
            <a:avLst/>
          </a:prstGeom>
          <a:noFill/>
          <a:ln/>
        </p:spPr>
        <p:txBody>
          <a:bodyPr wrap="square" lIns="0" tIns="0" rIns="0" bIns="0" rtlCol="0" anchor="ctr"/>
          <a:lstStyle/>
          <a:p>
            <a:pPr indent="0" marL="0">
              <a:buNone/>
            </a:pPr>
            <a:r>
              <a:rPr lang="en-US" sz="6200" b="1" spc="-250" kern="0" dirty="0">
                <a:solidFill>
                  <a:srgbClr val="E0442B"/>
                </a:solidFill>
                <a:latin typeface="Arial" pitchFamily="34" charset="0"/>
                <a:ea typeface="Arial" pitchFamily="34" charset="-122"/>
                <a:cs typeface="Arial" pitchFamily="34" charset="-120"/>
              </a:rPr>
              <a:t>42 %</a:t>
            </a:r>
            <a:endParaRPr lang="en-US" sz="6200" dirty="0"/>
          </a:p>
        </p:txBody>
      </p:sp>
      <p:sp>
        <p:nvSpPr>
          <p:cNvPr id="13" name="Text 10"/>
          <p:cNvSpPr/>
          <p:nvPr/>
        </p:nvSpPr>
        <p:spPr>
          <a:xfrm>
            <a:off x="8183880" y="3364992"/>
            <a:ext cx="3230575" cy="1097280"/>
          </a:xfrm>
          <a:prstGeom prst="rect">
            <a:avLst/>
          </a:prstGeom>
          <a:noFill/>
          <a:ln/>
        </p:spPr>
        <p:txBody>
          <a:bodyPr wrap="square" lIns="0" tIns="0" rIns="0" bIns="0" rtlCol="0" anchor="ctr"/>
          <a:lstStyle/>
          <a:p>
            <a:pPr indent="0" marL="0">
              <a:buNone/>
            </a:pPr>
            <a:r>
              <a:rPr lang="en-US" sz="1250" dirty="0">
                <a:solidFill>
                  <a:srgbClr val="17191B"/>
                </a:solidFill>
                <a:latin typeface="Arial" pitchFamily="34" charset="0"/>
                <a:ea typeface="Arial" pitchFamily="34" charset="-122"/>
                <a:cs typeface="Arial" pitchFamily="34" charset="-120"/>
              </a:rPr>
              <a:t>der Streuung bleiben unerklärt — innerhalb einer einzigen Antriebsart, kontrolliert für Masse, Leistung, elektrische Reichweite, geladenen Netzstrom und elektrischen Fahranteil.</a:t>
            </a:r>
            <a:endParaRPr lang="en-US" sz="1250" dirty="0"/>
          </a:p>
        </p:txBody>
      </p:sp>
      <p:sp>
        <p:nvSpPr>
          <p:cNvPr id="14" name="Text 11"/>
          <p:cNvSpPr/>
          <p:nvPr/>
        </p:nvSpPr>
        <p:spPr>
          <a:xfrm>
            <a:off x="8183880" y="4572000"/>
            <a:ext cx="3230575" cy="1005840"/>
          </a:xfrm>
          <a:prstGeom prst="rect">
            <a:avLst/>
          </a:prstGeom>
          <a:noFill/>
          <a:ln/>
        </p:spPr>
        <p:txBody>
          <a:bodyPr wrap="square" lIns="0" tIns="0" rIns="0" bIns="0" rtlCol="0" anchor="ctr"/>
          <a:lstStyle/>
          <a:p>
            <a:pPr indent="0" marL="0">
              <a:buNone/>
            </a:pPr>
            <a:r>
              <a:rPr lang="en-US" sz="1300" i="1" dirty="0">
                <a:solidFill>
                  <a:srgbClr val="17191B"/>
                </a:solidFill>
                <a:latin typeface="Century Schoolbook" pitchFamily="34" charset="0"/>
                <a:ea typeface="Century Schoolbook" pitchFamily="34" charset="-122"/>
                <a:cs typeface="Century Schoolbook" pitchFamily="34" charset="-120"/>
              </a:rPr>
              <a:t>Die Lücke ist zu einem erheblichen Teil keine Fahrzeugeigenschaft, sondern Ladeverhalten. Und das steht in keiner Zulassungsdatenbank.</a:t>
            </a:r>
            <a:endParaRPr lang="en-US" sz="1300" dirty="0"/>
          </a:p>
        </p:txBody>
      </p:sp>
      <p:sp>
        <p:nvSpPr>
          <p:cNvPr id="15" name="Text 12"/>
          <p:cNvSpPr/>
          <p:nvPr/>
        </p:nvSpPr>
        <p:spPr>
          <a:xfrm>
            <a:off x="777240" y="6327648"/>
            <a:ext cx="10637215" cy="274320"/>
          </a:xfrm>
          <a:prstGeom prst="rect">
            <a:avLst/>
          </a:prstGeom>
          <a:noFill/>
          <a:ln/>
        </p:spPr>
        <p:txBody>
          <a:bodyPr wrap="square" lIns="0" tIns="0" rIns="0" bIns="0" rtlCol="0" anchor="ctr"/>
          <a:lstStyle/>
          <a:p>
            <a:pPr indent="0" marL="0">
              <a:buNone/>
            </a:pPr>
            <a:r>
              <a:rPr lang="en-US" sz="950" spc="60" kern="0" dirty="0">
                <a:solidFill>
                  <a:srgbClr val="6E7377"/>
                </a:solidFill>
                <a:latin typeface="Arial" pitchFamily="34" charset="0"/>
                <a:ea typeface="Arial" pitchFamily="34" charset="-122"/>
                <a:cs typeface="Arial" pitchFamily="34" charset="-120"/>
              </a:rPr>
              <a:t>MAE 103,8 PP · RMSE 147,3 PP · mittlere vorzeichenbehaftete Abweichung +0,95 — Streuung, keine Verzerrung</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7191B"/>
        </a:solidFill>
      </p:bgPr>
    </p:bg>
    <p:spTree>
      <p:nvGrpSpPr>
        <p:cNvPr id="1" name=""/>
        <p:cNvGrpSpPr/>
        <p:nvPr/>
      </p:nvGrpSpPr>
      <p:grpSpPr>
        <a:xfrm>
          <a:off x="0" y="0"/>
          <a:ext cx="0" cy="0"/>
          <a:chOff x="0" y="0"/>
          <a:chExt cx="0" cy="0"/>
        </a:xfrm>
      </p:grpSpPr>
      <p:sp>
        <p:nvSpPr>
          <p:cNvPr id="2" name="Text 0"/>
          <p:cNvSpPr/>
          <p:nvPr/>
        </p:nvSpPr>
        <p:spPr>
          <a:xfrm>
            <a:off x="777240" y="475488"/>
            <a:ext cx="10637215" cy="256032"/>
          </a:xfrm>
          <a:prstGeom prst="rect">
            <a:avLst/>
          </a:prstGeom>
          <a:noFill/>
          <a:ln/>
        </p:spPr>
        <p:txBody>
          <a:bodyPr wrap="square" lIns="0" tIns="0" rIns="0" bIns="0" rtlCol="0" anchor="ctr"/>
          <a:lstStyle/>
          <a:p>
            <a:pPr indent="0" marL="0">
              <a:buNone/>
            </a:pPr>
            <a:r>
              <a:rPr lang="en-US" sz="1100" b="1" spc="300" kern="0" dirty="0">
                <a:solidFill>
                  <a:srgbClr val="E0442B"/>
                </a:solidFill>
                <a:latin typeface="Arial" pitchFamily="34" charset="0"/>
                <a:ea typeface="Arial" pitchFamily="34" charset="-122"/>
                <a:cs typeface="Arial" pitchFamily="34" charset="-120"/>
              </a:rPr>
              <a:t>09</a:t>
            </a:r>
            <a:pPr indent="0" marL="0">
              <a:buNone/>
            </a:pPr>
            <a:r>
              <a:rPr lang="en-US" sz="1100" b="1" spc="300" kern="0" dirty="0">
                <a:solidFill>
                  <a:srgbClr val="C9C4B6"/>
                </a:solidFill>
                <a:latin typeface="Arial" pitchFamily="34" charset="0"/>
                <a:ea typeface="Arial" pitchFamily="34" charset="-122"/>
                <a:cs typeface="Arial" pitchFamily="34" charset="-120"/>
              </a:rPr>
              <a:t>   ARBEITSWEISE</a:t>
            </a:r>
            <a:endParaRPr lang="en-US" sz="1100" dirty="0"/>
          </a:p>
        </p:txBody>
      </p:sp>
      <p:sp>
        <p:nvSpPr>
          <p:cNvPr id="3" name="Text 1"/>
          <p:cNvSpPr/>
          <p:nvPr/>
        </p:nvSpPr>
        <p:spPr>
          <a:xfrm>
            <a:off x="777240" y="841248"/>
            <a:ext cx="10637215" cy="777240"/>
          </a:xfrm>
          <a:prstGeom prst="rect">
            <a:avLst/>
          </a:prstGeom>
          <a:noFill/>
          <a:ln/>
        </p:spPr>
        <p:txBody>
          <a:bodyPr wrap="square" lIns="0" tIns="0" rIns="0" bIns="0" rtlCol="0" anchor="ctr"/>
          <a:lstStyle/>
          <a:p>
            <a:pPr indent="0" marL="0">
              <a:buNone/>
            </a:pPr>
            <a:r>
              <a:rPr lang="en-US" sz="4000" b="1" spc="-120" kern="0" dirty="0">
                <a:solidFill>
                  <a:srgbClr val="F4F0E6"/>
                </a:solidFill>
                <a:latin typeface="Arial" pitchFamily="34" charset="0"/>
                <a:ea typeface="Arial" pitchFamily="34" charset="-122"/>
                <a:cs typeface="Arial" pitchFamily="34" charset="-120"/>
              </a:rPr>
              <a:t>17 Fehler. Sechs davon stumm.</a:t>
            </a:r>
            <a:endParaRPr lang="en-US" sz="4000" dirty="0"/>
          </a:p>
        </p:txBody>
      </p:sp>
      <p:sp>
        <p:nvSpPr>
          <p:cNvPr id="4" name="Text 2"/>
          <p:cNvSpPr/>
          <p:nvPr/>
        </p:nvSpPr>
        <p:spPr>
          <a:xfrm>
            <a:off x="777240" y="1627632"/>
            <a:ext cx="8297028" cy="457200"/>
          </a:xfrm>
          <a:prstGeom prst="rect">
            <a:avLst/>
          </a:prstGeom>
          <a:noFill/>
          <a:ln/>
        </p:spPr>
        <p:txBody>
          <a:bodyPr wrap="square" lIns="0" tIns="0" rIns="0" bIns="0" rtlCol="0" anchor="ctr"/>
          <a:lstStyle/>
          <a:p>
            <a:pPr indent="0" marL="0">
              <a:buNone/>
            </a:pPr>
            <a:r>
              <a:rPr lang="en-US" sz="1400" dirty="0">
                <a:solidFill>
                  <a:srgbClr val="C9C4B6"/>
                </a:solidFill>
                <a:latin typeface="Arial" pitchFamily="34" charset="0"/>
                <a:ea typeface="Arial" pitchFamily="34" charset="-122"/>
                <a:cs typeface="Arial" pitchFamily="34" charset="-120"/>
              </a:rPr>
              <a:t>Stumm heißt: kein Abbruch, keine Warnung — nur ein falsches oder leeres Ergebnis, während jeder Schritt „ok“ meldet.</a:t>
            </a:r>
            <a:endParaRPr lang="en-US" sz="1400" dirty="0"/>
          </a:p>
        </p:txBody>
      </p:sp>
      <p:sp>
        <p:nvSpPr>
          <p:cNvPr id="5" name="Text 3"/>
          <p:cNvSpPr/>
          <p:nvPr/>
        </p:nvSpPr>
        <p:spPr>
          <a:xfrm>
            <a:off x="777240" y="2377440"/>
            <a:ext cx="731520" cy="411480"/>
          </a:xfrm>
          <a:prstGeom prst="rect">
            <a:avLst/>
          </a:prstGeom>
          <a:noFill/>
          <a:ln/>
        </p:spPr>
        <p:txBody>
          <a:bodyPr wrap="square" lIns="0" tIns="0" rIns="0" bIns="0" rtlCol="0" anchor="ctr"/>
          <a:lstStyle/>
          <a:p>
            <a:pPr indent="0" marL="0">
              <a:buNone/>
            </a:pPr>
            <a:r>
              <a:rPr lang="en-US" sz="2400" b="1" spc="-100" kern="0" dirty="0">
                <a:solidFill>
                  <a:srgbClr val="E0442B"/>
                </a:solidFill>
                <a:latin typeface="Arial" pitchFamily="34" charset="0"/>
                <a:ea typeface="Arial" pitchFamily="34" charset="-122"/>
                <a:cs typeface="Arial" pitchFamily="34" charset="-120"/>
              </a:rPr>
              <a:t>01</a:t>
            </a:r>
            <a:endParaRPr lang="en-US" sz="2400" dirty="0"/>
          </a:p>
        </p:txBody>
      </p:sp>
      <p:sp>
        <p:nvSpPr>
          <p:cNvPr id="6" name="Text 4"/>
          <p:cNvSpPr/>
          <p:nvPr/>
        </p:nvSpPr>
        <p:spPr>
          <a:xfrm>
            <a:off x="777240" y="2852928"/>
            <a:ext cx="3271418" cy="566928"/>
          </a:xfrm>
          <a:prstGeom prst="rect">
            <a:avLst/>
          </a:prstGeom>
          <a:noFill/>
          <a:ln/>
        </p:spPr>
        <p:txBody>
          <a:bodyPr wrap="square" lIns="0" tIns="0" rIns="0" bIns="0" rtlCol="0" anchor="ctr"/>
          <a:lstStyle/>
          <a:p>
            <a:pPr indent="0" marL="0">
              <a:buNone/>
            </a:pPr>
            <a:r>
              <a:rPr lang="en-US" sz="1500" b="1" spc="-30" kern="0" dirty="0">
                <a:solidFill>
                  <a:srgbClr val="F4F0E6"/>
                </a:solidFill>
                <a:latin typeface="Arial" pitchFamily="34" charset="0"/>
                <a:ea typeface="Arial" pitchFamily="34" charset="-122"/>
                <a:cs typeface="Arial" pitchFamily="34" charset="-120"/>
              </a:rPr>
              <a:t>Die SMARD-Datei wurde nie geladen</a:t>
            </a:r>
            <a:endParaRPr lang="en-US" sz="1500" dirty="0"/>
          </a:p>
        </p:txBody>
      </p:sp>
      <p:sp>
        <p:nvSpPr>
          <p:cNvPr id="7" name="Text 5"/>
          <p:cNvSpPr/>
          <p:nvPr/>
        </p:nvSpPr>
        <p:spPr>
          <a:xfrm>
            <a:off x="777240" y="3493008"/>
            <a:ext cx="3271418" cy="1371600"/>
          </a:xfrm>
          <a:prstGeom prst="rect">
            <a:avLst/>
          </a:prstGeom>
          <a:noFill/>
          <a:ln/>
        </p:spPr>
        <p:txBody>
          <a:bodyPr wrap="square" lIns="0" tIns="0" rIns="0" bIns="0" rtlCol="0" anchor="ctr"/>
          <a:lstStyle/>
          <a:p>
            <a:pPr indent="0" marL="0">
              <a:buNone/>
            </a:pPr>
            <a:r>
              <a:rPr lang="en-US" sz="1150" dirty="0">
                <a:solidFill>
                  <a:srgbClr val="C9C4B6"/>
                </a:solidFill>
                <a:latin typeface="Arial" pitchFamily="34" charset="0"/>
                <a:ea typeface="Arial" pitchFamily="34" charset="-122"/>
                <a:cs typeface="Arial" pitchFamily="34" charset="-120"/>
              </a:rPr>
              <a:t>Downloader und Auswertung existierten, der Ladeschritt dazwischen fehlte. Die Kette rechnete auf einer leeren Tabelle weiter. Alle vier Schritte meldeten Erfolg.</a:t>
            </a:r>
            <a:endParaRPr lang="en-US" sz="1150" dirty="0"/>
          </a:p>
        </p:txBody>
      </p:sp>
      <p:sp>
        <p:nvSpPr>
          <p:cNvPr id="8" name="Text 6"/>
          <p:cNvSpPr/>
          <p:nvPr/>
        </p:nvSpPr>
        <p:spPr>
          <a:xfrm>
            <a:off x="4368698" y="2377440"/>
            <a:ext cx="731520" cy="411480"/>
          </a:xfrm>
          <a:prstGeom prst="rect">
            <a:avLst/>
          </a:prstGeom>
          <a:noFill/>
          <a:ln/>
        </p:spPr>
        <p:txBody>
          <a:bodyPr wrap="square" lIns="0" tIns="0" rIns="0" bIns="0" rtlCol="0" anchor="ctr"/>
          <a:lstStyle/>
          <a:p>
            <a:pPr indent="0" marL="0">
              <a:buNone/>
            </a:pPr>
            <a:r>
              <a:rPr lang="en-US" sz="2400" b="1" spc="-100" kern="0" dirty="0">
                <a:solidFill>
                  <a:srgbClr val="E0442B"/>
                </a:solidFill>
                <a:latin typeface="Arial" pitchFamily="34" charset="0"/>
                <a:ea typeface="Arial" pitchFamily="34" charset="-122"/>
                <a:cs typeface="Arial" pitchFamily="34" charset="-120"/>
              </a:rPr>
              <a:t>02</a:t>
            </a:r>
            <a:endParaRPr lang="en-US" sz="2400" dirty="0"/>
          </a:p>
        </p:txBody>
      </p:sp>
      <p:sp>
        <p:nvSpPr>
          <p:cNvPr id="9" name="Text 7"/>
          <p:cNvSpPr/>
          <p:nvPr/>
        </p:nvSpPr>
        <p:spPr>
          <a:xfrm>
            <a:off x="4368698" y="2852928"/>
            <a:ext cx="3271418" cy="566928"/>
          </a:xfrm>
          <a:prstGeom prst="rect">
            <a:avLst/>
          </a:prstGeom>
          <a:noFill/>
          <a:ln/>
        </p:spPr>
        <p:txBody>
          <a:bodyPr wrap="square" lIns="0" tIns="0" rIns="0" bIns="0" rtlCol="0" anchor="ctr"/>
          <a:lstStyle/>
          <a:p>
            <a:pPr indent="0" marL="0">
              <a:buNone/>
            </a:pPr>
            <a:r>
              <a:rPr lang="en-US" sz="1500" b="1" spc="-30" kern="0" dirty="0">
                <a:solidFill>
                  <a:srgbClr val="F4F0E6"/>
                </a:solidFill>
                <a:latin typeface="Arial" pitchFamily="34" charset="0"/>
                <a:ea typeface="Arial" pitchFamily="34" charset="-122"/>
                <a:cs typeface="Arial" pitchFamily="34" charset="-120"/>
              </a:rPr>
              <a:t>min(ft) wählt alphabetisch</a:t>
            </a:r>
            <a:endParaRPr lang="en-US" sz="1500" dirty="0"/>
          </a:p>
        </p:txBody>
      </p:sp>
      <p:sp>
        <p:nvSpPr>
          <p:cNvPr id="10" name="Text 8"/>
          <p:cNvSpPr/>
          <p:nvPr/>
        </p:nvSpPr>
        <p:spPr>
          <a:xfrm>
            <a:off x="4368698" y="3493008"/>
            <a:ext cx="3271418" cy="1371600"/>
          </a:xfrm>
          <a:prstGeom prst="rect">
            <a:avLst/>
          </a:prstGeom>
          <a:noFill/>
          <a:ln/>
        </p:spPr>
        <p:txBody>
          <a:bodyPr wrap="square" lIns="0" tIns="0" rIns="0" bIns="0" rtlCol="0" anchor="ctr"/>
          <a:lstStyle/>
          <a:p>
            <a:pPr indent="0" marL="0">
              <a:buNone/>
            </a:pPr>
            <a:r>
              <a:rPr lang="en-US" sz="1150" dirty="0">
                <a:solidFill>
                  <a:srgbClr val="C9C4B6"/>
                </a:solidFill>
                <a:latin typeface="Arial" pitchFamily="34" charset="0"/>
                <a:ea typeface="Arial" pitchFamily="34" charset="-122"/>
                <a:cs typeface="Arial" pitchFamily="34" charset="-120"/>
              </a:rPr>
              <a:t>Die gesamte Plug-in-Hybrid-Flotte wurde mit dem Dieselfaktor bepreist. Aufgefallen nur, weil dieselbe Flotte in zwei Ausgaben mit 157,7 und 139,6 g/km erschien.</a:t>
            </a:r>
            <a:endParaRPr lang="en-US" sz="1150" dirty="0"/>
          </a:p>
        </p:txBody>
      </p:sp>
      <p:sp>
        <p:nvSpPr>
          <p:cNvPr id="11" name="Text 9"/>
          <p:cNvSpPr/>
          <p:nvPr/>
        </p:nvSpPr>
        <p:spPr>
          <a:xfrm>
            <a:off x="7960157" y="2377440"/>
            <a:ext cx="731520" cy="411480"/>
          </a:xfrm>
          <a:prstGeom prst="rect">
            <a:avLst/>
          </a:prstGeom>
          <a:noFill/>
          <a:ln/>
        </p:spPr>
        <p:txBody>
          <a:bodyPr wrap="square" lIns="0" tIns="0" rIns="0" bIns="0" rtlCol="0" anchor="ctr"/>
          <a:lstStyle/>
          <a:p>
            <a:pPr indent="0" marL="0">
              <a:buNone/>
            </a:pPr>
            <a:r>
              <a:rPr lang="en-US" sz="2400" b="1" spc="-100" kern="0" dirty="0">
                <a:solidFill>
                  <a:srgbClr val="E0442B"/>
                </a:solidFill>
                <a:latin typeface="Arial" pitchFamily="34" charset="0"/>
                <a:ea typeface="Arial" pitchFamily="34" charset="-122"/>
                <a:cs typeface="Arial" pitchFamily="34" charset="-120"/>
              </a:rPr>
              <a:t>03</a:t>
            </a:r>
            <a:endParaRPr lang="en-US" sz="2400" dirty="0"/>
          </a:p>
        </p:txBody>
      </p:sp>
      <p:sp>
        <p:nvSpPr>
          <p:cNvPr id="12" name="Text 10"/>
          <p:cNvSpPr/>
          <p:nvPr/>
        </p:nvSpPr>
        <p:spPr>
          <a:xfrm>
            <a:off x="7960157" y="2852928"/>
            <a:ext cx="3271418" cy="566928"/>
          </a:xfrm>
          <a:prstGeom prst="rect">
            <a:avLst/>
          </a:prstGeom>
          <a:noFill/>
          <a:ln/>
        </p:spPr>
        <p:txBody>
          <a:bodyPr wrap="square" lIns="0" tIns="0" rIns="0" bIns="0" rtlCol="0" anchor="ctr"/>
          <a:lstStyle/>
          <a:p>
            <a:pPr indent="0" marL="0">
              <a:buNone/>
            </a:pPr>
            <a:r>
              <a:rPr lang="en-US" sz="1500" b="1" spc="-30" kern="0" dirty="0">
                <a:solidFill>
                  <a:srgbClr val="F4F0E6"/>
                </a:solidFill>
                <a:latin typeface="Arial" pitchFamily="34" charset="0"/>
                <a:ea typeface="Arial" pitchFamily="34" charset="-122"/>
                <a:cs typeface="Arial" pitchFamily="34" charset="-120"/>
              </a:rPr>
              <a:t>Die Spaltenreihenfolge wich ab</a:t>
            </a:r>
            <a:endParaRPr lang="en-US" sz="1500" dirty="0"/>
          </a:p>
        </p:txBody>
      </p:sp>
      <p:sp>
        <p:nvSpPr>
          <p:cNvPr id="13" name="Text 11"/>
          <p:cNvSpPr/>
          <p:nvPr/>
        </p:nvSpPr>
        <p:spPr>
          <a:xfrm>
            <a:off x="7960157" y="3493008"/>
            <a:ext cx="3271418" cy="1371600"/>
          </a:xfrm>
          <a:prstGeom prst="rect">
            <a:avLst/>
          </a:prstGeom>
          <a:noFill/>
          <a:ln/>
        </p:spPr>
        <p:txBody>
          <a:bodyPr wrap="square" lIns="0" tIns="0" rIns="0" bIns="0" rtlCol="0" anchor="ctr"/>
          <a:lstStyle/>
          <a:p>
            <a:pPr indent="0" marL="0">
              <a:buNone/>
            </a:pPr>
            <a:r>
              <a:rPr lang="en-US" sz="1150" dirty="0">
                <a:solidFill>
                  <a:srgbClr val="C9C4B6"/>
                </a:solidFill>
                <a:latin typeface="Arial" pitchFamily="34" charset="0"/>
                <a:ea typeface="Arial" pitchFamily="34" charset="-122"/>
                <a:cs typeface="Arial" pitchFamily="34" charset="-120"/>
              </a:rPr>
              <a:t>Ein positionelles COPY hätte Windstrom als Wasserkraft verbucht — unsichtbar, weil beide den Emissionsfaktor null tragen.</a:t>
            </a:r>
            <a:endParaRPr lang="en-US" sz="1150" dirty="0"/>
          </a:p>
        </p:txBody>
      </p:sp>
      <p:sp>
        <p:nvSpPr>
          <p:cNvPr id="14" name="Shape 12"/>
          <p:cNvSpPr/>
          <p:nvPr/>
        </p:nvSpPr>
        <p:spPr>
          <a:xfrm>
            <a:off x="777240" y="5029200"/>
            <a:ext cx="10637215" cy="914400"/>
          </a:xfrm>
          <a:prstGeom prst="rect">
            <a:avLst/>
          </a:prstGeom>
          <a:solidFill>
            <a:srgbClr val="202325"/>
          </a:solidFill>
          <a:ln w="12700">
            <a:solidFill>
              <a:srgbClr val="333333"/>
            </a:solidFill>
            <a:prstDash val="solid"/>
          </a:ln>
        </p:spPr>
      </p:sp>
      <p:sp>
        <p:nvSpPr>
          <p:cNvPr id="15" name="Text 13"/>
          <p:cNvSpPr/>
          <p:nvPr/>
        </p:nvSpPr>
        <p:spPr>
          <a:xfrm>
            <a:off x="1097280" y="5230368"/>
            <a:ext cx="9997135" cy="548640"/>
          </a:xfrm>
          <a:prstGeom prst="rect">
            <a:avLst/>
          </a:prstGeom>
          <a:noFill/>
          <a:ln/>
        </p:spPr>
        <p:txBody>
          <a:bodyPr wrap="square" lIns="0" tIns="0" rIns="0" bIns="0" rtlCol="0" anchor="ctr"/>
          <a:lstStyle/>
          <a:p>
            <a:pPr indent="0" marL="0">
              <a:buNone/>
            </a:pPr>
            <a:r>
              <a:rPr lang="en-US" sz="1350" i="1" dirty="0">
                <a:solidFill>
                  <a:srgbClr val="F4F0E6"/>
                </a:solidFill>
                <a:latin typeface="Century Schoolbook" pitchFamily="34" charset="0"/>
                <a:ea typeface="Century Schoolbook" pitchFamily="34" charset="-122"/>
                <a:cs typeface="Century Schoolbook" pitchFamily="34" charset="-120"/>
              </a:rPr>
              <a:t>Konsequenz: Ein leerer Eingang ist ein Abbruch, kein Ergebnis. Annahmen stehen in Parametertabellen mit einer Spalte „geprüft“ — und die Prüfung hat zwei meiner Werte korrigiert.</a:t>
            </a:r>
            <a:endParaRPr lang="en-US" sz="1350" dirty="0"/>
          </a:p>
        </p:txBody>
      </p:sp>
      <p:sp>
        <p:nvSpPr>
          <p:cNvPr id="16" name="Text 14"/>
          <p:cNvSpPr/>
          <p:nvPr/>
        </p:nvSpPr>
        <p:spPr>
          <a:xfrm>
            <a:off x="777240" y="6327648"/>
            <a:ext cx="10637215" cy="274320"/>
          </a:xfrm>
          <a:prstGeom prst="rect">
            <a:avLst/>
          </a:prstGeom>
          <a:noFill/>
          <a:ln/>
        </p:spPr>
        <p:txBody>
          <a:bodyPr wrap="square" lIns="0" tIns="0" rIns="0" bIns="0" rtlCol="0" anchor="ctr"/>
          <a:lstStyle/>
          <a:p>
            <a:pPr indent="0" marL="0">
              <a:buNone/>
            </a:pPr>
            <a:r>
              <a:rPr lang="en-US" sz="950" spc="60" kern="0" dirty="0">
                <a:solidFill>
                  <a:srgbClr val="6E7377"/>
                </a:solidFill>
                <a:latin typeface="Arial" pitchFamily="34" charset="0"/>
                <a:ea typeface="Arial" pitchFamily="34" charset="-122"/>
                <a:cs typeface="Arial" pitchFamily="34" charset="-120"/>
              </a:rPr>
              <a:t>Vollständiges Protokoll: 00_doku/07_Fehlerprotokoll.md</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7191B"/>
        </a:solidFill>
      </p:bgPr>
    </p:bg>
    <p:spTree>
      <p:nvGrpSpPr>
        <p:cNvPr id="1" name=""/>
        <p:cNvGrpSpPr/>
        <p:nvPr/>
      </p:nvGrpSpPr>
      <p:grpSpPr>
        <a:xfrm>
          <a:off x="0" y="0"/>
          <a:ext cx="0" cy="0"/>
          <a:chOff x="0" y="0"/>
          <a:chExt cx="0" cy="0"/>
        </a:xfrm>
      </p:grpSpPr>
      <p:sp>
        <p:nvSpPr>
          <p:cNvPr id="2" name="Text 0"/>
          <p:cNvSpPr/>
          <p:nvPr/>
        </p:nvSpPr>
        <p:spPr>
          <a:xfrm>
            <a:off x="777240" y="475488"/>
            <a:ext cx="10637215" cy="256032"/>
          </a:xfrm>
          <a:prstGeom prst="rect">
            <a:avLst/>
          </a:prstGeom>
          <a:noFill/>
          <a:ln/>
        </p:spPr>
        <p:txBody>
          <a:bodyPr wrap="square" lIns="0" tIns="0" rIns="0" bIns="0" rtlCol="0" anchor="ctr"/>
          <a:lstStyle/>
          <a:p>
            <a:pPr indent="0" marL="0">
              <a:buNone/>
            </a:pPr>
            <a:r>
              <a:rPr lang="en-US" sz="1100" b="1" spc="300" kern="0" dirty="0">
                <a:solidFill>
                  <a:srgbClr val="E0442B"/>
                </a:solidFill>
                <a:latin typeface="Arial" pitchFamily="34" charset="0"/>
                <a:ea typeface="Arial" pitchFamily="34" charset="-122"/>
                <a:cs typeface="Arial" pitchFamily="34" charset="-120"/>
              </a:rPr>
              <a:t>10</a:t>
            </a:r>
            <a:pPr indent="0" marL="0">
              <a:buNone/>
            </a:pPr>
            <a:r>
              <a:rPr lang="en-US" sz="1100" b="1" spc="300" kern="0" dirty="0">
                <a:solidFill>
                  <a:srgbClr val="C9C4B6"/>
                </a:solidFill>
                <a:latin typeface="Arial" pitchFamily="34" charset="0"/>
                <a:ea typeface="Arial" pitchFamily="34" charset="-122"/>
                <a:cs typeface="Arial" pitchFamily="34" charset="-120"/>
              </a:rPr>
              <a:t>   WAS BLEIBT</a:t>
            </a:r>
            <a:endParaRPr lang="en-US" sz="1100" dirty="0"/>
          </a:p>
        </p:txBody>
      </p:sp>
      <p:sp>
        <p:nvSpPr>
          <p:cNvPr id="3" name="Text 1"/>
          <p:cNvSpPr/>
          <p:nvPr/>
        </p:nvSpPr>
        <p:spPr>
          <a:xfrm>
            <a:off x="777240" y="841248"/>
            <a:ext cx="10637215" cy="777240"/>
          </a:xfrm>
          <a:prstGeom prst="rect">
            <a:avLst/>
          </a:prstGeom>
          <a:noFill/>
          <a:ln/>
        </p:spPr>
        <p:txBody>
          <a:bodyPr wrap="square" lIns="0" tIns="0" rIns="0" bIns="0" rtlCol="0" anchor="ctr"/>
          <a:lstStyle/>
          <a:p>
            <a:pPr indent="0" marL="0">
              <a:buNone/>
            </a:pPr>
            <a:r>
              <a:rPr lang="en-US" sz="4000" b="1" spc="-120" kern="0" dirty="0">
                <a:solidFill>
                  <a:srgbClr val="F4F0E6"/>
                </a:solidFill>
                <a:latin typeface="Arial" pitchFamily="34" charset="0"/>
                <a:ea typeface="Arial" pitchFamily="34" charset="-122"/>
                <a:cs typeface="Arial" pitchFamily="34" charset="-120"/>
              </a:rPr>
              <a:t>Drei Sätze, die vorher nicht so dastanden.</a:t>
            </a:r>
            <a:endParaRPr lang="en-US" sz="4000" dirty="0"/>
          </a:p>
        </p:txBody>
      </p:sp>
      <p:sp>
        <p:nvSpPr>
          <p:cNvPr id="4" name="Text 2"/>
          <p:cNvSpPr/>
          <p:nvPr/>
        </p:nvSpPr>
        <p:spPr>
          <a:xfrm>
            <a:off x="777240" y="2185416"/>
            <a:ext cx="640080" cy="365760"/>
          </a:xfrm>
          <a:prstGeom prst="rect">
            <a:avLst/>
          </a:prstGeom>
          <a:noFill/>
          <a:ln/>
        </p:spPr>
        <p:txBody>
          <a:bodyPr wrap="square" lIns="0" tIns="0" rIns="0" bIns="0" rtlCol="0" anchor="ctr"/>
          <a:lstStyle/>
          <a:p>
            <a:pPr indent="0" marL="0">
              <a:buNone/>
            </a:pPr>
            <a:r>
              <a:rPr lang="en-US" sz="2000" b="1" spc="-100" kern="0" dirty="0">
                <a:solidFill>
                  <a:srgbClr val="C9C4B6"/>
                </a:solidFill>
                <a:latin typeface="Arial" pitchFamily="34" charset="0"/>
                <a:ea typeface="Arial" pitchFamily="34" charset="-122"/>
                <a:cs typeface="Arial" pitchFamily="34" charset="-120"/>
              </a:rPr>
              <a:t>01</a:t>
            </a:r>
            <a:endParaRPr lang="en-US" sz="2000" dirty="0"/>
          </a:p>
        </p:txBody>
      </p:sp>
      <p:sp>
        <p:nvSpPr>
          <p:cNvPr id="5" name="Text 3"/>
          <p:cNvSpPr/>
          <p:nvPr/>
        </p:nvSpPr>
        <p:spPr>
          <a:xfrm>
            <a:off x="1554480" y="2148840"/>
            <a:ext cx="9859975" cy="457200"/>
          </a:xfrm>
          <a:prstGeom prst="rect">
            <a:avLst/>
          </a:prstGeom>
          <a:noFill/>
          <a:ln/>
        </p:spPr>
        <p:txBody>
          <a:bodyPr wrap="square" lIns="0" tIns="0" rIns="0" bIns="0" rtlCol="0" anchor="ctr"/>
          <a:lstStyle/>
          <a:p>
            <a:pPr indent="0" marL="0">
              <a:buNone/>
            </a:pPr>
            <a:r>
              <a:rPr lang="en-US" sz="1900" b="1" spc="-40" kern="0" dirty="0">
                <a:solidFill>
                  <a:srgbClr val="F4F0E6"/>
                </a:solidFill>
                <a:latin typeface="Arial" pitchFamily="34" charset="0"/>
                <a:ea typeface="Arial" pitchFamily="34" charset="-122"/>
                <a:cs typeface="Arial" pitchFamily="34" charset="-120"/>
              </a:rPr>
              <a:t>Der Verbrenner ist besser als sein Ruf.</a:t>
            </a:r>
            <a:endParaRPr lang="en-US" sz="1900" dirty="0"/>
          </a:p>
        </p:txBody>
      </p:sp>
      <p:sp>
        <p:nvSpPr>
          <p:cNvPr id="6" name="Text 4"/>
          <p:cNvSpPr/>
          <p:nvPr/>
        </p:nvSpPr>
        <p:spPr>
          <a:xfrm>
            <a:off x="1554480" y="2624328"/>
            <a:ext cx="9859975" cy="457200"/>
          </a:xfrm>
          <a:prstGeom prst="rect">
            <a:avLst/>
          </a:prstGeom>
          <a:noFill/>
          <a:ln/>
        </p:spPr>
        <p:txBody>
          <a:bodyPr wrap="square" lIns="0" tIns="0" rIns="0" bIns="0" rtlCol="0" anchor="ctr"/>
          <a:lstStyle/>
          <a:p>
            <a:pPr indent="0" marL="0">
              <a:buNone/>
            </a:pPr>
            <a:r>
              <a:rPr lang="en-US" sz="1250" dirty="0">
                <a:solidFill>
                  <a:srgbClr val="C9C4B6"/>
                </a:solidFill>
                <a:latin typeface="Arial" pitchFamily="34" charset="0"/>
                <a:ea typeface="Arial" pitchFamily="34" charset="-122"/>
                <a:cs typeface="Arial" pitchFamily="34" charset="-120"/>
              </a:rPr>
              <a:t>+16 bis +19 % Abweichung — systematisch, aber beherrschbar.</a:t>
            </a:r>
            <a:endParaRPr lang="en-US" sz="1250" dirty="0"/>
          </a:p>
        </p:txBody>
      </p:sp>
      <p:sp>
        <p:nvSpPr>
          <p:cNvPr id="7" name="Text 5"/>
          <p:cNvSpPr/>
          <p:nvPr/>
        </p:nvSpPr>
        <p:spPr>
          <a:xfrm>
            <a:off x="777240" y="3355848"/>
            <a:ext cx="640080" cy="365760"/>
          </a:xfrm>
          <a:prstGeom prst="rect">
            <a:avLst/>
          </a:prstGeom>
          <a:noFill/>
          <a:ln/>
        </p:spPr>
        <p:txBody>
          <a:bodyPr wrap="square" lIns="0" tIns="0" rIns="0" bIns="0" rtlCol="0" anchor="ctr"/>
          <a:lstStyle/>
          <a:p>
            <a:pPr indent="0" marL="0">
              <a:buNone/>
            </a:pPr>
            <a:r>
              <a:rPr lang="en-US" sz="2000" b="1" spc="-100" kern="0" dirty="0">
                <a:solidFill>
                  <a:srgbClr val="E0442B"/>
                </a:solidFill>
                <a:latin typeface="Arial" pitchFamily="34" charset="0"/>
                <a:ea typeface="Arial" pitchFamily="34" charset="-122"/>
                <a:cs typeface="Arial" pitchFamily="34" charset="-120"/>
              </a:rPr>
              <a:t>02</a:t>
            </a:r>
            <a:endParaRPr lang="en-US" sz="2000" dirty="0"/>
          </a:p>
        </p:txBody>
      </p:sp>
      <p:sp>
        <p:nvSpPr>
          <p:cNvPr id="8" name="Text 6"/>
          <p:cNvSpPr/>
          <p:nvPr/>
        </p:nvSpPr>
        <p:spPr>
          <a:xfrm>
            <a:off x="1554480" y="3319272"/>
            <a:ext cx="9859975" cy="457200"/>
          </a:xfrm>
          <a:prstGeom prst="rect">
            <a:avLst/>
          </a:prstGeom>
          <a:noFill/>
          <a:ln/>
        </p:spPr>
        <p:txBody>
          <a:bodyPr wrap="square" lIns="0" tIns="0" rIns="0" bIns="0" rtlCol="0" anchor="ctr"/>
          <a:lstStyle/>
          <a:p>
            <a:pPr indent="0" marL="0">
              <a:buNone/>
            </a:pPr>
            <a:r>
              <a:rPr lang="en-US" sz="1900" b="1" spc="-40" kern="0" dirty="0">
                <a:solidFill>
                  <a:srgbClr val="F4F0E6"/>
                </a:solidFill>
                <a:latin typeface="Arial" pitchFamily="34" charset="0"/>
                <a:ea typeface="Arial" pitchFamily="34" charset="-122"/>
                <a:cs typeface="Arial" pitchFamily="34" charset="-120"/>
              </a:rPr>
              <a:t>Der Plug-in-Hybrid ist besser als seine Kritiker sagen — und viel schlechter als sein Papier.</a:t>
            </a:r>
            <a:endParaRPr lang="en-US" sz="1900" dirty="0"/>
          </a:p>
        </p:txBody>
      </p:sp>
      <p:sp>
        <p:nvSpPr>
          <p:cNvPr id="9" name="Text 7"/>
          <p:cNvSpPr/>
          <p:nvPr/>
        </p:nvSpPr>
        <p:spPr>
          <a:xfrm>
            <a:off x="1554480" y="3794760"/>
            <a:ext cx="9859975" cy="457200"/>
          </a:xfrm>
          <a:prstGeom prst="rect">
            <a:avLst/>
          </a:prstGeom>
          <a:noFill/>
          <a:ln/>
        </p:spPr>
        <p:txBody>
          <a:bodyPr wrap="square" lIns="0" tIns="0" rIns="0" bIns="0" rtlCol="0" anchor="ctr"/>
          <a:lstStyle/>
          <a:p>
            <a:pPr indent="0" marL="0">
              <a:buNone/>
            </a:pPr>
            <a:r>
              <a:rPr lang="en-US" sz="1250" dirty="0">
                <a:solidFill>
                  <a:srgbClr val="C9C4B6"/>
                </a:solidFill>
                <a:latin typeface="Arial" pitchFamily="34" charset="0"/>
                <a:ea typeface="Arial" pitchFamily="34" charset="-122"/>
                <a:cs typeface="Arial" pitchFamily="34" charset="-120"/>
              </a:rPr>
              <a:t>Real 160,8 gegen 169,4 g/km beim Benziner. Zertifiziert sind 31,0.</a:t>
            </a:r>
            <a:endParaRPr lang="en-US" sz="1250" dirty="0"/>
          </a:p>
        </p:txBody>
      </p:sp>
      <p:sp>
        <p:nvSpPr>
          <p:cNvPr id="10" name="Text 8"/>
          <p:cNvSpPr/>
          <p:nvPr/>
        </p:nvSpPr>
        <p:spPr>
          <a:xfrm>
            <a:off x="777240" y="4526280"/>
            <a:ext cx="640080" cy="365760"/>
          </a:xfrm>
          <a:prstGeom prst="rect">
            <a:avLst/>
          </a:prstGeom>
          <a:noFill/>
          <a:ln/>
        </p:spPr>
        <p:txBody>
          <a:bodyPr wrap="square" lIns="0" tIns="0" rIns="0" bIns="0" rtlCol="0" anchor="ctr"/>
          <a:lstStyle/>
          <a:p>
            <a:pPr indent="0" marL="0">
              <a:buNone/>
            </a:pPr>
            <a:r>
              <a:rPr lang="en-US" sz="2000" b="1" spc="-100" kern="0" dirty="0">
                <a:solidFill>
                  <a:srgbClr val="2E8B62"/>
                </a:solidFill>
                <a:latin typeface="Arial" pitchFamily="34" charset="0"/>
                <a:ea typeface="Arial" pitchFamily="34" charset="-122"/>
                <a:cs typeface="Arial" pitchFamily="34" charset="-120"/>
              </a:rPr>
              <a:t>03</a:t>
            </a:r>
            <a:endParaRPr lang="en-US" sz="2000" dirty="0"/>
          </a:p>
        </p:txBody>
      </p:sp>
      <p:sp>
        <p:nvSpPr>
          <p:cNvPr id="11" name="Text 9"/>
          <p:cNvSpPr/>
          <p:nvPr/>
        </p:nvSpPr>
        <p:spPr>
          <a:xfrm>
            <a:off x="1554480" y="4489704"/>
            <a:ext cx="9859975" cy="457200"/>
          </a:xfrm>
          <a:prstGeom prst="rect">
            <a:avLst/>
          </a:prstGeom>
          <a:noFill/>
          <a:ln/>
        </p:spPr>
        <p:txBody>
          <a:bodyPr wrap="square" lIns="0" tIns="0" rIns="0" bIns="0" rtlCol="0" anchor="ctr"/>
          <a:lstStyle/>
          <a:p>
            <a:pPr indent="0" marL="0">
              <a:buNone/>
            </a:pPr>
            <a:r>
              <a:rPr lang="en-US" sz="1900" b="1" spc="-40" kern="0" dirty="0">
                <a:solidFill>
                  <a:srgbClr val="F4F0E6"/>
                </a:solidFill>
                <a:latin typeface="Arial" pitchFamily="34" charset="0"/>
                <a:ea typeface="Arial" pitchFamily="34" charset="-122"/>
                <a:cs typeface="Arial" pitchFamily="34" charset="-120"/>
              </a:rPr>
              <a:t>Das Batterieauto ist nicht emissionsfrei, aber unangefochten vorn.</a:t>
            </a:r>
            <a:endParaRPr lang="en-US" sz="1900" dirty="0"/>
          </a:p>
        </p:txBody>
      </p:sp>
      <p:sp>
        <p:nvSpPr>
          <p:cNvPr id="12" name="Text 10"/>
          <p:cNvSpPr/>
          <p:nvPr/>
        </p:nvSpPr>
        <p:spPr>
          <a:xfrm>
            <a:off x="1554480" y="4965192"/>
            <a:ext cx="9859975" cy="457200"/>
          </a:xfrm>
          <a:prstGeom prst="rect">
            <a:avLst/>
          </a:prstGeom>
          <a:noFill/>
          <a:ln/>
        </p:spPr>
        <p:txBody>
          <a:bodyPr wrap="square" lIns="0" tIns="0" rIns="0" bIns="0" rtlCol="0" anchor="ctr"/>
          <a:lstStyle/>
          <a:p>
            <a:pPr indent="0" marL="0">
              <a:buNone/>
            </a:pPr>
            <a:r>
              <a:rPr lang="en-US" sz="1250" dirty="0">
                <a:solidFill>
                  <a:srgbClr val="C9C4B6"/>
                </a:solidFill>
                <a:latin typeface="Arial" pitchFamily="34" charset="0"/>
                <a:ea typeface="Arial" pitchFamily="34" charset="-122"/>
                <a:cs typeface="Arial" pitchFamily="34" charset="-120"/>
              </a:rPr>
              <a:t>66,7 g/km statt der vorgeschriebenen null — im ungünstigsten Szenario noch 44 % des besten Verbrenners.</a:t>
            </a:r>
            <a:endParaRPr lang="en-US" sz="1250" dirty="0"/>
          </a:p>
        </p:txBody>
      </p:sp>
      <p:sp>
        <p:nvSpPr>
          <p:cNvPr id="13" name="Shape 11"/>
          <p:cNvSpPr/>
          <p:nvPr/>
        </p:nvSpPr>
        <p:spPr>
          <a:xfrm>
            <a:off x="777240" y="5742432"/>
            <a:ext cx="310896" cy="50292"/>
          </a:xfrm>
          <a:prstGeom prst="rect">
            <a:avLst/>
          </a:prstGeom>
          <a:solidFill>
            <a:srgbClr val="E0442B"/>
          </a:solidFill>
          <a:ln w="12700">
            <a:solidFill>
              <a:srgbClr val="333333"/>
            </a:solidFill>
            <a:prstDash val="solid"/>
          </a:ln>
        </p:spPr>
      </p:sp>
      <p:sp>
        <p:nvSpPr>
          <p:cNvPr id="14" name="Shape 12"/>
          <p:cNvSpPr/>
          <p:nvPr/>
        </p:nvSpPr>
        <p:spPr>
          <a:xfrm>
            <a:off x="1344168" y="5742432"/>
            <a:ext cx="310896" cy="50292"/>
          </a:xfrm>
          <a:prstGeom prst="rect">
            <a:avLst/>
          </a:prstGeom>
          <a:solidFill>
            <a:srgbClr val="E0442B"/>
          </a:solidFill>
          <a:ln w="12700">
            <a:solidFill>
              <a:srgbClr val="333333"/>
            </a:solidFill>
            <a:prstDash val="solid"/>
          </a:ln>
        </p:spPr>
      </p:sp>
      <p:sp>
        <p:nvSpPr>
          <p:cNvPr id="15" name="Shape 13"/>
          <p:cNvSpPr/>
          <p:nvPr/>
        </p:nvSpPr>
        <p:spPr>
          <a:xfrm>
            <a:off x="1911096" y="5742432"/>
            <a:ext cx="310896" cy="50292"/>
          </a:xfrm>
          <a:prstGeom prst="rect">
            <a:avLst/>
          </a:prstGeom>
          <a:solidFill>
            <a:srgbClr val="E0442B"/>
          </a:solidFill>
          <a:ln w="12700">
            <a:solidFill>
              <a:srgbClr val="333333"/>
            </a:solidFill>
            <a:prstDash val="solid"/>
          </a:ln>
        </p:spPr>
      </p:sp>
      <p:sp>
        <p:nvSpPr>
          <p:cNvPr id="16" name="Shape 14"/>
          <p:cNvSpPr/>
          <p:nvPr/>
        </p:nvSpPr>
        <p:spPr>
          <a:xfrm>
            <a:off x="2478024" y="5742432"/>
            <a:ext cx="310896" cy="50292"/>
          </a:xfrm>
          <a:prstGeom prst="rect">
            <a:avLst/>
          </a:prstGeom>
          <a:solidFill>
            <a:srgbClr val="2C2F31"/>
          </a:solidFill>
          <a:ln w="12700">
            <a:solidFill>
              <a:srgbClr val="333333"/>
            </a:solidFill>
            <a:prstDash val="solid"/>
          </a:ln>
        </p:spPr>
      </p:sp>
      <p:sp>
        <p:nvSpPr>
          <p:cNvPr id="17" name="Shape 15"/>
          <p:cNvSpPr/>
          <p:nvPr/>
        </p:nvSpPr>
        <p:spPr>
          <a:xfrm>
            <a:off x="3044952" y="5742432"/>
            <a:ext cx="310896" cy="50292"/>
          </a:xfrm>
          <a:prstGeom prst="rect">
            <a:avLst/>
          </a:prstGeom>
          <a:solidFill>
            <a:srgbClr val="2C2F31"/>
          </a:solidFill>
          <a:ln w="12700">
            <a:solidFill>
              <a:srgbClr val="333333"/>
            </a:solidFill>
            <a:prstDash val="solid"/>
          </a:ln>
        </p:spPr>
      </p:sp>
      <p:sp>
        <p:nvSpPr>
          <p:cNvPr id="18" name="Shape 16"/>
          <p:cNvSpPr/>
          <p:nvPr/>
        </p:nvSpPr>
        <p:spPr>
          <a:xfrm>
            <a:off x="3611880" y="5742432"/>
            <a:ext cx="310896" cy="50292"/>
          </a:xfrm>
          <a:prstGeom prst="rect">
            <a:avLst/>
          </a:prstGeom>
          <a:solidFill>
            <a:srgbClr val="2C2F31"/>
          </a:solidFill>
          <a:ln w="12700">
            <a:solidFill>
              <a:srgbClr val="333333"/>
            </a:solidFill>
            <a:prstDash val="solid"/>
          </a:ln>
        </p:spPr>
      </p:sp>
      <p:sp>
        <p:nvSpPr>
          <p:cNvPr id="19" name="Shape 17"/>
          <p:cNvSpPr/>
          <p:nvPr/>
        </p:nvSpPr>
        <p:spPr>
          <a:xfrm>
            <a:off x="4178808" y="5742432"/>
            <a:ext cx="310896" cy="50292"/>
          </a:xfrm>
          <a:prstGeom prst="rect">
            <a:avLst/>
          </a:prstGeom>
          <a:solidFill>
            <a:srgbClr val="2C2F31"/>
          </a:solidFill>
          <a:ln w="12700">
            <a:solidFill>
              <a:srgbClr val="333333"/>
            </a:solidFill>
            <a:prstDash val="solid"/>
          </a:ln>
        </p:spPr>
      </p:sp>
      <p:sp>
        <p:nvSpPr>
          <p:cNvPr id="20" name="Shape 18"/>
          <p:cNvSpPr/>
          <p:nvPr/>
        </p:nvSpPr>
        <p:spPr>
          <a:xfrm>
            <a:off x="4745736" y="5742432"/>
            <a:ext cx="310896" cy="50292"/>
          </a:xfrm>
          <a:prstGeom prst="rect">
            <a:avLst/>
          </a:prstGeom>
          <a:solidFill>
            <a:srgbClr val="2C2F31"/>
          </a:solidFill>
          <a:ln w="12700">
            <a:solidFill>
              <a:srgbClr val="333333"/>
            </a:solidFill>
            <a:prstDash val="solid"/>
          </a:ln>
        </p:spPr>
      </p:sp>
      <p:sp>
        <p:nvSpPr>
          <p:cNvPr id="21" name="Shape 19"/>
          <p:cNvSpPr/>
          <p:nvPr/>
        </p:nvSpPr>
        <p:spPr>
          <a:xfrm>
            <a:off x="5312664" y="5742432"/>
            <a:ext cx="310896" cy="50292"/>
          </a:xfrm>
          <a:prstGeom prst="rect">
            <a:avLst/>
          </a:prstGeom>
          <a:solidFill>
            <a:srgbClr val="2C2F31"/>
          </a:solidFill>
          <a:ln w="12700">
            <a:solidFill>
              <a:srgbClr val="333333"/>
            </a:solidFill>
            <a:prstDash val="solid"/>
          </a:ln>
        </p:spPr>
      </p:sp>
      <p:sp>
        <p:nvSpPr>
          <p:cNvPr id="22" name="Text 20"/>
          <p:cNvSpPr/>
          <p:nvPr/>
        </p:nvSpPr>
        <p:spPr>
          <a:xfrm>
            <a:off x="777240" y="5943600"/>
            <a:ext cx="10637215" cy="411480"/>
          </a:xfrm>
          <a:prstGeom prst="rect">
            <a:avLst/>
          </a:prstGeom>
          <a:noFill/>
          <a:ln/>
        </p:spPr>
        <p:txBody>
          <a:bodyPr wrap="square" lIns="0" tIns="0" rIns="0" bIns="0" rtlCol="0" anchor="ctr"/>
          <a:lstStyle/>
          <a:p>
            <a:pPr indent="0" marL="0">
              <a:buNone/>
            </a:pPr>
            <a:r>
              <a:rPr lang="en-US" sz="1700" i="1" dirty="0">
                <a:solidFill>
                  <a:srgbClr val="F4F0E6"/>
                </a:solidFill>
                <a:latin typeface="Century Schoolbook" pitchFamily="34" charset="0"/>
                <a:ea typeface="Century Schoolbook" pitchFamily="34" charset="-122"/>
                <a:cs typeface="Century Schoolbook" pitchFamily="34" charset="-120"/>
              </a:rPr>
              <a:t>Nicht die Technik weicht ab, sondern die Verhaltensannahme in der Regel.</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0E6"/>
        </a:solidFill>
      </p:bgPr>
    </p:bg>
    <p:spTree>
      <p:nvGrpSpPr>
        <p:cNvPr id="1" name=""/>
        <p:cNvGrpSpPr/>
        <p:nvPr/>
      </p:nvGrpSpPr>
      <p:grpSpPr>
        <a:xfrm>
          <a:off x="0" y="0"/>
          <a:ext cx="0" cy="0"/>
          <a:chOff x="0" y="0"/>
          <a:chExt cx="0" cy="0"/>
        </a:xfrm>
      </p:grpSpPr>
      <p:sp>
        <p:nvSpPr>
          <p:cNvPr id="2" name="Text 0"/>
          <p:cNvSpPr/>
          <p:nvPr/>
        </p:nvSpPr>
        <p:spPr>
          <a:xfrm>
            <a:off x="777240" y="475488"/>
            <a:ext cx="10637215" cy="256032"/>
          </a:xfrm>
          <a:prstGeom prst="rect">
            <a:avLst/>
          </a:prstGeom>
          <a:noFill/>
          <a:ln/>
        </p:spPr>
        <p:txBody>
          <a:bodyPr wrap="square" lIns="0" tIns="0" rIns="0" bIns="0" rtlCol="0" anchor="ctr"/>
          <a:lstStyle/>
          <a:p>
            <a:pPr indent="0" marL="0">
              <a:buNone/>
            </a:pPr>
            <a:r>
              <a:rPr lang="en-US" sz="1100" b="1" spc="300" kern="0" dirty="0">
                <a:solidFill>
                  <a:srgbClr val="E0442B"/>
                </a:solidFill>
                <a:latin typeface="Arial" pitchFamily="34" charset="0"/>
                <a:ea typeface="Arial" pitchFamily="34" charset="-122"/>
                <a:cs typeface="Arial" pitchFamily="34" charset="-120"/>
              </a:rPr>
              <a:t>11</a:t>
            </a:r>
            <a:pPr indent="0" marL="0">
              <a:buNone/>
            </a:pPr>
            <a:r>
              <a:rPr lang="en-US" sz="1100" b="1" spc="300" kern="0" dirty="0">
                <a:solidFill>
                  <a:srgbClr val="6E7377"/>
                </a:solidFill>
                <a:latin typeface="Arial" pitchFamily="34" charset="0"/>
                <a:ea typeface="Arial" pitchFamily="34" charset="-122"/>
                <a:cs typeface="Arial" pitchFamily="34" charset="-120"/>
              </a:rPr>
              <a:t>   NACHVOLLZIEHBARKEIT</a:t>
            </a:r>
            <a:endParaRPr lang="en-US" sz="1100" dirty="0"/>
          </a:p>
        </p:txBody>
      </p:sp>
      <p:sp>
        <p:nvSpPr>
          <p:cNvPr id="3" name="Text 1"/>
          <p:cNvSpPr/>
          <p:nvPr/>
        </p:nvSpPr>
        <p:spPr>
          <a:xfrm>
            <a:off x="777240" y="841248"/>
            <a:ext cx="10637215" cy="777240"/>
          </a:xfrm>
          <a:prstGeom prst="rect">
            <a:avLst/>
          </a:prstGeom>
          <a:noFill/>
          <a:ln/>
        </p:spPr>
        <p:txBody>
          <a:bodyPr wrap="square" lIns="0" tIns="0" rIns="0" bIns="0" rtlCol="0" anchor="ctr"/>
          <a:lstStyle/>
          <a:p>
            <a:pPr indent="0" marL="0">
              <a:buNone/>
            </a:pPr>
            <a:r>
              <a:rPr lang="en-US" sz="4000" b="1" spc="-120" kern="0" dirty="0">
                <a:solidFill>
                  <a:srgbClr val="17191B"/>
                </a:solidFill>
                <a:latin typeface="Arial" pitchFamily="34" charset="0"/>
                <a:ea typeface="Arial" pitchFamily="34" charset="-122"/>
                <a:cs typeface="Arial" pitchFamily="34" charset="-120"/>
              </a:rPr>
              <a:t>Ein Aufruf baut das ganze Projekt neu.</a:t>
            </a:r>
            <a:endParaRPr lang="en-US" sz="4000" dirty="0"/>
          </a:p>
        </p:txBody>
      </p:sp>
      <p:sp>
        <p:nvSpPr>
          <p:cNvPr id="4" name="Shape 2"/>
          <p:cNvSpPr/>
          <p:nvPr/>
        </p:nvSpPr>
        <p:spPr>
          <a:xfrm>
            <a:off x="777240" y="2011680"/>
            <a:ext cx="10637215" cy="868680"/>
          </a:xfrm>
          <a:prstGeom prst="rect">
            <a:avLst/>
          </a:prstGeom>
          <a:solidFill>
            <a:srgbClr val="17191B"/>
          </a:solidFill>
          <a:ln w="12700">
            <a:solidFill>
              <a:srgbClr val="333333"/>
            </a:solidFill>
            <a:prstDash val="solid"/>
          </a:ln>
        </p:spPr>
      </p:sp>
      <p:sp>
        <p:nvSpPr>
          <p:cNvPr id="5" name="Text 3"/>
          <p:cNvSpPr/>
          <p:nvPr/>
        </p:nvSpPr>
        <p:spPr>
          <a:xfrm>
            <a:off x="1143000" y="2212848"/>
            <a:ext cx="9905695" cy="457200"/>
          </a:xfrm>
          <a:prstGeom prst="rect">
            <a:avLst/>
          </a:prstGeom>
          <a:noFill/>
          <a:ln/>
        </p:spPr>
        <p:txBody>
          <a:bodyPr wrap="square" lIns="0" tIns="0" rIns="0" bIns="0" rtlCol="0" anchor="ctr"/>
          <a:lstStyle/>
          <a:p>
            <a:pPr indent="0" marL="0">
              <a:buNone/>
            </a:pPr>
            <a:r>
              <a:rPr lang="en-US" sz="2200" dirty="0">
                <a:solidFill>
                  <a:srgbClr val="8FD68F"/>
                </a:solidFill>
                <a:latin typeface="Courier New" pitchFamily="34" charset="0"/>
                <a:ea typeface="Courier New" pitchFamily="34" charset="-122"/>
                <a:cs typeface="Courier New" pitchFamily="34" charset="-120"/>
              </a:rPr>
              <a:t>.\03_skripte\99_run_all.ps1</a:t>
            </a:r>
            <a:endParaRPr lang="en-US" sz="2200" dirty="0"/>
          </a:p>
        </p:txBody>
      </p:sp>
      <p:sp>
        <p:nvSpPr>
          <p:cNvPr id="6" name="Text 4"/>
          <p:cNvSpPr/>
          <p:nvPr/>
        </p:nvSpPr>
        <p:spPr>
          <a:xfrm>
            <a:off x="777240" y="3200400"/>
            <a:ext cx="3840480" cy="630621"/>
          </a:xfrm>
          <a:prstGeom prst="rect">
            <a:avLst/>
          </a:prstGeom>
          <a:noFill/>
          <a:ln/>
        </p:spPr>
        <p:txBody>
          <a:bodyPr wrap="square" lIns="0" tIns="0" rIns="0" bIns="0" rtlCol="0" anchor="ctr"/>
          <a:lstStyle/>
          <a:p>
            <a:pPr indent="0" marL="0">
              <a:buNone/>
            </a:pPr>
            <a:r>
              <a:rPr lang="en-US" sz="4000" b="1" spc="-200" kern="0" dirty="0">
                <a:solidFill>
                  <a:srgbClr val="17191B"/>
                </a:solidFill>
                <a:latin typeface="Arial" pitchFamily="34" charset="0"/>
                <a:ea typeface="Arial" pitchFamily="34" charset="-122"/>
                <a:cs typeface="Arial" pitchFamily="34" charset="-120"/>
              </a:rPr>
              <a:t>45 Mio.</a:t>
            </a:r>
            <a:pPr indent="0" marL="0">
              <a:buNone/>
            </a:pPr>
            <a:endParaRPr lang="en-US" sz="4000" dirty="0"/>
          </a:p>
        </p:txBody>
      </p:sp>
      <p:sp>
        <p:nvSpPr>
          <p:cNvPr id="7" name="Text 5"/>
          <p:cNvSpPr/>
          <p:nvPr/>
        </p:nvSpPr>
        <p:spPr>
          <a:xfrm>
            <a:off x="777240" y="3812733"/>
            <a:ext cx="3840480" cy="310896"/>
          </a:xfrm>
          <a:prstGeom prst="rect">
            <a:avLst/>
          </a:prstGeom>
          <a:noFill/>
          <a:ln/>
        </p:spPr>
        <p:txBody>
          <a:bodyPr wrap="square" lIns="0" tIns="0" rIns="0" bIns="0" rtlCol="0" anchor="ctr"/>
          <a:lstStyle/>
          <a:p>
            <a:pPr indent="0" marL="0">
              <a:buNone/>
            </a:pPr>
            <a:r>
              <a:rPr lang="en-US" sz="1100" spc="80" kern="0" dirty="0">
                <a:solidFill>
                  <a:srgbClr val="6E7377"/>
                </a:solidFill>
                <a:latin typeface="Arial" pitchFamily="34" charset="0"/>
                <a:ea typeface="Arial" pitchFamily="34" charset="-122"/>
                <a:cs typeface="Arial" pitchFamily="34" charset="-120"/>
              </a:rPr>
              <a:t>Zeilen geladen</a:t>
            </a:r>
            <a:endParaRPr lang="en-US" sz="1100" dirty="0"/>
          </a:p>
        </p:txBody>
      </p:sp>
      <p:sp>
        <p:nvSpPr>
          <p:cNvPr id="8" name="Text 6"/>
          <p:cNvSpPr/>
          <p:nvPr/>
        </p:nvSpPr>
        <p:spPr>
          <a:xfrm>
            <a:off x="3454832" y="3200400"/>
            <a:ext cx="3840480" cy="630621"/>
          </a:xfrm>
          <a:prstGeom prst="rect">
            <a:avLst/>
          </a:prstGeom>
          <a:noFill/>
          <a:ln/>
        </p:spPr>
        <p:txBody>
          <a:bodyPr wrap="square" lIns="0" tIns="0" rIns="0" bIns="0" rtlCol="0" anchor="ctr"/>
          <a:lstStyle/>
          <a:p>
            <a:pPr indent="0" marL="0">
              <a:buNone/>
            </a:pPr>
            <a:r>
              <a:rPr lang="en-US" sz="4000" b="1" spc="-200" kern="0" dirty="0">
                <a:solidFill>
                  <a:srgbClr val="17191B"/>
                </a:solidFill>
                <a:latin typeface="Arial" pitchFamily="34" charset="0"/>
                <a:ea typeface="Arial" pitchFamily="34" charset="-122"/>
                <a:cs typeface="Arial" pitchFamily="34" charset="-120"/>
              </a:rPr>
              <a:t>8,2 GB</a:t>
            </a:r>
            <a:pPr indent="0" marL="0">
              <a:buNone/>
            </a:pPr>
            <a:endParaRPr lang="en-US" sz="4000" dirty="0"/>
          </a:p>
        </p:txBody>
      </p:sp>
      <p:sp>
        <p:nvSpPr>
          <p:cNvPr id="9" name="Text 7"/>
          <p:cNvSpPr/>
          <p:nvPr/>
        </p:nvSpPr>
        <p:spPr>
          <a:xfrm>
            <a:off x="3454832" y="3812733"/>
            <a:ext cx="3840480" cy="310896"/>
          </a:xfrm>
          <a:prstGeom prst="rect">
            <a:avLst/>
          </a:prstGeom>
          <a:noFill/>
          <a:ln/>
        </p:spPr>
        <p:txBody>
          <a:bodyPr wrap="square" lIns="0" tIns="0" rIns="0" bIns="0" rtlCol="0" anchor="ctr"/>
          <a:lstStyle/>
          <a:p>
            <a:pPr indent="0" marL="0">
              <a:buNone/>
            </a:pPr>
            <a:r>
              <a:rPr lang="en-US" sz="1100" spc="80" kern="0" dirty="0">
                <a:solidFill>
                  <a:srgbClr val="6E7377"/>
                </a:solidFill>
                <a:latin typeface="Arial" pitchFamily="34" charset="0"/>
                <a:ea typeface="Arial" pitchFamily="34" charset="-122"/>
                <a:cs typeface="Arial" pitchFamily="34" charset="-120"/>
              </a:rPr>
              <a:t>Rohdatenvolumen</a:t>
            </a:r>
            <a:endParaRPr lang="en-US" sz="1100" dirty="0"/>
          </a:p>
        </p:txBody>
      </p:sp>
      <p:sp>
        <p:nvSpPr>
          <p:cNvPr id="10" name="Text 8"/>
          <p:cNvSpPr/>
          <p:nvPr/>
        </p:nvSpPr>
        <p:spPr>
          <a:xfrm>
            <a:off x="6132424" y="3200400"/>
            <a:ext cx="3840480" cy="630621"/>
          </a:xfrm>
          <a:prstGeom prst="rect">
            <a:avLst/>
          </a:prstGeom>
          <a:noFill/>
          <a:ln/>
        </p:spPr>
        <p:txBody>
          <a:bodyPr wrap="square" lIns="0" tIns="0" rIns="0" bIns="0" rtlCol="0" anchor="ctr"/>
          <a:lstStyle/>
          <a:p>
            <a:pPr indent="0" marL="0">
              <a:buNone/>
            </a:pPr>
            <a:r>
              <a:rPr lang="en-US" sz="4000" b="1" spc="-200" kern="0" dirty="0">
                <a:solidFill>
                  <a:srgbClr val="2E8B62"/>
                </a:solidFill>
                <a:latin typeface="Arial" pitchFamily="34" charset="0"/>
                <a:ea typeface="Arial" pitchFamily="34" charset="-122"/>
                <a:cs typeface="Arial" pitchFamily="34" charset="-120"/>
              </a:rPr>
              <a:t>0</a:t>
            </a:r>
            <a:pPr indent="0" marL="0">
              <a:buNone/>
            </a:pPr>
            <a:endParaRPr lang="en-US" sz="4000" dirty="0"/>
          </a:p>
        </p:txBody>
      </p:sp>
      <p:sp>
        <p:nvSpPr>
          <p:cNvPr id="11" name="Text 9"/>
          <p:cNvSpPr/>
          <p:nvPr/>
        </p:nvSpPr>
        <p:spPr>
          <a:xfrm>
            <a:off x="6132424" y="3812733"/>
            <a:ext cx="3840480" cy="310896"/>
          </a:xfrm>
          <a:prstGeom prst="rect">
            <a:avLst/>
          </a:prstGeom>
          <a:noFill/>
          <a:ln/>
        </p:spPr>
        <p:txBody>
          <a:bodyPr wrap="square" lIns="0" tIns="0" rIns="0" bIns="0" rtlCol="0" anchor="ctr"/>
          <a:lstStyle/>
          <a:p>
            <a:pPr indent="0" marL="0">
              <a:buNone/>
            </a:pPr>
            <a:r>
              <a:rPr lang="en-US" sz="1100" spc="80" kern="0" dirty="0">
                <a:solidFill>
                  <a:srgbClr val="6E7377"/>
                </a:solidFill>
                <a:latin typeface="Arial" pitchFamily="34" charset="0"/>
                <a:ea typeface="Arial" pitchFamily="34" charset="-122"/>
                <a:cs typeface="Arial" pitchFamily="34" charset="-120"/>
              </a:rPr>
              <a:t>Differenz core ↔ star</a:t>
            </a:r>
            <a:endParaRPr lang="en-US" sz="1100" dirty="0"/>
          </a:p>
        </p:txBody>
      </p:sp>
      <p:sp>
        <p:nvSpPr>
          <p:cNvPr id="12" name="Text 10"/>
          <p:cNvSpPr/>
          <p:nvPr/>
        </p:nvSpPr>
        <p:spPr>
          <a:xfrm>
            <a:off x="8810015" y="3200400"/>
            <a:ext cx="3840480" cy="630621"/>
          </a:xfrm>
          <a:prstGeom prst="rect">
            <a:avLst/>
          </a:prstGeom>
          <a:noFill/>
          <a:ln/>
        </p:spPr>
        <p:txBody>
          <a:bodyPr wrap="square" lIns="0" tIns="0" rIns="0" bIns="0" rtlCol="0" anchor="ctr"/>
          <a:lstStyle/>
          <a:p>
            <a:pPr indent="0" marL="0">
              <a:buNone/>
            </a:pPr>
            <a:r>
              <a:rPr lang="en-US" sz="4000" b="1" spc="-200" kern="0" dirty="0">
                <a:solidFill>
                  <a:srgbClr val="E0442B"/>
                </a:solidFill>
                <a:latin typeface="Arial" pitchFamily="34" charset="0"/>
                <a:ea typeface="Arial" pitchFamily="34" charset="-122"/>
                <a:cs typeface="Arial" pitchFamily="34" charset="-120"/>
              </a:rPr>
              <a:t>17</a:t>
            </a:r>
            <a:pPr indent="0" marL="0">
              <a:buNone/>
            </a:pPr>
            <a:endParaRPr lang="en-US" sz="4000" dirty="0"/>
          </a:p>
        </p:txBody>
      </p:sp>
      <p:sp>
        <p:nvSpPr>
          <p:cNvPr id="13" name="Text 11"/>
          <p:cNvSpPr/>
          <p:nvPr/>
        </p:nvSpPr>
        <p:spPr>
          <a:xfrm>
            <a:off x="8810015" y="3812733"/>
            <a:ext cx="3840480" cy="310896"/>
          </a:xfrm>
          <a:prstGeom prst="rect">
            <a:avLst/>
          </a:prstGeom>
          <a:noFill/>
          <a:ln/>
        </p:spPr>
        <p:txBody>
          <a:bodyPr wrap="square" lIns="0" tIns="0" rIns="0" bIns="0" rtlCol="0" anchor="ctr"/>
          <a:lstStyle/>
          <a:p>
            <a:pPr indent="0" marL="0">
              <a:buNone/>
            </a:pPr>
            <a:r>
              <a:rPr lang="en-US" sz="1100" spc="80" kern="0" dirty="0">
                <a:solidFill>
                  <a:srgbClr val="6E7377"/>
                </a:solidFill>
                <a:latin typeface="Arial" pitchFamily="34" charset="0"/>
                <a:ea typeface="Arial" pitchFamily="34" charset="-122"/>
                <a:cs typeface="Arial" pitchFamily="34" charset="-120"/>
              </a:rPr>
              <a:t>Fehler protokolliert</a:t>
            </a:r>
            <a:endParaRPr lang="en-US" sz="1100" dirty="0"/>
          </a:p>
        </p:txBody>
      </p:sp>
      <p:sp>
        <p:nvSpPr>
          <p:cNvPr id="14" name="Shape 12"/>
          <p:cNvSpPr/>
          <p:nvPr/>
        </p:nvSpPr>
        <p:spPr>
          <a:xfrm>
            <a:off x="777240" y="4421124"/>
            <a:ext cx="128016" cy="50292"/>
          </a:xfrm>
          <a:prstGeom prst="rect">
            <a:avLst/>
          </a:prstGeom>
          <a:solidFill>
            <a:srgbClr val="E0442B"/>
          </a:solidFill>
          <a:ln w="12700">
            <a:solidFill>
              <a:srgbClr val="333333"/>
            </a:solidFill>
            <a:prstDash val="solid"/>
          </a:ln>
        </p:spPr>
      </p:sp>
      <p:sp>
        <p:nvSpPr>
          <p:cNvPr id="15" name="Text 13"/>
          <p:cNvSpPr/>
          <p:nvPr/>
        </p:nvSpPr>
        <p:spPr>
          <a:xfrm>
            <a:off x="1069848" y="4315968"/>
            <a:ext cx="10344607" cy="310896"/>
          </a:xfrm>
          <a:prstGeom prst="rect">
            <a:avLst/>
          </a:prstGeom>
          <a:noFill/>
          <a:ln/>
        </p:spPr>
        <p:txBody>
          <a:bodyPr wrap="square" lIns="0" tIns="0" rIns="0" bIns="0" rtlCol="0" anchor="ctr"/>
          <a:lstStyle/>
          <a:p>
            <a:pPr indent="0" marL="0">
              <a:buNone/>
            </a:pPr>
            <a:r>
              <a:rPr lang="en-US" sz="1250" dirty="0">
                <a:solidFill>
                  <a:srgbClr val="17191B"/>
                </a:solidFill>
                <a:latin typeface="Arial" pitchFamily="34" charset="0"/>
                <a:ea typeface="Arial" pitchFamily="34" charset="-122"/>
                <a:cs typeface="Arial" pitchFamily="34" charset="-120"/>
              </a:rPr>
              <a:t>12 Schritte, jeder mit eigener Ausgabedatei — die Laufzeiten liegen als CSV bei</a:t>
            </a:r>
            <a:endParaRPr lang="en-US" sz="1250" dirty="0"/>
          </a:p>
        </p:txBody>
      </p:sp>
      <p:sp>
        <p:nvSpPr>
          <p:cNvPr id="16" name="Shape 14"/>
          <p:cNvSpPr/>
          <p:nvPr/>
        </p:nvSpPr>
        <p:spPr>
          <a:xfrm>
            <a:off x="777240" y="4786884"/>
            <a:ext cx="128016" cy="50292"/>
          </a:xfrm>
          <a:prstGeom prst="rect">
            <a:avLst/>
          </a:prstGeom>
          <a:solidFill>
            <a:srgbClr val="E0442B"/>
          </a:solidFill>
          <a:ln w="12700">
            <a:solidFill>
              <a:srgbClr val="333333"/>
            </a:solidFill>
            <a:prstDash val="solid"/>
          </a:ln>
        </p:spPr>
      </p:sp>
      <p:sp>
        <p:nvSpPr>
          <p:cNvPr id="17" name="Text 15"/>
          <p:cNvSpPr/>
          <p:nvPr/>
        </p:nvSpPr>
        <p:spPr>
          <a:xfrm>
            <a:off x="1069848" y="4681728"/>
            <a:ext cx="10344607" cy="310896"/>
          </a:xfrm>
          <a:prstGeom prst="rect">
            <a:avLst/>
          </a:prstGeom>
          <a:noFill/>
          <a:ln/>
        </p:spPr>
        <p:txBody>
          <a:bodyPr wrap="square" lIns="0" tIns="0" rIns="0" bIns="0" rtlCol="0" anchor="ctr"/>
          <a:lstStyle/>
          <a:p>
            <a:pPr indent="0" marL="0">
              <a:buNone/>
            </a:pPr>
            <a:r>
              <a:rPr lang="en-US" sz="1250" dirty="0">
                <a:solidFill>
                  <a:srgbClr val="17191B"/>
                </a:solidFill>
                <a:latin typeface="Arial" pitchFamily="34" charset="0"/>
                <a:ea typeface="Arial" pitchFamily="34" charset="-122"/>
                <a:cs typeface="Arial" pitchFamily="34" charset="-120"/>
              </a:rPr>
              <a:t>15 SQL-Dateien · 10 Skripte · ein KNIME-Workflow mit 20 Knoten</a:t>
            </a:r>
            <a:endParaRPr lang="en-US" sz="1250" dirty="0"/>
          </a:p>
        </p:txBody>
      </p:sp>
      <p:sp>
        <p:nvSpPr>
          <p:cNvPr id="18" name="Shape 16"/>
          <p:cNvSpPr/>
          <p:nvPr/>
        </p:nvSpPr>
        <p:spPr>
          <a:xfrm>
            <a:off x="777240" y="5152644"/>
            <a:ext cx="128016" cy="50292"/>
          </a:xfrm>
          <a:prstGeom prst="rect">
            <a:avLst/>
          </a:prstGeom>
          <a:solidFill>
            <a:srgbClr val="E0442B"/>
          </a:solidFill>
          <a:ln w="12700">
            <a:solidFill>
              <a:srgbClr val="333333"/>
            </a:solidFill>
            <a:prstDash val="solid"/>
          </a:ln>
        </p:spPr>
      </p:sp>
      <p:sp>
        <p:nvSpPr>
          <p:cNvPr id="19" name="Text 17"/>
          <p:cNvSpPr/>
          <p:nvPr/>
        </p:nvSpPr>
        <p:spPr>
          <a:xfrm>
            <a:off x="1069848" y="5047488"/>
            <a:ext cx="10344607" cy="310896"/>
          </a:xfrm>
          <a:prstGeom prst="rect">
            <a:avLst/>
          </a:prstGeom>
          <a:noFill/>
          <a:ln/>
        </p:spPr>
        <p:txBody>
          <a:bodyPr wrap="square" lIns="0" tIns="0" rIns="0" bIns="0" rtlCol="0" anchor="ctr"/>
          <a:lstStyle/>
          <a:p>
            <a:pPr indent="0" marL="0">
              <a:buNone/>
            </a:pPr>
            <a:r>
              <a:rPr lang="en-US" sz="1250" dirty="0">
                <a:solidFill>
                  <a:srgbClr val="17191B"/>
                </a:solidFill>
                <a:latin typeface="Arial" pitchFamily="34" charset="0"/>
                <a:ea typeface="Arial" pitchFamily="34" charset="-122"/>
                <a:cs typeface="Arial" pitchFamily="34" charset="-120"/>
              </a:rPr>
              <a:t>Jede Kennzahl im Bericht stammt aus einer ausgeführten Abfrage, deren Ausgabe beiliegt</a:t>
            </a:r>
            <a:endParaRPr lang="en-US" sz="1250" dirty="0"/>
          </a:p>
        </p:txBody>
      </p:sp>
      <p:sp>
        <p:nvSpPr>
          <p:cNvPr id="20" name="Shape 18"/>
          <p:cNvSpPr/>
          <p:nvPr/>
        </p:nvSpPr>
        <p:spPr>
          <a:xfrm>
            <a:off x="777240" y="5518404"/>
            <a:ext cx="128016" cy="50292"/>
          </a:xfrm>
          <a:prstGeom prst="rect">
            <a:avLst/>
          </a:prstGeom>
          <a:solidFill>
            <a:srgbClr val="E0442B"/>
          </a:solidFill>
          <a:ln w="12700">
            <a:solidFill>
              <a:srgbClr val="333333"/>
            </a:solidFill>
            <a:prstDash val="solid"/>
          </a:ln>
        </p:spPr>
      </p:sp>
      <p:sp>
        <p:nvSpPr>
          <p:cNvPr id="21" name="Text 19"/>
          <p:cNvSpPr/>
          <p:nvPr/>
        </p:nvSpPr>
        <p:spPr>
          <a:xfrm>
            <a:off x="1069848" y="5413248"/>
            <a:ext cx="10344607" cy="310896"/>
          </a:xfrm>
          <a:prstGeom prst="rect">
            <a:avLst/>
          </a:prstGeom>
          <a:noFill/>
          <a:ln/>
        </p:spPr>
        <p:txBody>
          <a:bodyPr wrap="square" lIns="0" tIns="0" rIns="0" bIns="0" rtlCol="0" anchor="ctr"/>
          <a:lstStyle/>
          <a:p>
            <a:pPr indent="0" marL="0">
              <a:buNone/>
            </a:pPr>
            <a:r>
              <a:rPr lang="en-US" sz="1250" dirty="0">
                <a:solidFill>
                  <a:srgbClr val="17191B"/>
                </a:solidFill>
                <a:latin typeface="Arial" pitchFamily="34" charset="0"/>
                <a:ea typeface="Arial" pitchFamily="34" charset="-122"/>
                <a:cs typeface="Arial" pitchFamily="34" charset="-120"/>
              </a:rPr>
              <a:t>Bricht ein Schritt ab, hält die Kette an, nennt die Datei — und setzt ab dort fort</a:t>
            </a:r>
            <a:endParaRPr lang="en-US" sz="1250" dirty="0"/>
          </a:p>
        </p:txBody>
      </p:sp>
      <p:sp>
        <p:nvSpPr>
          <p:cNvPr id="22" name="Text 20"/>
          <p:cNvSpPr/>
          <p:nvPr/>
        </p:nvSpPr>
        <p:spPr>
          <a:xfrm>
            <a:off x="777240" y="6327648"/>
            <a:ext cx="10637215" cy="274320"/>
          </a:xfrm>
          <a:prstGeom prst="rect">
            <a:avLst/>
          </a:prstGeom>
          <a:noFill/>
          <a:ln/>
        </p:spPr>
        <p:txBody>
          <a:bodyPr wrap="square" lIns="0" tIns="0" rIns="0" bIns="0" rtlCol="0" anchor="ctr"/>
          <a:lstStyle/>
          <a:p>
            <a:pPr indent="0" marL="0">
              <a:buNone/>
            </a:pPr>
            <a:r>
              <a:rPr lang="en-US" sz="950" spc="60" kern="0" dirty="0">
                <a:solidFill>
                  <a:srgbClr val="6E7377"/>
                </a:solidFill>
                <a:latin typeface="Arial" pitchFamily="34" charset="0"/>
                <a:ea typeface="Arial" pitchFamily="34" charset="-122"/>
                <a:cs typeface="Arial" pitchFamily="34" charset="-120"/>
              </a:rPr>
              <a:t>EEA co2cars · EEA OBFCM · Bundesnetzagentur SMARD — alle Quellen amtlich und offen lizenziert</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Papier gegen Strasse</dc:title>
  <dc:subject>PptxGenJS Presentation</dc:subject>
  <dc:creator>Alexander Sagert</dc:creator>
  <cp:lastModifiedBy>Alexander Sagert</cp:lastModifiedBy>
  <cp:revision>1</cp:revision>
  <dcterms:created xsi:type="dcterms:W3CDTF">2026-08-12T15:19:08Z</dcterms:created>
  <dcterms:modified xsi:type="dcterms:W3CDTF">2026-08-12T15:19:08Z</dcterms:modified>
</cp:coreProperties>
</file>